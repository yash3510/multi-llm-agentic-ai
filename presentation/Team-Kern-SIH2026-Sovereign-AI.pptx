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74fe7fd-85ad-3ce8-c715-f715aac872ea}">
          <p14:sldIdLst>
            <p14:sldId id="256"/>
          </p14:sldIdLst>
        </p14:section>
        <p14:section name="Solution" id="{c478b095-e78f-6e62-837b-9d3ebb5c269e}">
          <p14:sldIdLst>
            <p14:sldId id="257"/>
            <p14:sldId id="258"/>
          </p14:sldIdLst>
        </p14:section>
        <p14:section name="Technical" id="{4790d868-f5fd-bac4-cef8-23376fea41b6}">
          <p14:sldIdLst>
            <p14:sldId id="259"/>
          </p14:sldIdLst>
        </p14:section>
        <p14:section name="Feasibility" id="{9d576b2f-cae1-9408-428b-65b08b32b4da}">
          <p14:sldIdLst>
            <p14:sldId id="260"/>
            <p14:sldId id="261"/>
          </p14:sldIdLst>
        </p14:section>
        <p14:section name="Impact" id="{234e9867-7726-20d5-5042-268c9cfbb086}">
          <p14:sldIdLst>
            <p14:sldId id="262"/>
            <p14:sldId id="263"/>
          </p14:sldIdLst>
        </p14:section>
        <p14:section name="References" id="{408d718a-9f90-f2bf-7b53-7f6923d726f2}">
          <p14:sldIdLst>
            <p14:sldId id="264"/>
          </p14:sldIdLst>
        </p14:section>
        <p14:section name="Close" id="{c64e893e-019f-62f9-ce41-53609e2860d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Prototype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1414"/>
              </a:solidFill>
              <a:ln w="9525" cap="flat">
                <a:solidFill>
                  <a:srgbClr val="FF5B1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FA27A"/>
              </a:solidFill>
              <a:ln w="9525" cap="flat">
                <a:solidFill>
                  <a:srgbClr val="FF5B1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India Hackathon 2026, problem statement SIH26117: a sovereign, on-premise agentic AI workbench that runs open-weight multimodal LLMs on confidential industrial data. Theme Smart Automation, category Software. We are Team Kern, and the project is 4CE (ACE).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solution rests on four pillars. Sovereignty: local LLMs, so data stays inside. Ingestion: legacy files become usable intelligence. Governance: tool execution waits for human approval. Trust: every generated answer is source-verified.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is different. Generated code never runs on the host: it goes to an isolated sandbox for controlled execution. Every action passes a central control layer for authorization, and sensitive actions need a human to approve them. The architecture is model-independent: Qwen, Gemma, Mistral or another open model - change the model,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approach. Python and Bash at the core; FastAPI, Uvicorn, Socket.io and SvelteKit with JWT session auth for the platform; Bionic with Qwen and Gemma models and nomic-embed-text v1.5 embeddings for AI; SQLite and ChromaDB for storage; Docker with hardening flags for isolated execution; python-docx for document generation; and a custom test harness. Over 75 percent of the prototype is complete, and the code is on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each real risk we hit has a mitigation. Cloud dependency - solved with a local-only stack and outbound paths disabled. A 65K context overflowed 6 GB of VRAM and fell back to CPU with 20-plus-minute inference; an 8K context fits VRAM and restores GPU inference. Hallucinated findings are caught by ULTRON verification with bounded replanning. Generated code runs only in a hardened Docker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takes to run: local compute with a GPU recommended, Docker and a local model server, persistent storage next to the enterprise data, and proven frameworks. How it pays: potentially lower recurring AI costs for sustained, high-volume workloads; monetisation through enterprise licensing plus setup and integration; and recurring revenue from support, maintenance and custom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and benefits. Conversational: safer AI interactions with human oversight. Research: private AI research and controlled experimentation on sensitive data. National: AI and data sovereignty with less external dependence. Technical: local LLM plus RAG, multi-agent orchestration, sandboxing, verification and auditability. Economic and industrial: lower recurring AI costs and secure adoption in regulated industries.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next: multimodal enterprise AI across vision, audio, video and complex documents; multi-site deployment with local AI at every site and central governance; industry-specific agents for manufacturing, healthcare, finance, government and defence; continuous security and governance; and finally an enterprise AI control layer - the secure orchestration and governance layer for enterprise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builds on transformer, retrieval-augmented generation, self-refinement and multi-agent research, and is backed by our own architecture, verification and security documentation plus 2026 market research on inference economics and cloud versus on-prem TCO. Links to the GitHub repo and the explanation videos are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data stays yours. Sovereign, secure, verifiable, actionable: it turns private organisational knowledge into actionable intelligence and automates real workflows while keeping humans in control. Powerful enough for enterprises, controlled enough to trust.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ite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1" Type="http://schemas.openxmlformats.org/officeDocument/2006/relationships/hyperlink" Target="https://github.com/Yash3510/Multi-LLM-Agentic-Ai" TargetMode="External"/><Relationship Id="rId9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10" Type="http://schemas.openxmlformats.org/officeDocument/2006/relationships/image" Target="../media/image-4-9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ttention_Is_All_You_Need" TargetMode="External"/><Relationship Id="rId4" Type="http://schemas.openxmlformats.org/officeDocument/2006/relationships/hyperlink" Target="http://arxiv.org/abs/2005.11401" TargetMode="External"/><Relationship Id="rId5" Type="http://schemas.openxmlformats.org/officeDocument/2006/relationships/hyperlink" Target="http://arxiv.org/abs/2303.17651" TargetMode="External"/><Relationship Id="rId6" Type="http://schemas.openxmlformats.org/officeDocument/2006/relationships/hyperlink" Target="http://arxiv.org/abs/2308.08155" TargetMode="External"/><Relationship Id="rId10" Type="http://schemas.openxmlformats.org/officeDocument/2006/relationships/hyperlink" Target="https://github.com/Yash3510/Multi-LLM-Agentic-Ai" TargetMode="External"/><Relationship Id="rId13" Type="http://schemas.openxmlformats.org/officeDocument/2006/relationships/hyperlink" Target="https://1drv.ms/p/c/1e7d8a4c6e729bdb/IQC%20ydx9YwLXVRqQyP9bNjAuyAdYZ7JEdsIa4ADd%208qzDv6HU?e=gWzcwv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4.png"/><Relationship Id="rId9" Type="http://schemas.openxmlformats.org/officeDocument/2006/relationships/image" Target="../media/image-9-5.png"/><Relationship Id="rId11" Type="http://schemas.openxmlformats.org/officeDocument/2006/relationships/image" Target="../media/image-9-6.png"/><Relationship Id="rId12" Type="http://schemas.openxmlformats.org/officeDocument/2006/relationships/image" Target="../media/image-9-6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200400" y="-36576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1097280" y="420624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-731520" y="393192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989320" y="45720"/>
            <a:ext cx="6766560" cy="67665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6812280" y="868680"/>
            <a:ext cx="5120640" cy="5120640"/>
          </a:xfrm>
          <a:prstGeom prst="rect">
            <a:avLst/>
          </a:prstGeom>
        </p:spPr>
      </p:pic>
      <p:sp>
        <p:nvSpPr>
          <p:cNvPr id="8" name="s1_1"/>
          <p:cNvSpPr txBox="1"/>
          <p:nvPr/>
        </p:nvSpPr>
        <p:spPr>
          <a:xfrm>
            <a:off x="54864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SMART INDIA HACKATHON 2026</a:t>
            </a:r>
            <a:endParaRPr lang="en-US" sz="1300" dirty="0"/>
          </a:p>
        </p:txBody>
      </p:sp>
      <p:sp>
        <p:nvSpPr>
          <p:cNvPr id="9" name="!!title"/>
          <p:cNvSpPr txBox="1"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1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</a:t>
            </a:r>
            <a:endParaRPr lang="en-US" sz="6400" dirty="0"/>
          </a:p>
        </p:txBody>
      </p:sp>
      <p:sp>
        <p:nvSpPr>
          <p:cNvPr id="10" name="s1_2"/>
          <p:cNvSpPr txBox="1"/>
          <p:nvPr/>
        </p:nvSpPr>
        <p:spPr>
          <a:xfrm>
            <a:off x="548640" y="254203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AGENTIC AI WORKBENCH</a:t>
            </a:r>
            <a:endParaRPr lang="en-US" sz="2600" dirty="0"/>
          </a:p>
        </p:txBody>
      </p:sp>
      <p:sp>
        <p:nvSpPr>
          <p:cNvPr id="11" name="s1_3"/>
          <p:cNvSpPr txBox="1"/>
          <p:nvPr/>
        </p:nvSpPr>
        <p:spPr>
          <a:xfrm>
            <a:off x="548640" y="32461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Sovereign On-Premise Agentic AI Workbench using Open-Weight Multimodal LLMs for Confidential Industrial Work</a:t>
            </a:r>
            <a:endParaRPr lang="en-US" sz="1500" dirty="0"/>
          </a:p>
        </p:txBody>
      </p:sp>
      <p:sp>
        <p:nvSpPr>
          <p:cNvPr id="12" name="s1_4"/>
          <p:cNvSpPr/>
          <p:nvPr/>
        </p:nvSpPr>
        <p:spPr>
          <a:xfrm>
            <a:off x="548640" y="4297680"/>
            <a:ext cx="141732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s1_5"/>
          <p:cNvSpPr txBox="1"/>
          <p:nvPr/>
        </p:nvSpPr>
        <p:spPr>
          <a:xfrm>
            <a:off x="713232" y="43708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PS ID</a:t>
            </a:r>
            <a:endParaRPr lang="en-US" sz="1100" dirty="0"/>
          </a:p>
        </p:txBody>
      </p:sp>
      <p:sp>
        <p:nvSpPr>
          <p:cNvPr id="14" name="s1_6"/>
          <p:cNvSpPr txBox="1"/>
          <p:nvPr/>
        </p:nvSpPr>
        <p:spPr>
          <a:xfrm>
            <a:off x="713232" y="46268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SIH26117</a:t>
            </a:r>
            <a:endParaRPr lang="en-US" sz="1500" dirty="0"/>
          </a:p>
        </p:txBody>
      </p:sp>
      <p:sp>
        <p:nvSpPr>
          <p:cNvPr id="15" name="s1_7"/>
          <p:cNvSpPr/>
          <p:nvPr/>
        </p:nvSpPr>
        <p:spPr>
          <a:xfrm>
            <a:off x="2103120" y="4297680"/>
            <a:ext cx="210312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s1_8"/>
          <p:cNvSpPr txBox="1"/>
          <p:nvPr/>
        </p:nvSpPr>
        <p:spPr>
          <a:xfrm>
            <a:off x="2267712" y="4370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THEME</a:t>
            </a:r>
            <a:endParaRPr lang="en-US" sz="1100" dirty="0"/>
          </a:p>
        </p:txBody>
      </p:sp>
      <p:sp>
        <p:nvSpPr>
          <p:cNvPr id="17" name="s1_9"/>
          <p:cNvSpPr txBox="1"/>
          <p:nvPr/>
        </p:nvSpPr>
        <p:spPr>
          <a:xfrm>
            <a:off x="2267712" y="46268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Smart Automation</a:t>
            </a:r>
            <a:endParaRPr lang="en-US" sz="1500" dirty="0"/>
          </a:p>
        </p:txBody>
      </p:sp>
      <p:sp>
        <p:nvSpPr>
          <p:cNvPr id="18" name="s1_10"/>
          <p:cNvSpPr/>
          <p:nvPr/>
        </p:nvSpPr>
        <p:spPr>
          <a:xfrm>
            <a:off x="4343400" y="4297680"/>
            <a:ext cx="155448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9" name="s1_11"/>
          <p:cNvSpPr txBox="1"/>
          <p:nvPr/>
        </p:nvSpPr>
        <p:spPr>
          <a:xfrm>
            <a:off x="4507992" y="43708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CATEGORY</a:t>
            </a:r>
            <a:endParaRPr lang="en-US" sz="1100" dirty="0"/>
          </a:p>
        </p:txBody>
      </p:sp>
      <p:sp>
        <p:nvSpPr>
          <p:cNvPr id="20" name="s1_12"/>
          <p:cNvSpPr txBox="1"/>
          <p:nvPr/>
        </p:nvSpPr>
        <p:spPr>
          <a:xfrm>
            <a:off x="4507992" y="462686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Software</a:t>
            </a:r>
            <a:endParaRPr lang="en-US" sz="1500" dirty="0"/>
          </a:p>
        </p:txBody>
      </p:sp>
      <p:sp>
        <p:nvSpPr>
          <p:cNvPr id="21" name="s1_13"/>
          <p:cNvSpPr txBox="1"/>
          <p:nvPr/>
        </p:nvSpPr>
        <p:spPr>
          <a:xfrm>
            <a:off x="54864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TEAM KERN</a:t>
            </a:r>
            <a:pPr indent="0" marL="0">
              <a:buNone/>
            </a:pPr>
            <a:r>
              <a:rPr lang="en-US" sz="2000" b="1" dirty="0">
                <a:solidFill>
                  <a:schemeClr val="bg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/  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 (ACE)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8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6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8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657600" y="-475488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778240" y="448056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5852160" y="-237744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48640" y="1325880"/>
            <a:ext cx="11091672" cy="4983480"/>
          </a:xfrm>
          <a:prstGeom prst="roundRect">
            <a:avLst>
              <a:gd name="adj" fmla="val 5505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4434840" cy="443484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9" name="s2_1"/>
          <p:cNvSpPr/>
          <p:nvPr/>
        </p:nvSpPr>
        <p:spPr>
          <a:xfrm>
            <a:off x="5669280" y="1572768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10" name="s2_2"/>
          <p:cNvSpPr/>
          <p:nvPr/>
        </p:nvSpPr>
        <p:spPr>
          <a:xfrm>
            <a:off x="5852160" y="1746504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s2_3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378" y="1893722"/>
            <a:ext cx="345643" cy="345643"/>
          </a:xfrm>
          <a:prstGeom prst="rect">
            <a:avLst/>
          </a:prstGeom>
        </p:spPr>
      </p:pic>
      <p:sp>
        <p:nvSpPr>
          <p:cNvPr id="12" name="s2_4"/>
          <p:cNvSpPr txBox="1"/>
          <p:nvPr/>
        </p:nvSpPr>
        <p:spPr>
          <a:xfrm>
            <a:off x="67208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SOVEREIGNTY</a:t>
            </a:r>
            <a:endParaRPr lang="en-US" sz="1600" dirty="0"/>
          </a:p>
        </p:txBody>
      </p:sp>
      <p:sp>
        <p:nvSpPr>
          <p:cNvPr id="13" name="s2_5"/>
          <p:cNvSpPr txBox="1"/>
          <p:nvPr/>
        </p:nvSpPr>
        <p:spPr>
          <a:xfrm>
            <a:off x="6720840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Local LLMs  →  data stays inside</a:t>
            </a:r>
            <a:endParaRPr lang="en-US" sz="1600" dirty="0"/>
          </a:p>
        </p:txBody>
      </p:sp>
      <p:sp>
        <p:nvSpPr>
          <p:cNvPr id="14" name="s2_6"/>
          <p:cNvSpPr/>
          <p:nvPr/>
        </p:nvSpPr>
        <p:spPr>
          <a:xfrm>
            <a:off x="5669280" y="2743200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15" name="s2_7"/>
          <p:cNvSpPr/>
          <p:nvPr/>
        </p:nvSpPr>
        <p:spPr>
          <a:xfrm>
            <a:off x="5852160" y="291693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s2_8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9378" y="3064154"/>
            <a:ext cx="345643" cy="345643"/>
          </a:xfrm>
          <a:prstGeom prst="rect">
            <a:avLst/>
          </a:prstGeom>
        </p:spPr>
      </p:pic>
      <p:sp>
        <p:nvSpPr>
          <p:cNvPr id="17" name="s2_9"/>
          <p:cNvSpPr txBox="1"/>
          <p:nvPr/>
        </p:nvSpPr>
        <p:spPr>
          <a:xfrm>
            <a:off x="6720840" y="2871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INGESTION</a:t>
            </a:r>
            <a:endParaRPr lang="en-US" sz="1600" dirty="0"/>
          </a:p>
        </p:txBody>
      </p:sp>
      <p:sp>
        <p:nvSpPr>
          <p:cNvPr id="18" name="s2_10"/>
          <p:cNvSpPr txBox="1"/>
          <p:nvPr/>
        </p:nvSpPr>
        <p:spPr>
          <a:xfrm>
            <a:off x="6720840" y="32552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Legacy files  →  usable intelligence</a:t>
            </a:r>
            <a:endParaRPr lang="en-US" sz="1600" dirty="0"/>
          </a:p>
        </p:txBody>
      </p:sp>
      <p:sp>
        <p:nvSpPr>
          <p:cNvPr id="19" name="s2_11"/>
          <p:cNvSpPr/>
          <p:nvPr/>
        </p:nvSpPr>
        <p:spPr>
          <a:xfrm>
            <a:off x="5669280" y="3913632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20" name="s2_12"/>
          <p:cNvSpPr/>
          <p:nvPr/>
        </p:nvSpPr>
        <p:spPr>
          <a:xfrm>
            <a:off x="5852160" y="408736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s2_1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378" y="4234586"/>
            <a:ext cx="345643" cy="345643"/>
          </a:xfrm>
          <a:prstGeom prst="rect">
            <a:avLst/>
          </a:prstGeom>
        </p:spPr>
      </p:pic>
      <p:sp>
        <p:nvSpPr>
          <p:cNvPr id="22" name="s2_14"/>
          <p:cNvSpPr txBox="1"/>
          <p:nvPr/>
        </p:nvSpPr>
        <p:spPr>
          <a:xfrm>
            <a:off x="6720840" y="4041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GOVERNANCE</a:t>
            </a:r>
            <a:endParaRPr lang="en-US" sz="1600" dirty="0"/>
          </a:p>
        </p:txBody>
      </p:sp>
      <p:sp>
        <p:nvSpPr>
          <p:cNvPr id="23" name="s2_15"/>
          <p:cNvSpPr txBox="1"/>
          <p:nvPr/>
        </p:nvSpPr>
        <p:spPr>
          <a:xfrm>
            <a:off x="6720840" y="442569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Tool execution  →  human approval</a:t>
            </a:r>
            <a:endParaRPr lang="en-US" sz="1600" dirty="0"/>
          </a:p>
        </p:txBody>
      </p:sp>
      <p:sp>
        <p:nvSpPr>
          <p:cNvPr id="24" name="s2_16"/>
          <p:cNvSpPr/>
          <p:nvPr/>
        </p:nvSpPr>
        <p:spPr>
          <a:xfrm>
            <a:off x="5669280" y="5084064"/>
            <a:ext cx="5669280" cy="987552"/>
          </a:xfrm>
          <a:prstGeom prst="roundRect">
            <a:avLst>
              <a:gd name="adj" fmla="val 9259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25" name="s2_17"/>
          <p:cNvSpPr/>
          <p:nvPr/>
        </p:nvSpPr>
        <p:spPr>
          <a:xfrm>
            <a:off x="5852160" y="5257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6" name="s2_18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378" y="5405018"/>
            <a:ext cx="345643" cy="345643"/>
          </a:xfrm>
          <a:prstGeom prst="rect">
            <a:avLst/>
          </a:prstGeom>
        </p:spPr>
      </p:pic>
      <p:sp>
        <p:nvSpPr>
          <p:cNvPr id="27" name="s2_19"/>
          <p:cNvSpPr txBox="1"/>
          <p:nvPr/>
        </p:nvSpPr>
        <p:spPr>
          <a:xfrm>
            <a:off x="6720840" y="5212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TRUST</a:t>
            </a:r>
            <a:endParaRPr lang="en-US" sz="1600" dirty="0"/>
          </a:p>
        </p:txBody>
      </p:sp>
      <p:sp>
        <p:nvSpPr>
          <p:cNvPr id="28" name="s2_20"/>
          <p:cNvSpPr txBox="1"/>
          <p:nvPr/>
        </p:nvSpPr>
        <p:spPr>
          <a:xfrm>
            <a:off x="6720840" y="55961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Generated answer  →  source-verified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6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3657600" y="329184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961120" y="-237744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4572000" y="420624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-411480" y="-411480"/>
            <a:ext cx="4617720" cy="7680960"/>
          </a:xfrm>
          <a:prstGeom prst="roundRect">
            <a:avLst>
              <a:gd name="adj" fmla="val 5941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777240" y="3703320"/>
            <a:ext cx="2606040" cy="260604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6858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</a:t>
            </a:r>
            <a:endParaRPr lang="en-US" sz="3800" dirty="0"/>
          </a:p>
          <a:p>
            <a:pPr indent="0" marL="0">
              <a:buNone/>
            </a:pPr>
            <a:r>
              <a:rPr lang="en-US" sz="3800" b="1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DIFFERENT</a:t>
            </a:r>
            <a:endParaRPr lang="en-US" sz="3800" dirty="0"/>
          </a:p>
        </p:txBody>
      </p:sp>
      <p:sp>
        <p:nvSpPr>
          <p:cNvPr id="9" name="s3_1"/>
          <p:cNvSpPr txBox="1"/>
          <p:nvPr/>
        </p:nvSpPr>
        <p:spPr>
          <a:xfrm>
            <a:off x="548640" y="2331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Three design choices make agentic AI safe to run on confidential data.</a:t>
            </a:r>
            <a:endParaRPr lang="en-US" sz="1700" dirty="0"/>
          </a:p>
        </p:txBody>
      </p:sp>
      <p:sp>
        <p:nvSpPr>
          <p:cNvPr id="10" name="s3_2"/>
          <p:cNvSpPr/>
          <p:nvPr/>
        </p:nvSpPr>
        <p:spPr>
          <a:xfrm>
            <a:off x="4663440" y="502920"/>
            <a:ext cx="6976872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s3_3"/>
          <p:cNvSpPr/>
          <p:nvPr/>
        </p:nvSpPr>
        <p:spPr>
          <a:xfrm>
            <a:off x="4937760" y="68580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s3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153" y="816193"/>
            <a:ext cx="306141" cy="306141"/>
          </a:xfrm>
          <a:prstGeom prst="rect">
            <a:avLst/>
          </a:prstGeom>
        </p:spPr>
      </p:pic>
      <p:sp>
        <p:nvSpPr>
          <p:cNvPr id="13" name="s3_5"/>
          <p:cNvSpPr txBox="1"/>
          <p:nvPr/>
        </p:nvSpPr>
        <p:spPr>
          <a:xfrm>
            <a:off x="5669280" y="71323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Isolated sandbox execution</a:t>
            </a:r>
            <a:endParaRPr lang="en-US" sz="1900" dirty="0"/>
          </a:p>
        </p:txBody>
      </p:sp>
      <p:sp>
        <p:nvSpPr>
          <p:cNvPr id="14" name="s3_6"/>
          <p:cNvSpPr/>
          <p:nvPr/>
        </p:nvSpPr>
        <p:spPr>
          <a:xfrm>
            <a:off x="4937760" y="1417320"/>
            <a:ext cx="1772107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3_7"/>
          <p:cNvSpPr txBox="1"/>
          <p:nvPr/>
        </p:nvSpPr>
        <p:spPr>
          <a:xfrm>
            <a:off x="4937760" y="1417320"/>
            <a:ext cx="1772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AI-generated code</a:t>
            </a:r>
            <a:endParaRPr lang="en-US" sz="1200" dirty="0"/>
          </a:p>
        </p:txBody>
      </p:sp>
      <p:sp>
        <p:nvSpPr>
          <p:cNvPr id="16" name="s3_8"/>
          <p:cNvSpPr txBox="1"/>
          <p:nvPr/>
        </p:nvSpPr>
        <p:spPr>
          <a:xfrm>
            <a:off x="6709867" y="14173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3_9"/>
          <p:cNvSpPr/>
          <p:nvPr/>
        </p:nvSpPr>
        <p:spPr>
          <a:xfrm>
            <a:off x="7020763" y="1417320"/>
            <a:ext cx="2029968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s3_10"/>
          <p:cNvSpPr txBox="1"/>
          <p:nvPr/>
        </p:nvSpPr>
        <p:spPr>
          <a:xfrm>
            <a:off x="7020763" y="14173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Isolated environment</a:t>
            </a:r>
            <a:endParaRPr lang="en-US" sz="1200" dirty="0"/>
          </a:p>
        </p:txBody>
      </p:sp>
      <p:sp>
        <p:nvSpPr>
          <p:cNvPr id="19" name="s3_11"/>
          <p:cNvSpPr txBox="1"/>
          <p:nvPr/>
        </p:nvSpPr>
        <p:spPr>
          <a:xfrm>
            <a:off x="9050731" y="14173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3_12"/>
          <p:cNvSpPr/>
          <p:nvPr/>
        </p:nvSpPr>
        <p:spPr>
          <a:xfrm>
            <a:off x="9361627" y="1417320"/>
            <a:ext cx="2029968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3_13"/>
          <p:cNvSpPr txBox="1"/>
          <p:nvPr/>
        </p:nvSpPr>
        <p:spPr>
          <a:xfrm>
            <a:off x="9361627" y="14173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Controlled execution</a:t>
            </a:r>
            <a:endParaRPr lang="en-US" sz="1200" dirty="0"/>
          </a:p>
        </p:txBody>
      </p:sp>
      <p:sp>
        <p:nvSpPr>
          <p:cNvPr id="22" name="s3_14"/>
          <p:cNvSpPr/>
          <p:nvPr/>
        </p:nvSpPr>
        <p:spPr>
          <a:xfrm>
            <a:off x="4663440" y="2286000"/>
            <a:ext cx="6976872" cy="196596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s3_15"/>
          <p:cNvSpPr/>
          <p:nvPr/>
        </p:nvSpPr>
        <p:spPr>
          <a:xfrm>
            <a:off x="4937760" y="24688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s3_1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153" y="2599273"/>
            <a:ext cx="306141" cy="306141"/>
          </a:xfrm>
          <a:prstGeom prst="rect">
            <a:avLst/>
          </a:prstGeom>
        </p:spPr>
      </p:pic>
      <p:sp>
        <p:nvSpPr>
          <p:cNvPr id="25" name="s3_17"/>
          <p:cNvSpPr txBox="1"/>
          <p:nvPr/>
        </p:nvSpPr>
        <p:spPr>
          <a:xfrm>
            <a:off x="5669280" y="249631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Centralised AI control</a:t>
            </a:r>
            <a:endParaRPr lang="en-US" sz="1900" dirty="0"/>
          </a:p>
        </p:txBody>
      </p:sp>
      <p:sp>
        <p:nvSpPr>
          <p:cNvPr id="26" name="s3_18"/>
          <p:cNvSpPr/>
          <p:nvPr/>
        </p:nvSpPr>
        <p:spPr>
          <a:xfrm>
            <a:off x="4937760" y="3200400"/>
            <a:ext cx="1342339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s3_19"/>
          <p:cNvSpPr txBox="1"/>
          <p:nvPr/>
        </p:nvSpPr>
        <p:spPr>
          <a:xfrm>
            <a:off x="4937760" y="3200400"/>
            <a:ext cx="13423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Every action</a:t>
            </a:r>
            <a:endParaRPr lang="en-US" sz="1200" dirty="0"/>
          </a:p>
        </p:txBody>
      </p:sp>
      <p:sp>
        <p:nvSpPr>
          <p:cNvPr id="28" name="s3_20"/>
          <p:cNvSpPr txBox="1"/>
          <p:nvPr/>
        </p:nvSpPr>
        <p:spPr>
          <a:xfrm>
            <a:off x="6280099" y="32004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3_21"/>
          <p:cNvSpPr/>
          <p:nvPr/>
        </p:nvSpPr>
        <p:spPr>
          <a:xfrm>
            <a:off x="6590995" y="3200400"/>
            <a:ext cx="1428293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0" name="s3_22"/>
          <p:cNvSpPr txBox="1"/>
          <p:nvPr/>
        </p:nvSpPr>
        <p:spPr>
          <a:xfrm>
            <a:off x="6590995" y="3200400"/>
            <a:ext cx="14282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Control layer</a:t>
            </a:r>
            <a:endParaRPr lang="en-US" sz="1200" dirty="0"/>
          </a:p>
        </p:txBody>
      </p:sp>
      <p:sp>
        <p:nvSpPr>
          <p:cNvPr id="31" name="s3_23"/>
          <p:cNvSpPr txBox="1"/>
          <p:nvPr/>
        </p:nvSpPr>
        <p:spPr>
          <a:xfrm>
            <a:off x="8019288" y="32004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3_24"/>
          <p:cNvSpPr/>
          <p:nvPr/>
        </p:nvSpPr>
        <p:spPr>
          <a:xfrm>
            <a:off x="8330184" y="3200400"/>
            <a:ext cx="1428293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s3_25"/>
          <p:cNvSpPr txBox="1"/>
          <p:nvPr/>
        </p:nvSpPr>
        <p:spPr>
          <a:xfrm>
            <a:off x="8330184" y="3200400"/>
            <a:ext cx="14282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Authorization</a:t>
            </a:r>
            <a:endParaRPr lang="en-US" sz="1200" dirty="0"/>
          </a:p>
        </p:txBody>
      </p:sp>
      <p:sp>
        <p:nvSpPr>
          <p:cNvPr id="34" name="s3_26"/>
          <p:cNvSpPr txBox="1"/>
          <p:nvPr/>
        </p:nvSpPr>
        <p:spPr>
          <a:xfrm>
            <a:off x="9758477" y="32004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5" name="s3_27"/>
          <p:cNvSpPr/>
          <p:nvPr/>
        </p:nvSpPr>
        <p:spPr>
          <a:xfrm>
            <a:off x="10069373" y="3200400"/>
            <a:ext cx="1084478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s3_28"/>
          <p:cNvSpPr txBox="1"/>
          <p:nvPr/>
        </p:nvSpPr>
        <p:spPr>
          <a:xfrm>
            <a:off x="10069373" y="3200400"/>
            <a:ext cx="10844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Execution</a:t>
            </a:r>
            <a:endParaRPr lang="en-US" sz="1200" dirty="0"/>
          </a:p>
        </p:txBody>
      </p:sp>
      <p:pic>
        <p:nvPicPr>
          <p:cNvPr id="37" name="s3_29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749040"/>
            <a:ext cx="292608" cy="292608"/>
          </a:xfrm>
          <a:prstGeom prst="rect">
            <a:avLst/>
          </a:prstGeom>
        </p:spPr>
      </p:pic>
      <p:sp>
        <p:nvSpPr>
          <p:cNvPr id="38" name="s3_30"/>
          <p:cNvSpPr txBox="1"/>
          <p:nvPr/>
        </p:nvSpPr>
        <p:spPr>
          <a:xfrm>
            <a:off x="5349240" y="371246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Sensitive actions  →  mandatory human approval</a:t>
            </a:r>
            <a:endParaRPr lang="en-US" sz="1500" dirty="0"/>
          </a:p>
        </p:txBody>
      </p:sp>
      <p:sp>
        <p:nvSpPr>
          <p:cNvPr id="39" name="s3_31"/>
          <p:cNvSpPr/>
          <p:nvPr/>
        </p:nvSpPr>
        <p:spPr>
          <a:xfrm>
            <a:off x="4663440" y="4480560"/>
            <a:ext cx="6976872" cy="1783080"/>
          </a:xfrm>
          <a:prstGeom prst="roundRect">
            <a:avLst>
              <a:gd name="adj" fmla="val 5128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0" name="s3_32"/>
          <p:cNvSpPr/>
          <p:nvPr/>
        </p:nvSpPr>
        <p:spPr>
          <a:xfrm>
            <a:off x="4937760" y="46634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1" name="s3_33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8153" y="4793833"/>
            <a:ext cx="306141" cy="306141"/>
          </a:xfrm>
          <a:prstGeom prst="rect">
            <a:avLst/>
          </a:prstGeom>
        </p:spPr>
      </p:pic>
      <p:sp>
        <p:nvSpPr>
          <p:cNvPr id="42" name="s3_34"/>
          <p:cNvSpPr txBox="1"/>
          <p:nvPr/>
        </p:nvSpPr>
        <p:spPr>
          <a:xfrm>
            <a:off x="5669280" y="469087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Model-independent architecture</a:t>
            </a:r>
            <a:endParaRPr lang="en-US" sz="1900" dirty="0"/>
          </a:p>
        </p:txBody>
      </p:sp>
      <p:sp>
        <p:nvSpPr>
          <p:cNvPr id="43" name="s3_35"/>
          <p:cNvSpPr/>
          <p:nvPr/>
        </p:nvSpPr>
        <p:spPr>
          <a:xfrm>
            <a:off x="4937760" y="5376672"/>
            <a:ext cx="65471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4" name="s3_36"/>
          <p:cNvSpPr txBox="1"/>
          <p:nvPr/>
        </p:nvSpPr>
        <p:spPr>
          <a:xfrm>
            <a:off x="4937760" y="5376672"/>
            <a:ext cx="6547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</a:t>
            </a:r>
            <a:endParaRPr lang="en-US" sz="1200" dirty="0"/>
          </a:p>
        </p:txBody>
      </p:sp>
      <p:sp>
        <p:nvSpPr>
          <p:cNvPr id="45" name="s3_37"/>
          <p:cNvSpPr/>
          <p:nvPr/>
        </p:nvSpPr>
        <p:spPr>
          <a:xfrm>
            <a:off x="5729630" y="5376672"/>
            <a:ext cx="74066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6" name="s3_38"/>
          <p:cNvSpPr txBox="1"/>
          <p:nvPr/>
        </p:nvSpPr>
        <p:spPr>
          <a:xfrm>
            <a:off x="5729630" y="5376672"/>
            <a:ext cx="740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Gemma</a:t>
            </a:r>
            <a:endParaRPr lang="en-US" sz="1200" dirty="0"/>
          </a:p>
        </p:txBody>
      </p:sp>
      <p:sp>
        <p:nvSpPr>
          <p:cNvPr id="47" name="s3_39"/>
          <p:cNvSpPr/>
          <p:nvPr/>
        </p:nvSpPr>
        <p:spPr>
          <a:xfrm>
            <a:off x="6607454" y="5376672"/>
            <a:ext cx="912571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8" name="s3_40"/>
          <p:cNvSpPr txBox="1"/>
          <p:nvPr/>
        </p:nvSpPr>
        <p:spPr>
          <a:xfrm>
            <a:off x="6607454" y="5376672"/>
            <a:ext cx="9125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Mistral</a:t>
            </a:r>
            <a:endParaRPr lang="en-US" sz="1200" dirty="0"/>
          </a:p>
        </p:txBody>
      </p:sp>
      <p:sp>
        <p:nvSpPr>
          <p:cNvPr id="49" name="s3_41"/>
          <p:cNvSpPr/>
          <p:nvPr/>
        </p:nvSpPr>
        <p:spPr>
          <a:xfrm>
            <a:off x="7657186" y="5376672"/>
            <a:ext cx="2373782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50" name="s3_42"/>
          <p:cNvSpPr txBox="1"/>
          <p:nvPr/>
        </p:nvSpPr>
        <p:spPr>
          <a:xfrm>
            <a:off x="7657186" y="5376672"/>
            <a:ext cx="23737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Other open-source models</a:t>
            </a:r>
            <a:endParaRPr lang="en-US" sz="1200" dirty="0"/>
          </a:p>
        </p:txBody>
      </p:sp>
      <p:sp>
        <p:nvSpPr>
          <p:cNvPr id="51" name="s3_43"/>
          <p:cNvSpPr txBox="1"/>
          <p:nvPr/>
        </p:nvSpPr>
        <p:spPr>
          <a:xfrm>
            <a:off x="4937760" y="5833872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Change the model, not the architecture.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22" presetClass="entr" presetSubtype="8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8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9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1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22" presetClass="entr" presetSubtype="8" fill="hold" grpId="0" nodeType="withEffect">
                                      <p:stCondLst>
                                        <p:cond delay="7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22" presetClass="entr" presetSubtype="8" fill="hold" grpId="0" nodeType="withEffect">
                                      <p:stCondLst>
                                        <p:cond delay="12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5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6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8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9" presetID="22" presetClass="entr" presetSubtype="8" fill="hold" grpId="0" nodeType="withEffect">
                                      <p:stCondLst>
                                        <p:cond delay="141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1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22" presetClass="entr" presetSubtype="8" fill="hold" grpId="0" nodeType="withEffect">
                                      <p:stCondLst>
                                        <p:cond delay="15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0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1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3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0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2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4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5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9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0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2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4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6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7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9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0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1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4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5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6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7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2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3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5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2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7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8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0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1" presetID="42" presetClass="entr" presetSubtype="0" fill="hold" grpId="0" nodeType="withEffect">
                                      <p:stCondLst>
                                        <p:cond delay="2850"/>
                                      </p:stCondLst>
                                      <p:childTnLst>
                                        <p:set>
                                          <p:cBhvr>
                                            <p:cTn id="1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3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4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5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22" presetClass="entr" presetSubtype="8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22" presetClass="entr" presetSubtype="8" fill="hold" grpId="0" nodeType="withEffect">
                                      <p:stCondLst>
                                        <p:cond delay="57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8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9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1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22" presetClass="entr" presetSubtype="8" fill="hold" grpId="0" nodeType="withEffect">
                                      <p:stCondLst>
                                        <p:cond delay="64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22" presetClass="entr" presetSubtype="8" fill="hold" grpId="0" nodeType="withEffect">
                                      <p:stCondLst>
                                        <p:cond delay="7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22" presetClass="entr" presetSubtype="8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22" presetClass="entr" presetSubtype="8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22" presetClass="entr" presetSubtype="8" fill="hold" grpId="0" nodeType="withEffect">
                                      <p:stCondLst>
                                        <p:cond delay="12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5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6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8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9" presetID="22" presetClass="entr" presetSubtype="8" fill="hold" grpId="0" nodeType="withEffect">
                                      <p:stCondLst>
                                        <p:cond delay="141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1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22" presetClass="entr" presetSubtype="8" fill="hold" grpId="0" nodeType="withEffect">
                                      <p:stCondLst>
                                        <p:cond delay="14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22" presetClass="entr" presetSubtype="8" fill="hold" grpId="0" nodeType="withEffect">
                                      <p:stCondLst>
                                        <p:cond delay="15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0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1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3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62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0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2" presetID="42" presetClass="entr" presetSubtype="0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1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4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5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9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0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2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4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6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7" presetID="53" presetClass="entr" presetSubtype="16" fill="hold" grpId="0" nodeType="withEffect">
                                      <p:stCondLst>
                                        <p:cond delay="215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9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0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1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4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5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6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7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22" presetClass="entr" presetSubtype="8" fill="hold" grpId="0" nodeType="withEffect">
                                      <p:stCondLst>
                                        <p:cond delay="23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2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3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5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24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2" presetID="22" presetClass="entr" presetSubtype="8" fill="hold" grpId="0" nodeType="withEffect">
                                      <p:stCondLst>
                                        <p:cond delay="2580"/>
                                      </p:stCondLst>
                                      <p:childTnLst>
                                        <p:set>
                                          <p:cBhvr>
                                            <p:cTn id="1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7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8" presetID="22" presetClass="entr" presetSubtype="8" fill="hold" grpId="0" nodeType="withEffect">
                                      <p:stCondLst>
                                        <p:cond delay="2720"/>
                                      </p:stCondLst>
                                      <p:childTnLst>
                                        <p:set>
                                          <p:cBhvr>
                                            <p:cTn id="1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0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1" presetID="42" presetClass="entr" presetSubtype="0" fill="hold" grpId="0" nodeType="withEffect">
                                      <p:stCondLst>
                                        <p:cond delay="2850"/>
                                      </p:stCondLst>
                                      <p:childTnLst>
                                        <p:set>
                                          <p:cBhvr>
                                            <p:cTn id="1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3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4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5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840480" y="219456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4206240" y="-292608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-1097280" y="457200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8092440" y="-411480"/>
            <a:ext cx="4526280" cy="7680960"/>
          </a:xfrm>
          <a:prstGeom prst="roundRect">
            <a:avLst>
              <a:gd name="adj" fmla="val 6061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10287000" y="5623560"/>
            <a:ext cx="2926080" cy="29260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9" name="s4_1"/>
          <p:cNvSpPr/>
          <p:nvPr/>
        </p:nvSpPr>
        <p:spPr>
          <a:xfrm>
            <a:off x="548640" y="1325880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s4_2"/>
          <p:cNvSpPr/>
          <p:nvPr/>
        </p:nvSpPr>
        <p:spPr>
          <a:xfrm>
            <a:off x="731520" y="1618488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s4_3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95" y="1736263"/>
            <a:ext cx="276515" cy="276515"/>
          </a:xfrm>
          <a:prstGeom prst="rect">
            <a:avLst/>
          </a:prstGeom>
        </p:spPr>
      </p:pic>
      <p:sp>
        <p:nvSpPr>
          <p:cNvPr id="12" name="s4_4"/>
          <p:cNvSpPr txBox="1"/>
          <p:nvPr/>
        </p:nvSpPr>
        <p:spPr>
          <a:xfrm>
            <a:off x="1389888" y="145389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Language &amp; runtime</a:t>
            </a:r>
            <a:endParaRPr lang="en-US" sz="1500" dirty="0"/>
          </a:p>
        </p:txBody>
      </p:sp>
      <p:sp>
        <p:nvSpPr>
          <p:cNvPr id="13" name="s4_5"/>
          <p:cNvSpPr txBox="1"/>
          <p:nvPr/>
        </p:nvSpPr>
        <p:spPr>
          <a:xfrm>
            <a:off x="1389888" y="18013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Python  ·  Bash</a:t>
            </a:r>
            <a:endParaRPr lang="en-US" sz="1300" dirty="0"/>
          </a:p>
        </p:txBody>
      </p:sp>
      <p:sp>
        <p:nvSpPr>
          <p:cNvPr id="14" name="s4_6"/>
          <p:cNvSpPr/>
          <p:nvPr/>
        </p:nvSpPr>
        <p:spPr>
          <a:xfrm>
            <a:off x="4251960" y="1325880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4_7"/>
          <p:cNvSpPr/>
          <p:nvPr/>
        </p:nvSpPr>
        <p:spPr>
          <a:xfrm>
            <a:off x="4434840" y="1618488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4_8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615" y="1736263"/>
            <a:ext cx="276515" cy="276515"/>
          </a:xfrm>
          <a:prstGeom prst="rect">
            <a:avLst/>
          </a:prstGeom>
        </p:spPr>
      </p:pic>
      <p:sp>
        <p:nvSpPr>
          <p:cNvPr id="17" name="s4_9"/>
          <p:cNvSpPr txBox="1"/>
          <p:nvPr/>
        </p:nvSpPr>
        <p:spPr>
          <a:xfrm>
            <a:off x="5093208" y="145389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Application platform</a:t>
            </a:r>
            <a:endParaRPr lang="en-US" sz="1500" dirty="0"/>
          </a:p>
        </p:txBody>
      </p:sp>
      <p:sp>
        <p:nvSpPr>
          <p:cNvPr id="18" name="s4_10"/>
          <p:cNvSpPr txBox="1"/>
          <p:nvPr/>
        </p:nvSpPr>
        <p:spPr>
          <a:xfrm>
            <a:off x="5093208" y="18013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FastAPI · Uvicorn · Socket.io · SvelteKit · JWT session auth</a:t>
            </a:r>
            <a:endParaRPr lang="en-US" sz="1300" dirty="0"/>
          </a:p>
        </p:txBody>
      </p:sp>
      <p:sp>
        <p:nvSpPr>
          <p:cNvPr id="19" name="s4_11"/>
          <p:cNvSpPr/>
          <p:nvPr/>
        </p:nvSpPr>
        <p:spPr>
          <a:xfrm>
            <a:off x="548640" y="2587752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0" name="s4_12"/>
          <p:cNvSpPr/>
          <p:nvPr/>
        </p:nvSpPr>
        <p:spPr>
          <a:xfrm>
            <a:off x="731520" y="2880360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s4_1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5" y="2998135"/>
            <a:ext cx="276515" cy="276515"/>
          </a:xfrm>
          <a:prstGeom prst="rect">
            <a:avLst/>
          </a:prstGeom>
        </p:spPr>
      </p:pic>
      <p:sp>
        <p:nvSpPr>
          <p:cNvPr id="22" name="s4_14"/>
          <p:cNvSpPr txBox="1"/>
          <p:nvPr/>
        </p:nvSpPr>
        <p:spPr>
          <a:xfrm>
            <a:off x="1389888" y="271576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/ ML</a:t>
            </a:r>
            <a:endParaRPr lang="en-US" sz="1500" dirty="0"/>
          </a:p>
        </p:txBody>
      </p:sp>
      <p:sp>
        <p:nvSpPr>
          <p:cNvPr id="23" name="s4_15"/>
          <p:cNvSpPr txBox="1"/>
          <p:nvPr/>
        </p:nvSpPr>
        <p:spPr>
          <a:xfrm>
            <a:off x="1389888" y="30632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Bionic · Qwen models · Gemma models · nomic-embed-text-v1.5</a:t>
            </a:r>
            <a:endParaRPr lang="en-US" sz="1300" dirty="0"/>
          </a:p>
        </p:txBody>
      </p:sp>
      <p:sp>
        <p:nvSpPr>
          <p:cNvPr id="24" name="s4_16"/>
          <p:cNvSpPr/>
          <p:nvPr/>
        </p:nvSpPr>
        <p:spPr>
          <a:xfrm>
            <a:off x="4251960" y="2587752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5" name="s4_17"/>
          <p:cNvSpPr/>
          <p:nvPr/>
        </p:nvSpPr>
        <p:spPr>
          <a:xfrm>
            <a:off x="4434840" y="2880360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s4_18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2615" y="2998135"/>
            <a:ext cx="276515" cy="276515"/>
          </a:xfrm>
          <a:prstGeom prst="rect">
            <a:avLst/>
          </a:prstGeom>
        </p:spPr>
      </p:pic>
      <p:sp>
        <p:nvSpPr>
          <p:cNvPr id="27" name="s4_19"/>
          <p:cNvSpPr txBox="1"/>
          <p:nvPr/>
        </p:nvSpPr>
        <p:spPr>
          <a:xfrm>
            <a:off x="5093208" y="271576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Data &amp; storage</a:t>
            </a:r>
            <a:endParaRPr lang="en-US" sz="1500" dirty="0"/>
          </a:p>
        </p:txBody>
      </p:sp>
      <p:sp>
        <p:nvSpPr>
          <p:cNvPr id="28" name="s4_20"/>
          <p:cNvSpPr txBox="1"/>
          <p:nvPr/>
        </p:nvSpPr>
        <p:spPr>
          <a:xfrm>
            <a:off x="5093208" y="30632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SQLite  ·  ChromaDB</a:t>
            </a:r>
            <a:endParaRPr lang="en-US" sz="1300" dirty="0"/>
          </a:p>
        </p:txBody>
      </p:sp>
      <p:sp>
        <p:nvSpPr>
          <p:cNvPr id="29" name="s4_21"/>
          <p:cNvSpPr/>
          <p:nvPr/>
        </p:nvSpPr>
        <p:spPr>
          <a:xfrm>
            <a:off x="548640" y="3849624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0" name="s4_22"/>
          <p:cNvSpPr/>
          <p:nvPr/>
        </p:nvSpPr>
        <p:spPr>
          <a:xfrm>
            <a:off x="731520" y="4142232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s4_23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95" y="4260007"/>
            <a:ext cx="276515" cy="276515"/>
          </a:xfrm>
          <a:prstGeom prst="rect">
            <a:avLst/>
          </a:prstGeom>
        </p:spPr>
      </p:pic>
      <p:sp>
        <p:nvSpPr>
          <p:cNvPr id="32" name="s4_24"/>
          <p:cNvSpPr txBox="1"/>
          <p:nvPr/>
        </p:nvSpPr>
        <p:spPr>
          <a:xfrm>
            <a:off x="1389888" y="39776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Execution &amp; isolation</a:t>
            </a:r>
            <a:endParaRPr lang="en-US" sz="1500" dirty="0"/>
          </a:p>
        </p:txBody>
      </p:sp>
      <p:sp>
        <p:nvSpPr>
          <p:cNvPr id="33" name="s4_25"/>
          <p:cNvSpPr txBox="1"/>
          <p:nvPr/>
        </p:nvSpPr>
        <p:spPr>
          <a:xfrm>
            <a:off x="1389888" y="432511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Docker  ·  hardening flags</a:t>
            </a:r>
            <a:endParaRPr lang="en-US" sz="1300" dirty="0"/>
          </a:p>
        </p:txBody>
      </p:sp>
      <p:sp>
        <p:nvSpPr>
          <p:cNvPr id="34" name="s4_26"/>
          <p:cNvSpPr/>
          <p:nvPr/>
        </p:nvSpPr>
        <p:spPr>
          <a:xfrm>
            <a:off x="4251960" y="3849624"/>
            <a:ext cx="347472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5" name="s4_27"/>
          <p:cNvSpPr/>
          <p:nvPr/>
        </p:nvSpPr>
        <p:spPr>
          <a:xfrm>
            <a:off x="4434840" y="4142232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6" name="s4_28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2615" y="4260007"/>
            <a:ext cx="276515" cy="276515"/>
          </a:xfrm>
          <a:prstGeom prst="rect">
            <a:avLst/>
          </a:prstGeom>
        </p:spPr>
      </p:pic>
      <p:sp>
        <p:nvSpPr>
          <p:cNvPr id="37" name="s4_29"/>
          <p:cNvSpPr txBox="1"/>
          <p:nvPr/>
        </p:nvSpPr>
        <p:spPr>
          <a:xfrm>
            <a:off x="5093208" y="39776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Document generation</a:t>
            </a:r>
            <a:endParaRPr lang="en-US" sz="1500" dirty="0"/>
          </a:p>
        </p:txBody>
      </p:sp>
      <p:sp>
        <p:nvSpPr>
          <p:cNvPr id="38" name="s4_30"/>
          <p:cNvSpPr txBox="1"/>
          <p:nvPr/>
        </p:nvSpPr>
        <p:spPr>
          <a:xfrm>
            <a:off x="5093208" y="432511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python-docx</a:t>
            </a:r>
            <a:endParaRPr lang="en-US" sz="1300" dirty="0"/>
          </a:p>
        </p:txBody>
      </p:sp>
      <p:sp>
        <p:nvSpPr>
          <p:cNvPr id="39" name="s4_31"/>
          <p:cNvSpPr/>
          <p:nvPr/>
        </p:nvSpPr>
        <p:spPr>
          <a:xfrm>
            <a:off x="548640" y="5111496"/>
            <a:ext cx="717804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0" name="s4_32"/>
          <p:cNvSpPr/>
          <p:nvPr/>
        </p:nvSpPr>
        <p:spPr>
          <a:xfrm>
            <a:off x="731520" y="5404104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1" name="s4_33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295" y="5521879"/>
            <a:ext cx="276515" cy="276515"/>
          </a:xfrm>
          <a:prstGeom prst="rect">
            <a:avLst/>
          </a:prstGeom>
        </p:spPr>
      </p:pic>
      <p:sp>
        <p:nvSpPr>
          <p:cNvPr id="42" name="s4_34"/>
          <p:cNvSpPr txBox="1"/>
          <p:nvPr/>
        </p:nvSpPr>
        <p:spPr>
          <a:xfrm>
            <a:off x="1389888" y="523951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Deployment &amp; tooling</a:t>
            </a:r>
            <a:endParaRPr lang="en-US" sz="1500" dirty="0"/>
          </a:p>
        </p:txBody>
      </p:sp>
      <p:sp>
        <p:nvSpPr>
          <p:cNvPr id="43" name="s4_35"/>
          <p:cNvSpPr txBox="1"/>
          <p:nvPr/>
        </p:nvSpPr>
        <p:spPr>
          <a:xfrm>
            <a:off x="1389888" y="5586984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Custom test harness</a:t>
            </a:r>
            <a:endParaRPr lang="en-US" sz="1300" dirty="0"/>
          </a:p>
        </p:txBody>
      </p:sp>
      <p:sp>
        <p:nvSpPr>
          <p:cNvPr id="44" name="s4_36"/>
          <p:cNvSpPr txBox="1"/>
          <p:nvPr/>
        </p:nvSpPr>
        <p:spPr>
          <a:xfrm>
            <a:off x="8549640" y="685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</a:rPr>
              <a:t>BUILD STATUS</a:t>
            </a:r>
            <a:endParaRPr lang="en-US" sz="1300" dirty="0"/>
          </a:p>
        </p:txBody>
      </p:sp>
      <p:graphicFrame>
        <p:nvGraphicFramePr>
          <p:cNvPr id="45" name="s4_37" descr="Doughnut chart: over 75 percent of the prototype completed"/>
          <p:cNvGraphicFramePr/>
          <p:nvPr/>
        </p:nvGraphicFramePr>
        <p:xfrm>
          <a:off x="8686800" y="1097280"/>
          <a:ext cx="2926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46" name="s4_38"/>
          <p:cNvSpPr txBox="1"/>
          <p:nvPr/>
        </p:nvSpPr>
        <p:spPr>
          <a:xfrm>
            <a:off x="8686800" y="221284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75%+</a:t>
            </a:r>
            <a:endParaRPr lang="en-US" sz="3000" dirty="0"/>
          </a:p>
        </p:txBody>
      </p:sp>
      <p:sp>
        <p:nvSpPr>
          <p:cNvPr id="47" name="s4_39"/>
          <p:cNvSpPr txBox="1"/>
          <p:nvPr/>
        </p:nvSpPr>
        <p:spPr>
          <a:xfrm>
            <a:off x="8549640" y="4160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the prototype is already built</a:t>
            </a:r>
            <a:endParaRPr lang="en-US" sz="1600" dirty="0"/>
          </a:p>
        </p:txBody>
      </p:sp>
      <p:sp>
        <p:nvSpPr>
          <p:cNvPr id="48" name="s4_40"/>
          <p:cNvSpPr/>
          <p:nvPr/>
        </p:nvSpPr>
        <p:spPr>
          <a:xfrm>
            <a:off x="8595360" y="4919472"/>
            <a:ext cx="3200400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49" name="s4_41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3960" y="5047488"/>
            <a:ext cx="292608" cy="292608"/>
          </a:xfrm>
          <a:prstGeom prst="rect">
            <a:avLst/>
          </a:prstGeom>
        </p:spPr>
      </p:pic>
      <p:sp>
        <p:nvSpPr>
          <p:cNvPr id="50" name="s4_42"/>
          <p:cNvSpPr txBox="1"/>
          <p:nvPr/>
        </p:nvSpPr>
        <p:spPr>
          <a:xfrm>
            <a:off x="9235440" y="4919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bg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the GitHub repo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29" grpId="0" animBg="1"/>
          <p:bldP spid="30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Graphic spid="45" grpId="0">
            <p:bldAsOne/>
          </p:bldGraphic>
          <p:bldP spid="46" grpId="0" animBg="1"/>
          <p:bldP spid="47" grpId="0" animBg="1"/>
          <p:bldP spid="48" grpId="0" animBg="1"/>
          <p:bldP spid="5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1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29" grpId="0" animBg="1"/>
          <p:bldP spid="30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Graphic spid="45" grpId="0">
            <p:bldAsOne/>
          </p:bldGraphic>
          <p:bldP spid="46" grpId="0" animBg="1"/>
          <p:bldP spid="47" grpId="0" animBg="1"/>
          <p:bldP spid="48" grpId="0" animBg="1"/>
          <p:bldP spid="50" grpId="0" animBg="1"/>
        </p:bldLst>
      </p:timing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4206240" y="-237744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1463040" y="475488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-365760" y="457200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6355080" y="1280160"/>
            <a:ext cx="5285232" cy="5074920"/>
          </a:xfrm>
          <a:prstGeom prst="roundRect">
            <a:avLst>
              <a:gd name="adj" fmla="val 4505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10835640" y="274320"/>
            <a:ext cx="868680" cy="8686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FEASIBILITY &amp; VIABILITY</a:t>
            </a:r>
            <a:endParaRPr lang="en-US" sz="3200" dirty="0"/>
          </a:p>
        </p:txBody>
      </p:sp>
      <p:sp>
        <p:nvSpPr>
          <p:cNvPr id="9" name="s5_1"/>
          <p:cNvSpPr txBox="1"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RISK</a:t>
            </a:r>
            <a:endParaRPr lang="en-US" sz="1300" dirty="0"/>
          </a:p>
        </p:txBody>
      </p:sp>
      <p:sp>
        <p:nvSpPr>
          <p:cNvPr id="10" name="s5_2"/>
          <p:cNvSpPr txBox="1"/>
          <p:nvPr/>
        </p:nvSpPr>
        <p:spPr>
          <a:xfrm>
            <a:off x="68122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</a:rPr>
              <a:t>MITIGATION</a:t>
            </a:r>
            <a:endParaRPr lang="en-US" sz="1300" dirty="0"/>
          </a:p>
        </p:txBody>
      </p:sp>
      <p:sp>
        <p:nvSpPr>
          <p:cNvPr id="11" name="s5_3"/>
          <p:cNvSpPr/>
          <p:nvPr/>
        </p:nvSpPr>
        <p:spPr>
          <a:xfrm>
            <a:off x="548640" y="1874520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s5_4"/>
          <p:cNvSpPr txBox="1"/>
          <p:nvPr/>
        </p:nvSpPr>
        <p:spPr>
          <a:xfrm>
            <a:off x="777240" y="18745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Cloud dependency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Data could leave the enterprise</a:t>
            </a:r>
            <a:endParaRPr lang="en-US" sz="1600" dirty="0"/>
          </a:p>
        </p:txBody>
      </p:sp>
      <p:sp>
        <p:nvSpPr>
          <p:cNvPr id="13" name="s5_5"/>
          <p:cNvSpPr/>
          <p:nvPr/>
        </p:nvSpPr>
        <p:spPr>
          <a:xfrm>
            <a:off x="6099048" y="2075688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s5_6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823" y="2193463"/>
            <a:ext cx="276515" cy="276515"/>
          </a:xfrm>
          <a:prstGeom prst="rect">
            <a:avLst/>
          </a:prstGeom>
        </p:spPr>
      </p:pic>
      <p:sp>
        <p:nvSpPr>
          <p:cNvPr id="15" name="s5_7"/>
          <p:cNvSpPr txBox="1"/>
          <p:nvPr/>
        </p:nvSpPr>
        <p:spPr>
          <a:xfrm>
            <a:off x="6812280" y="187452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Local-only stack + outbound paths disabled</a:t>
            </a:r>
            <a:endParaRPr lang="en-US" sz="1600" dirty="0"/>
          </a:p>
        </p:txBody>
      </p:sp>
      <p:sp>
        <p:nvSpPr>
          <p:cNvPr id="16" name="s5_8"/>
          <p:cNvSpPr/>
          <p:nvPr/>
        </p:nvSpPr>
        <p:spPr>
          <a:xfrm>
            <a:off x="548640" y="2953512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7" name="s5_9"/>
          <p:cNvSpPr txBox="1"/>
          <p:nvPr/>
        </p:nvSpPr>
        <p:spPr>
          <a:xfrm>
            <a:off x="777240" y="295351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65K context window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KV cache exceeded 6 GB VRAM → CPU fallback → 20+ min inference</a:t>
            </a:r>
            <a:endParaRPr lang="en-US" sz="1600" dirty="0"/>
          </a:p>
        </p:txBody>
      </p:sp>
      <p:sp>
        <p:nvSpPr>
          <p:cNvPr id="18" name="s5_10"/>
          <p:cNvSpPr/>
          <p:nvPr/>
        </p:nvSpPr>
        <p:spPr>
          <a:xfrm>
            <a:off x="6099048" y="3154680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9" name="s5_11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823" y="3272455"/>
            <a:ext cx="276515" cy="276515"/>
          </a:xfrm>
          <a:prstGeom prst="rect">
            <a:avLst/>
          </a:prstGeom>
        </p:spPr>
      </p:pic>
      <p:sp>
        <p:nvSpPr>
          <p:cNvPr id="20" name="s5_12"/>
          <p:cNvSpPr txBox="1"/>
          <p:nvPr/>
        </p:nvSpPr>
        <p:spPr>
          <a:xfrm>
            <a:off x="6812280" y="295351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8K context fits VRAM → GPU inference restored</a:t>
            </a:r>
            <a:endParaRPr lang="en-US" sz="1600" dirty="0"/>
          </a:p>
        </p:txBody>
      </p:sp>
      <p:sp>
        <p:nvSpPr>
          <p:cNvPr id="21" name="s5_13"/>
          <p:cNvSpPr/>
          <p:nvPr/>
        </p:nvSpPr>
        <p:spPr>
          <a:xfrm>
            <a:off x="548640" y="4032504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2" name="s5_14"/>
          <p:cNvSpPr txBox="1"/>
          <p:nvPr/>
        </p:nvSpPr>
        <p:spPr>
          <a:xfrm>
            <a:off x="777240" y="4032504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AI hallucination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Generated findings could be incorrect</a:t>
            </a:r>
            <a:endParaRPr lang="en-US" sz="1600" dirty="0"/>
          </a:p>
        </p:txBody>
      </p:sp>
      <p:sp>
        <p:nvSpPr>
          <p:cNvPr id="23" name="s5_15"/>
          <p:cNvSpPr/>
          <p:nvPr/>
        </p:nvSpPr>
        <p:spPr>
          <a:xfrm>
            <a:off x="6099048" y="423367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4" name="s5_16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823" y="4351447"/>
            <a:ext cx="276515" cy="276515"/>
          </a:xfrm>
          <a:prstGeom prst="rect">
            <a:avLst/>
          </a:prstGeom>
        </p:spPr>
      </p:pic>
      <p:sp>
        <p:nvSpPr>
          <p:cNvPr id="25" name="s5_17"/>
          <p:cNvSpPr txBox="1"/>
          <p:nvPr/>
        </p:nvSpPr>
        <p:spPr>
          <a:xfrm>
            <a:off x="6812280" y="4032504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ULTRON verification + bounded replan</a:t>
            </a:r>
            <a:endParaRPr lang="en-US" sz="1600" dirty="0"/>
          </a:p>
        </p:txBody>
      </p:sp>
      <p:sp>
        <p:nvSpPr>
          <p:cNvPr id="26" name="s5_18"/>
          <p:cNvSpPr/>
          <p:nvPr/>
        </p:nvSpPr>
        <p:spPr>
          <a:xfrm>
            <a:off x="548640" y="5111496"/>
            <a:ext cx="548640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s5_19"/>
          <p:cNvSpPr txBox="1"/>
          <p:nvPr/>
        </p:nvSpPr>
        <p:spPr>
          <a:xfrm>
            <a:off x="777240" y="5111496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Generated-code risk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AI code could reach the host or network</a:t>
            </a:r>
            <a:endParaRPr lang="en-US" sz="1600" dirty="0"/>
          </a:p>
        </p:txBody>
      </p:sp>
      <p:sp>
        <p:nvSpPr>
          <p:cNvPr id="28" name="s5_20"/>
          <p:cNvSpPr/>
          <p:nvPr/>
        </p:nvSpPr>
        <p:spPr>
          <a:xfrm>
            <a:off x="6099048" y="5312664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9" name="s5_21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823" y="5430439"/>
            <a:ext cx="276515" cy="276515"/>
          </a:xfrm>
          <a:prstGeom prst="rect">
            <a:avLst/>
          </a:prstGeom>
        </p:spPr>
      </p:pic>
      <p:sp>
        <p:nvSpPr>
          <p:cNvPr id="30" name="s5_22"/>
          <p:cNvSpPr txBox="1"/>
          <p:nvPr/>
        </p:nvSpPr>
        <p:spPr>
          <a:xfrm>
            <a:off x="6812280" y="5111496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Hardened Docker sandbox → isolated execution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22" presetClass="entr" presetSubtype="8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8" presetID="22" presetClass="entr" presetSubtype="8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6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5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6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1" presetID="22" presetClass="entr" presetSubtype="8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3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4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8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6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7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1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2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8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3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11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8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22" presetClass="entr" presetSubtype="8" fill="hold" grpId="0" nodeType="withEffect">
                                      <p:stCondLst>
                                        <p:cond delay="33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8" presetID="22" presetClass="entr" presetSubtype="8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60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5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6" presetID="53" presetClass="entr" presetSubtype="16" fill="hold" grpId="0" nodeType="withEffect">
                                      <p:stCondLst>
                                        <p:cond delay="79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1" presetID="22" presetClass="entr" presetSubtype="8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83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4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8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6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7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42" presetClass="entr" presetSubtype="0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1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2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4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8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9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3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22" presetClass="entr" presetSubtype="8" fill="hold" grpId="0" nodeType="withEffect">
                                      <p:stCondLst>
                                        <p:cond delay="111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0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8" grpId="0" animBg="1"/>
          <p:bldP spid="20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</p:bld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2743200" y="-50292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7315200" y="-329184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4023360" y="384048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-411480" y="3611880"/>
            <a:ext cx="13011912" cy="36576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74320"/>
            <a:ext cx="868680" cy="8686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RESOURCES &amp; ECONOMICS</a:t>
            </a:r>
            <a:endParaRPr lang="en-US" sz="3200" dirty="0"/>
          </a:p>
        </p:txBody>
      </p:sp>
      <p:sp>
        <p:nvSpPr>
          <p:cNvPr id="9" name="s6_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RESOURCE REQUIREMENTS</a:t>
            </a:r>
            <a:endParaRPr lang="en-US" sz="1300" dirty="0"/>
          </a:p>
        </p:txBody>
      </p:sp>
      <p:sp>
        <p:nvSpPr>
          <p:cNvPr id="10" name="s6_2"/>
          <p:cNvSpPr/>
          <p:nvPr/>
        </p:nvSpPr>
        <p:spPr>
          <a:xfrm>
            <a:off x="548640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s6_3"/>
          <p:cNvSpPr/>
          <p:nvPr/>
        </p:nvSpPr>
        <p:spPr>
          <a:xfrm>
            <a:off x="777240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s6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252" y="1990100"/>
            <a:ext cx="335768" cy="335768"/>
          </a:xfrm>
          <a:prstGeom prst="rect">
            <a:avLst/>
          </a:prstGeom>
        </p:spPr>
      </p:pic>
      <p:sp>
        <p:nvSpPr>
          <p:cNvPr id="13" name="s6_5"/>
          <p:cNvSpPr txBox="1"/>
          <p:nvPr/>
        </p:nvSpPr>
        <p:spPr>
          <a:xfrm>
            <a:off x="777240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Local compute + GPU (recommended)</a:t>
            </a:r>
            <a:endParaRPr lang="en-US" sz="1500" dirty="0"/>
          </a:p>
        </p:txBody>
      </p:sp>
      <p:sp>
        <p:nvSpPr>
          <p:cNvPr id="14" name="s6_6"/>
          <p:cNvSpPr/>
          <p:nvPr/>
        </p:nvSpPr>
        <p:spPr>
          <a:xfrm>
            <a:off x="3378708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6_7"/>
          <p:cNvSpPr/>
          <p:nvPr/>
        </p:nvSpPr>
        <p:spPr>
          <a:xfrm>
            <a:off x="3607308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6_8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0" y="1990100"/>
            <a:ext cx="335768" cy="335768"/>
          </a:xfrm>
          <a:prstGeom prst="rect">
            <a:avLst/>
          </a:prstGeom>
        </p:spPr>
      </p:pic>
      <p:sp>
        <p:nvSpPr>
          <p:cNvPr id="17" name="s6_9"/>
          <p:cNvSpPr txBox="1"/>
          <p:nvPr/>
        </p:nvSpPr>
        <p:spPr>
          <a:xfrm>
            <a:off x="3607308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Docker + local model server</a:t>
            </a:r>
            <a:endParaRPr lang="en-US" sz="1500" dirty="0"/>
          </a:p>
        </p:txBody>
      </p:sp>
      <p:sp>
        <p:nvSpPr>
          <p:cNvPr id="18" name="s6_10"/>
          <p:cNvSpPr/>
          <p:nvPr/>
        </p:nvSpPr>
        <p:spPr>
          <a:xfrm>
            <a:off x="6208776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9" name="s6_11"/>
          <p:cNvSpPr/>
          <p:nvPr/>
        </p:nvSpPr>
        <p:spPr>
          <a:xfrm>
            <a:off x="6437376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s6_12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388" y="1990100"/>
            <a:ext cx="335768" cy="335768"/>
          </a:xfrm>
          <a:prstGeom prst="rect">
            <a:avLst/>
          </a:prstGeom>
        </p:spPr>
      </p:pic>
      <p:sp>
        <p:nvSpPr>
          <p:cNvPr id="21" name="s6_13"/>
          <p:cNvSpPr txBox="1"/>
          <p:nvPr/>
        </p:nvSpPr>
        <p:spPr>
          <a:xfrm>
            <a:off x="6437376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Persistent storage + enterprise data</a:t>
            </a:r>
            <a:endParaRPr lang="en-US" sz="1500" dirty="0"/>
          </a:p>
        </p:txBody>
      </p:sp>
      <p:sp>
        <p:nvSpPr>
          <p:cNvPr id="22" name="s6_14"/>
          <p:cNvSpPr/>
          <p:nvPr/>
        </p:nvSpPr>
        <p:spPr>
          <a:xfrm>
            <a:off x="9038844" y="1645920"/>
            <a:ext cx="2601468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s6_15"/>
          <p:cNvSpPr/>
          <p:nvPr/>
        </p:nvSpPr>
        <p:spPr>
          <a:xfrm>
            <a:off x="9267444" y="184708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s6_16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0456" y="1990100"/>
            <a:ext cx="335768" cy="335768"/>
          </a:xfrm>
          <a:prstGeom prst="rect">
            <a:avLst/>
          </a:prstGeom>
        </p:spPr>
      </p:pic>
      <p:sp>
        <p:nvSpPr>
          <p:cNvPr id="25" name="s6_17"/>
          <p:cNvSpPr txBox="1"/>
          <p:nvPr/>
        </p:nvSpPr>
        <p:spPr>
          <a:xfrm>
            <a:off x="9267444" y="25786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Proven frameworks</a:t>
            </a:r>
            <a:endParaRPr lang="en-US" sz="1500" dirty="0"/>
          </a:p>
        </p:txBody>
      </p:sp>
      <p:sp>
        <p:nvSpPr>
          <p:cNvPr id="26" name="s6_18"/>
          <p:cNvSpPr txBox="1"/>
          <p:nvPr/>
        </p:nvSpPr>
        <p:spPr>
          <a:xfrm>
            <a:off x="54864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</a:rPr>
              <a:t>ECONOMIC APPROACH</a:t>
            </a:r>
            <a:endParaRPr lang="en-US" sz="1300" dirty="0"/>
          </a:p>
        </p:txBody>
      </p:sp>
      <p:sp>
        <p:nvSpPr>
          <p:cNvPr id="27" name="s6_19"/>
          <p:cNvSpPr/>
          <p:nvPr/>
        </p:nvSpPr>
        <p:spPr>
          <a:xfrm>
            <a:off x="548640" y="4370832"/>
            <a:ext cx="3545129" cy="1691640"/>
          </a:xfrm>
          <a:prstGeom prst="roundRect">
            <a:avLst>
              <a:gd name="adj" fmla="val 5405"/>
            </a:avLst>
          </a:prstGeom>
          <a:solidFill>
            <a:schemeClr val="tx1"/>
          </a:solidFill>
          <a:ln/>
        </p:spPr>
      </p:sp>
      <p:sp>
        <p:nvSpPr>
          <p:cNvPr id="28" name="s6_20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s6_21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43" y="4708703"/>
            <a:ext cx="320954" cy="320954"/>
          </a:xfrm>
          <a:prstGeom prst="rect">
            <a:avLst/>
          </a:prstGeom>
        </p:spPr>
      </p:pic>
      <p:sp>
        <p:nvSpPr>
          <p:cNvPr id="30" name="s6_22"/>
          <p:cNvSpPr txBox="1"/>
          <p:nvPr/>
        </p:nvSpPr>
        <p:spPr>
          <a:xfrm>
            <a:off x="1508760" y="4572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Lower recurring AI costs</a:t>
            </a:r>
            <a:endParaRPr lang="en-US" sz="1700" dirty="0"/>
          </a:p>
        </p:txBody>
      </p:sp>
      <p:sp>
        <p:nvSpPr>
          <p:cNvPr id="31" name="s6_23"/>
          <p:cNvSpPr txBox="1"/>
          <p:nvPr/>
        </p:nvSpPr>
        <p:spPr>
          <a:xfrm>
            <a:off x="777240" y="5303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Potentially lower costs for sustained, high-volume workloads</a:t>
            </a:r>
            <a:endParaRPr lang="en-US" sz="1500" dirty="0"/>
          </a:p>
        </p:txBody>
      </p:sp>
      <p:sp>
        <p:nvSpPr>
          <p:cNvPr id="32" name="s6_24"/>
          <p:cNvSpPr/>
          <p:nvPr/>
        </p:nvSpPr>
        <p:spPr>
          <a:xfrm>
            <a:off x="4322369" y="4370832"/>
            <a:ext cx="3545129" cy="1691640"/>
          </a:xfrm>
          <a:prstGeom prst="roundRect">
            <a:avLst>
              <a:gd name="adj" fmla="val 5405"/>
            </a:avLst>
          </a:prstGeom>
          <a:solidFill>
            <a:schemeClr val="tx1"/>
          </a:solidFill>
          <a:ln/>
        </p:spPr>
      </p:sp>
      <p:sp>
        <p:nvSpPr>
          <p:cNvPr id="33" name="s6_25"/>
          <p:cNvSpPr/>
          <p:nvPr/>
        </p:nvSpPr>
        <p:spPr>
          <a:xfrm>
            <a:off x="4550969" y="45720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s6_26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7672" y="4708703"/>
            <a:ext cx="320954" cy="320954"/>
          </a:xfrm>
          <a:prstGeom prst="rect">
            <a:avLst/>
          </a:prstGeom>
        </p:spPr>
      </p:pic>
      <p:sp>
        <p:nvSpPr>
          <p:cNvPr id="35" name="s6_27"/>
          <p:cNvSpPr txBox="1"/>
          <p:nvPr/>
        </p:nvSpPr>
        <p:spPr>
          <a:xfrm>
            <a:off x="5282489" y="4572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Enterprise licensing</a:t>
            </a:r>
            <a:endParaRPr lang="en-US" sz="1700" dirty="0"/>
          </a:p>
        </p:txBody>
      </p:sp>
      <p:sp>
        <p:nvSpPr>
          <p:cNvPr id="36" name="s6_28"/>
          <p:cNvSpPr txBox="1"/>
          <p:nvPr/>
        </p:nvSpPr>
        <p:spPr>
          <a:xfrm>
            <a:off x="4550969" y="5303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Monetised through licensing plus setup and integration</a:t>
            </a:r>
            <a:endParaRPr lang="en-US" sz="1500" dirty="0"/>
          </a:p>
        </p:txBody>
      </p:sp>
      <p:sp>
        <p:nvSpPr>
          <p:cNvPr id="37" name="s6_29"/>
          <p:cNvSpPr/>
          <p:nvPr/>
        </p:nvSpPr>
        <p:spPr>
          <a:xfrm>
            <a:off x="8096098" y="4370832"/>
            <a:ext cx="3545129" cy="1691640"/>
          </a:xfrm>
          <a:prstGeom prst="roundRect">
            <a:avLst>
              <a:gd name="adj" fmla="val 5405"/>
            </a:avLst>
          </a:prstGeom>
          <a:solidFill>
            <a:schemeClr val="tx1"/>
          </a:solidFill>
          <a:ln/>
        </p:spPr>
      </p:sp>
      <p:sp>
        <p:nvSpPr>
          <p:cNvPr id="38" name="s6_30"/>
          <p:cNvSpPr/>
          <p:nvPr/>
        </p:nvSpPr>
        <p:spPr>
          <a:xfrm>
            <a:off x="8324698" y="45720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s6_31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1400" y="4708703"/>
            <a:ext cx="320954" cy="320954"/>
          </a:xfrm>
          <a:prstGeom prst="rect">
            <a:avLst/>
          </a:prstGeom>
        </p:spPr>
      </p:pic>
      <p:sp>
        <p:nvSpPr>
          <p:cNvPr id="40" name="s6_32"/>
          <p:cNvSpPr txBox="1"/>
          <p:nvPr/>
        </p:nvSpPr>
        <p:spPr>
          <a:xfrm>
            <a:off x="9056218" y="4572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Recurring revenue</a:t>
            </a:r>
            <a:endParaRPr lang="en-US" sz="1700" dirty="0"/>
          </a:p>
        </p:txBody>
      </p:sp>
      <p:sp>
        <p:nvSpPr>
          <p:cNvPr id="41" name="s6_33"/>
          <p:cNvSpPr txBox="1"/>
          <p:nvPr/>
        </p:nvSpPr>
        <p:spPr>
          <a:xfrm>
            <a:off x="8324698" y="5303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Support, maintenance and custom agents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97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98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9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01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02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05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06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7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09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10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2" presetClass="entr" presetSubtype="4" fill="hold" grpId="0" nodeType="withEffect" p14:presetBounceEnd="35000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13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14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17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18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21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22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3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25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26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7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29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30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1" presetID="2" presetClass="entr" presetSubtype="4" fill="hold" grpId="0" nodeType="withEffect" p14:presetBounceEnd="35000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33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34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37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38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9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41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42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3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45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46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7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49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50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1" presetID="2" presetClass="entr" presetSubtype="4" fill="hold" grpId="0" nodeType="withEffect" p14:presetBounceEnd="35000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153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154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5" grpId="0" animBg="1"/>
          <p:bldP spid="36" grpId="0" animBg="1"/>
          <p:bldP spid="37" grpId="0" animBg="1"/>
          <p:bldP spid="38" grpId="0" animBg="1"/>
          <p:bldP spid="40" grpId="0" animBg="1"/>
          <p:bldP spid="4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9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67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12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9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1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2" dur="12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5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6" dur="12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7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9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12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2" presetClass="entr" presetSubtype="4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3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12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12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1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2" dur="12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3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12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7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9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0" dur="12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1" presetID="2" presetClass="entr" presetSubtype="4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12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12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9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1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2" dur="12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3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5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6" dur="12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7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9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0" dur="12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1" presetID="2" presetClass="entr" presetSubtype="4" fill="hold" grpId="0" nodeType="withEffect">
                                      <p:stCondLst>
                                        <p:cond delay="1170"/>
                                      </p:stCondLst>
                                      <p:childTnLst>
                                        <p:set>
                                          <p:cBhvr>
                                            <p:cTn id="1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3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12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5" grpId="0" animBg="1"/>
          <p:bldP spid="36" grpId="0" animBg="1"/>
          <p:bldP spid="37" grpId="0" animBg="1"/>
          <p:bldP spid="38" grpId="0" animBg="1"/>
          <p:bldP spid="40" grpId="0" animBg="1"/>
          <p:bldP spid="41" grpId="0" animBg="1"/>
        </p:bldLst>
      </p:timing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1981505" y="-6858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3810305" y="114300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6949440" y="457200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4496105" y="1828800"/>
            <a:ext cx="3200400" cy="3200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4839005" y="2171700"/>
            <a:ext cx="2514600" cy="251460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IMPACT &amp; BENEFITS</a:t>
            </a:r>
            <a:endParaRPr lang="en-US" sz="3200" dirty="0"/>
          </a:p>
        </p:txBody>
      </p:sp>
      <p:sp>
        <p:nvSpPr>
          <p:cNvPr id="9" name="s7_1"/>
          <p:cNvSpPr txBox="1"/>
          <p:nvPr/>
        </p:nvSpPr>
        <p:spPr>
          <a:xfrm>
            <a:off x="5852160" y="384048"/>
            <a:ext cx="5788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Real value, higher control, a safer tomorrow.</a:t>
            </a:r>
            <a:endParaRPr lang="en-US" sz="1600" dirty="0"/>
          </a:p>
        </p:txBody>
      </p:sp>
      <p:sp>
        <p:nvSpPr>
          <p:cNvPr id="10" name="s7_2"/>
          <p:cNvSpPr/>
          <p:nvPr/>
        </p:nvSpPr>
        <p:spPr>
          <a:xfrm>
            <a:off x="548640" y="137160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s7_3"/>
          <p:cNvSpPr txBox="1"/>
          <p:nvPr/>
        </p:nvSpPr>
        <p:spPr>
          <a:xfrm>
            <a:off x="777240" y="155448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s7_4"/>
          <p:cNvSpPr txBox="1"/>
          <p:nvPr/>
        </p:nvSpPr>
        <p:spPr>
          <a:xfrm>
            <a:off x="137160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CONVERSATIONAL IMPACT</a:t>
            </a:r>
            <a:endParaRPr lang="en-US" sz="1500" dirty="0"/>
          </a:p>
        </p:txBody>
      </p:sp>
      <p:sp>
        <p:nvSpPr>
          <p:cNvPr id="13" name="s7_5"/>
          <p:cNvSpPr txBox="1"/>
          <p:nvPr/>
        </p:nvSpPr>
        <p:spPr>
          <a:xfrm>
            <a:off x="777240" y="2057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Safer AI interactions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Human oversight</a:t>
            </a:r>
            <a:endParaRPr lang="en-US" sz="1400" dirty="0"/>
          </a:p>
        </p:txBody>
      </p:sp>
      <p:sp>
        <p:nvSpPr>
          <p:cNvPr id="14" name="s7_6"/>
          <p:cNvSpPr/>
          <p:nvPr/>
        </p:nvSpPr>
        <p:spPr>
          <a:xfrm>
            <a:off x="7985455" y="137160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7_7"/>
          <p:cNvSpPr txBox="1"/>
          <p:nvPr/>
        </p:nvSpPr>
        <p:spPr>
          <a:xfrm>
            <a:off x="8214055" y="155448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7_8"/>
          <p:cNvSpPr txBox="1"/>
          <p:nvPr/>
        </p:nvSpPr>
        <p:spPr>
          <a:xfrm>
            <a:off x="8808415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FASTER RESEARCH</a:t>
            </a:r>
            <a:endParaRPr lang="en-US" sz="1500" dirty="0"/>
          </a:p>
        </p:txBody>
      </p:sp>
      <p:sp>
        <p:nvSpPr>
          <p:cNvPr id="17" name="s7_9"/>
          <p:cNvSpPr txBox="1"/>
          <p:nvPr/>
        </p:nvSpPr>
        <p:spPr>
          <a:xfrm>
            <a:off x="8214055" y="2057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Private AI research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Controlled experimentation</a:t>
            </a:r>
            <a:endParaRPr lang="en-US" sz="1400" dirty="0"/>
          </a:p>
        </p:txBody>
      </p:sp>
      <p:sp>
        <p:nvSpPr>
          <p:cNvPr id="18" name="s7_10"/>
          <p:cNvSpPr/>
          <p:nvPr/>
        </p:nvSpPr>
        <p:spPr>
          <a:xfrm>
            <a:off x="548640" y="324612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9" name="s7_11"/>
          <p:cNvSpPr txBox="1"/>
          <p:nvPr/>
        </p:nvSpPr>
        <p:spPr>
          <a:xfrm>
            <a:off x="777240" y="34290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s7_12"/>
          <p:cNvSpPr txBox="1"/>
          <p:nvPr/>
        </p:nvSpPr>
        <p:spPr>
          <a:xfrm>
            <a:off x="1371600" y="3429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NATIONAL IMPACT</a:t>
            </a:r>
            <a:endParaRPr lang="en-US" sz="1500" dirty="0"/>
          </a:p>
        </p:txBody>
      </p:sp>
      <p:sp>
        <p:nvSpPr>
          <p:cNvPr id="21" name="s7_13"/>
          <p:cNvSpPr txBox="1"/>
          <p:nvPr/>
        </p:nvSpPr>
        <p:spPr>
          <a:xfrm>
            <a:off x="777240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AI &amp; data sovereignty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Reduced external dependence</a:t>
            </a:r>
            <a:endParaRPr lang="en-US" sz="1400" dirty="0"/>
          </a:p>
        </p:txBody>
      </p:sp>
      <p:sp>
        <p:nvSpPr>
          <p:cNvPr id="22" name="s7_14"/>
          <p:cNvSpPr/>
          <p:nvPr/>
        </p:nvSpPr>
        <p:spPr>
          <a:xfrm>
            <a:off x="7985455" y="3246120"/>
            <a:ext cx="365760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s7_15"/>
          <p:cNvSpPr txBox="1"/>
          <p:nvPr/>
        </p:nvSpPr>
        <p:spPr>
          <a:xfrm>
            <a:off x="8214055" y="34290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s7_16"/>
          <p:cNvSpPr txBox="1"/>
          <p:nvPr/>
        </p:nvSpPr>
        <p:spPr>
          <a:xfrm>
            <a:off x="8808415" y="3429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TECHNICAL IMPACT</a:t>
            </a:r>
            <a:endParaRPr lang="en-US" sz="1500" dirty="0"/>
          </a:p>
        </p:txBody>
      </p:sp>
      <p:sp>
        <p:nvSpPr>
          <p:cNvPr id="25" name="s7_17"/>
          <p:cNvSpPr txBox="1"/>
          <p:nvPr/>
        </p:nvSpPr>
        <p:spPr>
          <a:xfrm>
            <a:off x="8214055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Local LLM + RAG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Multi-agent orchestration</a:t>
            </a:r>
            <a:endParaRPr lang="en-US" sz="14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Sandbox + verification · auditability</a:t>
            </a:r>
            <a:endParaRPr lang="en-US" sz="1400" dirty="0"/>
          </a:p>
        </p:txBody>
      </p:sp>
      <p:sp>
        <p:nvSpPr>
          <p:cNvPr id="26" name="s7_18"/>
          <p:cNvSpPr/>
          <p:nvPr/>
        </p:nvSpPr>
        <p:spPr>
          <a:xfrm>
            <a:off x="3813048" y="5303520"/>
            <a:ext cx="45720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s7_19"/>
          <p:cNvSpPr txBox="1"/>
          <p:nvPr/>
        </p:nvSpPr>
        <p:spPr>
          <a:xfrm>
            <a:off x="4041648" y="5413248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2200" dirty="0"/>
          </a:p>
        </p:txBody>
      </p:sp>
      <p:sp>
        <p:nvSpPr>
          <p:cNvPr id="28" name="s7_20"/>
          <p:cNvSpPr txBox="1"/>
          <p:nvPr/>
        </p:nvSpPr>
        <p:spPr>
          <a:xfrm>
            <a:off x="4636008" y="541324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ECONOMIC &amp; INDUSTRIAL IMPACT</a:t>
            </a:r>
            <a:endParaRPr lang="en-US" sz="1500" dirty="0"/>
          </a:p>
        </p:txBody>
      </p:sp>
      <p:sp>
        <p:nvSpPr>
          <p:cNvPr id="29" name="s7_21"/>
          <p:cNvSpPr txBox="1"/>
          <p:nvPr/>
        </p:nvSpPr>
        <p:spPr>
          <a:xfrm>
            <a:off x="4041648" y="58338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Lower recurring AI costs · secure enterprise adoption · regulated industries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</p:bldLst>
      </p:timing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108960" y="-6858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412480" y="-274320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2377440" y="466344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48640" y="3474720"/>
            <a:ext cx="1109167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411480" y="3108960"/>
            <a:ext cx="1188720" cy="118872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FUTURE PROSPECTS</a:t>
            </a:r>
            <a:endParaRPr lang="en-US" sz="3200" dirty="0"/>
          </a:p>
        </p:txBody>
      </p:sp>
      <p:sp>
        <p:nvSpPr>
          <p:cNvPr id="9" name="s8_1"/>
          <p:cNvSpPr/>
          <p:nvPr/>
        </p:nvSpPr>
        <p:spPr>
          <a:xfrm>
            <a:off x="199339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s8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054" y="3495934"/>
            <a:ext cx="414772" cy="414772"/>
          </a:xfrm>
          <a:prstGeom prst="rect">
            <a:avLst/>
          </a:prstGeom>
        </p:spPr>
      </p:pic>
      <p:sp>
        <p:nvSpPr>
          <p:cNvPr id="11" name="s8_3"/>
          <p:cNvSpPr/>
          <p:nvPr/>
        </p:nvSpPr>
        <p:spPr>
          <a:xfrm>
            <a:off x="2377440" y="2971800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" name="s8_4"/>
          <p:cNvSpPr txBox="1"/>
          <p:nvPr/>
        </p:nvSpPr>
        <p:spPr>
          <a:xfrm>
            <a:off x="868680" y="15087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Multimodal enterprise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Vision, audio, video &amp; complex-document understanding</a:t>
            </a:r>
            <a:endParaRPr lang="en-US" sz="1600" dirty="0"/>
          </a:p>
        </p:txBody>
      </p:sp>
      <p:sp>
        <p:nvSpPr>
          <p:cNvPr id="13" name="s8_5"/>
          <p:cNvSpPr/>
          <p:nvPr/>
        </p:nvSpPr>
        <p:spPr>
          <a:xfrm>
            <a:off x="391363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s8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294" y="3495934"/>
            <a:ext cx="414772" cy="414772"/>
          </a:xfrm>
          <a:prstGeom prst="rect">
            <a:avLst/>
          </a:prstGeom>
        </p:spPr>
      </p:pic>
      <p:sp>
        <p:nvSpPr>
          <p:cNvPr id="15" name="s8_7"/>
          <p:cNvSpPr/>
          <p:nvPr/>
        </p:nvSpPr>
        <p:spPr>
          <a:xfrm>
            <a:off x="4297680" y="4087368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6" name="s8_8"/>
          <p:cNvSpPr txBox="1"/>
          <p:nvPr/>
        </p:nvSpPr>
        <p:spPr>
          <a:xfrm>
            <a:off x="2788920" y="44805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Multi-site deployment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Local AI at every site with centralised governance</a:t>
            </a:r>
            <a:endParaRPr lang="en-US" sz="1600" dirty="0"/>
          </a:p>
        </p:txBody>
      </p:sp>
      <p:sp>
        <p:nvSpPr>
          <p:cNvPr id="17" name="s8_9"/>
          <p:cNvSpPr/>
          <p:nvPr/>
        </p:nvSpPr>
        <p:spPr>
          <a:xfrm>
            <a:off x="583387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8" name="s8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0534" y="3495934"/>
            <a:ext cx="414772" cy="414772"/>
          </a:xfrm>
          <a:prstGeom prst="rect">
            <a:avLst/>
          </a:prstGeom>
        </p:spPr>
      </p:pic>
      <p:sp>
        <p:nvSpPr>
          <p:cNvPr id="19" name="s8_11"/>
          <p:cNvSpPr/>
          <p:nvPr/>
        </p:nvSpPr>
        <p:spPr>
          <a:xfrm>
            <a:off x="6217920" y="2971800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s8_12"/>
          <p:cNvSpPr txBox="1"/>
          <p:nvPr/>
        </p:nvSpPr>
        <p:spPr>
          <a:xfrm>
            <a:off x="4709160" y="15087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Industry-specific agents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Manufacturing, healthcare, finance, government &amp; defence</a:t>
            </a:r>
            <a:endParaRPr lang="en-US" sz="1600" dirty="0"/>
          </a:p>
        </p:txBody>
      </p:sp>
      <p:sp>
        <p:nvSpPr>
          <p:cNvPr id="21" name="s8_13"/>
          <p:cNvSpPr/>
          <p:nvPr/>
        </p:nvSpPr>
        <p:spPr>
          <a:xfrm>
            <a:off x="775411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s8_1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0774" y="3495934"/>
            <a:ext cx="414772" cy="414772"/>
          </a:xfrm>
          <a:prstGeom prst="rect">
            <a:avLst/>
          </a:prstGeom>
        </p:spPr>
      </p:pic>
      <p:sp>
        <p:nvSpPr>
          <p:cNvPr id="23" name="s8_15"/>
          <p:cNvSpPr/>
          <p:nvPr/>
        </p:nvSpPr>
        <p:spPr>
          <a:xfrm>
            <a:off x="8138160" y="4087368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4" name="s8_16"/>
          <p:cNvSpPr txBox="1"/>
          <p:nvPr/>
        </p:nvSpPr>
        <p:spPr>
          <a:xfrm>
            <a:off x="6629400" y="44805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Continuous security &amp; governance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Policy enforcement, monitoring, audit &amp; compliance</a:t>
            </a:r>
            <a:endParaRPr lang="en-US" sz="1600" dirty="0"/>
          </a:p>
        </p:txBody>
      </p:sp>
      <p:sp>
        <p:nvSpPr>
          <p:cNvPr id="25" name="s8_17"/>
          <p:cNvSpPr/>
          <p:nvPr/>
        </p:nvSpPr>
        <p:spPr>
          <a:xfrm>
            <a:off x="9674352" y="3319272"/>
            <a:ext cx="768096" cy="76809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6" name="s8_1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1014" y="3495934"/>
            <a:ext cx="414772" cy="414772"/>
          </a:xfrm>
          <a:prstGeom prst="rect">
            <a:avLst/>
          </a:prstGeom>
        </p:spPr>
      </p:pic>
      <p:sp>
        <p:nvSpPr>
          <p:cNvPr id="27" name="s8_19"/>
          <p:cNvSpPr/>
          <p:nvPr/>
        </p:nvSpPr>
        <p:spPr>
          <a:xfrm>
            <a:off x="10058400" y="2971800"/>
            <a:ext cx="0" cy="347472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8" name="s8_20"/>
          <p:cNvSpPr txBox="1"/>
          <p:nvPr/>
        </p:nvSpPr>
        <p:spPr>
          <a:xfrm>
            <a:off x="8549640" y="15087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Enterprise AI control layer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Evolve into the secure orchestration and governance layer for enterprise AI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42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8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9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10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10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2" presetID="42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4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5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6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7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1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10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1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36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6" presetID="42" presetClass="entr" presetSubtype="0" fill="hold" grpId="0" nodeType="withEffect">
                                      <p:stCondLst>
                                        <p:cond delay="510"/>
                                      </p:stCondLst>
                                      <p:childTnLs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8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9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10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4" presetID="42" presetClass="entr" presetSubtype="0" fill="hold" grpId="0" nodeType="withEffect">
                                      <p:stCondLst>
                                        <p:cond delay="770"/>
                                      </p:stCondLst>
                                      <p:childTnLs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6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7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53" presetClass="entr" presetSubtype="16" fill="hold" grpId="0" nodeType="withEffect">
                                      <p:stCondLst>
                                        <p:cond delay="8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8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9" presetID="10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2" presetID="42" presetClass="entr" presetSubtype="0" fill="hold" grpId="0" nodeType="withEffect">
                                      <p:stCondLst>
                                        <p:cond delay="1030"/>
                                      </p:stCondLst>
                                      <p:childTnLst>
                                        <p:set>
                                          <p:cBhvr>
                                            <p:cTn id="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4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5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6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7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9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1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10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1" grpId="0" animBg="1"/>
          <p:bldP spid="12" grpId="0" animBg="1"/>
          <p:bldP spid="13" grpId="0" animBg="1"/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1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</p:bldLst>
      </p:timing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-3840480" y="-45720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8961120" y="402336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4937760" y="-246888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10835640" y="274320"/>
            <a:ext cx="868680" cy="86868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384048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RESEARCH &amp; REFERENCES</a:t>
            </a:r>
            <a:endParaRPr lang="en-US" sz="3200" dirty="0"/>
          </a:p>
        </p:txBody>
      </p:sp>
      <p:sp>
        <p:nvSpPr>
          <p:cNvPr id="9" name="s9_1"/>
          <p:cNvSpPr/>
          <p:nvPr/>
        </p:nvSpPr>
        <p:spPr>
          <a:xfrm>
            <a:off x="548640" y="1325880"/>
            <a:ext cx="3392424" cy="3429000"/>
          </a:xfrm>
          <a:prstGeom prst="roundRect">
            <a:avLst>
              <a:gd name="adj" fmla="val 2695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s9_2"/>
          <p:cNvSpPr/>
          <p:nvPr/>
        </p:nvSpPr>
        <p:spPr>
          <a:xfrm>
            <a:off x="777240" y="153619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s9_3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" y="1662379"/>
            <a:ext cx="296266" cy="296266"/>
          </a:xfrm>
          <a:prstGeom prst="rect">
            <a:avLst/>
          </a:prstGeom>
        </p:spPr>
      </p:pic>
      <p:sp>
        <p:nvSpPr>
          <p:cNvPr id="12" name="s9_4"/>
          <p:cNvSpPr txBox="1"/>
          <p:nvPr/>
        </p:nvSpPr>
        <p:spPr>
          <a:xfrm>
            <a:off x="1463040" y="151790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SUPPORTING RESEARCH PAPERS</a:t>
            </a:r>
            <a:endParaRPr lang="en-US" sz="1400" dirty="0"/>
          </a:p>
        </p:txBody>
      </p:sp>
      <p:sp>
        <p:nvSpPr>
          <p:cNvPr id="13" name="s9_5"/>
          <p:cNvSpPr txBox="1"/>
          <p:nvPr/>
        </p:nvSpPr>
        <p:spPr>
          <a:xfrm>
            <a:off x="77724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Attention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Need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Retrieval-Augmented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Generation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Knowledge-Intensive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NLP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Tasks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Self-Refine: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Iterative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Refinement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with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Self-Feedback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AutoGen: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Next-Gen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Applications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via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Multi-Agent </a:t>
            </a:r>
            <a:pPr indent="0" marL="0">
              <a:spcAft>
                <a:spcPts val="700"/>
              </a:spcAft>
              <a:buNone/>
            </a:pPr>
            <a:r>
              <a:rPr lang="en-US" sz="140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Conversation</a:t>
            </a:r>
            <a:endParaRPr lang="en-US" sz="1400" dirty="0"/>
          </a:p>
        </p:txBody>
      </p:sp>
      <p:sp>
        <p:nvSpPr>
          <p:cNvPr id="14" name="s9_6"/>
          <p:cNvSpPr/>
          <p:nvPr/>
        </p:nvSpPr>
        <p:spPr>
          <a:xfrm>
            <a:off x="4398264" y="1325880"/>
            <a:ext cx="3392424" cy="3429000"/>
          </a:xfrm>
          <a:prstGeom prst="roundRect">
            <a:avLst>
              <a:gd name="adj" fmla="val 2695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s9_7"/>
          <p:cNvSpPr/>
          <p:nvPr/>
        </p:nvSpPr>
        <p:spPr>
          <a:xfrm>
            <a:off x="4626864" y="153619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9_8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3051" y="1662379"/>
            <a:ext cx="296266" cy="296266"/>
          </a:xfrm>
          <a:prstGeom prst="rect">
            <a:avLst/>
          </a:prstGeom>
        </p:spPr>
      </p:pic>
      <p:sp>
        <p:nvSpPr>
          <p:cNvPr id="17" name="s9_9"/>
          <p:cNvSpPr txBox="1"/>
          <p:nvPr/>
        </p:nvSpPr>
        <p:spPr>
          <a:xfrm>
            <a:off x="5312664" y="151790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TECHNICAL DOCUMENTATION</a:t>
            </a:r>
            <a:endParaRPr lang="en-US" sz="1400" dirty="0"/>
          </a:p>
        </p:txBody>
      </p:sp>
      <p:sp>
        <p:nvSpPr>
          <p:cNvPr id="18" name="s9_10"/>
          <p:cNvSpPr txBox="1"/>
          <p:nvPr/>
        </p:nvSpPr>
        <p:spPr>
          <a:xfrm>
            <a:off x="4626864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Sovereign AI Project Deep Research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Master Architecture + Phase Specifications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Verification Reports + Security Runbooks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RUNNING.md + Sovereign Configuration</a:t>
            </a:r>
            <a:endParaRPr lang="en-US" sz="1400" dirty="0"/>
          </a:p>
        </p:txBody>
      </p:sp>
      <p:sp>
        <p:nvSpPr>
          <p:cNvPr id="19" name="s9_11"/>
          <p:cNvSpPr/>
          <p:nvPr/>
        </p:nvSpPr>
        <p:spPr>
          <a:xfrm>
            <a:off x="8247888" y="1325880"/>
            <a:ext cx="3392424" cy="3429000"/>
          </a:xfrm>
          <a:prstGeom prst="roundRect">
            <a:avLst>
              <a:gd name="adj" fmla="val 2695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0" name="s9_12"/>
          <p:cNvSpPr/>
          <p:nvPr/>
        </p:nvSpPr>
        <p:spPr>
          <a:xfrm>
            <a:off x="8476488" y="153619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s9_13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2675" y="1662379"/>
            <a:ext cx="296266" cy="296266"/>
          </a:xfrm>
          <a:prstGeom prst="rect">
            <a:avLst/>
          </a:prstGeom>
        </p:spPr>
      </p:pic>
      <p:sp>
        <p:nvSpPr>
          <p:cNvPr id="22" name="s9_14"/>
          <p:cNvSpPr txBox="1"/>
          <p:nvPr/>
        </p:nvSpPr>
        <p:spPr>
          <a:xfrm>
            <a:off x="9162288" y="151790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MARKET RESEARCH</a:t>
            </a:r>
            <a:endParaRPr lang="en-US" sz="1400" dirty="0"/>
          </a:p>
        </p:txBody>
      </p:sp>
      <p:sp>
        <p:nvSpPr>
          <p:cNvPr id="23" name="s9_15"/>
          <p:cNvSpPr txBox="1"/>
          <p:nvPr/>
        </p:nvSpPr>
        <p:spPr>
          <a:xfrm>
            <a:off x="8476488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Inference Economics of Enterprise Coding Agents — 2026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Hardware Economics: Cloud vs On-Prem TCO — 2026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On-Premise vs Cloud: Generative AI TCO — 2026</a:t>
            </a:r>
            <a:endParaRPr lang="en-US" sz="1400" dirty="0"/>
          </a:p>
        </p:txBody>
      </p:sp>
      <p:sp>
        <p:nvSpPr>
          <p:cNvPr id="24" name="s9_16"/>
          <p:cNvSpPr txBox="1"/>
          <p:nvPr/>
        </p:nvSpPr>
        <p:spPr>
          <a:xfrm>
            <a:off x="960120" y="53446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1"/>
                </a:solidFill>
              </a:rPr>
              <a:t>LINKS</a:t>
            </a:r>
            <a:endParaRPr lang="en-US" sz="1300" dirty="0"/>
          </a:p>
        </p:txBody>
      </p:sp>
      <p:sp>
        <p:nvSpPr>
          <p:cNvPr id="25" name="s9_17"/>
          <p:cNvSpPr/>
          <p:nvPr/>
        </p:nvSpPr>
        <p:spPr>
          <a:xfrm>
            <a:off x="2240280" y="5344668"/>
            <a:ext cx="283464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26" name="s9_18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41448" y="5454396"/>
            <a:ext cx="292608" cy="292608"/>
          </a:xfrm>
          <a:prstGeom prst="rect">
            <a:avLst/>
          </a:prstGeom>
        </p:spPr>
      </p:pic>
      <p:sp>
        <p:nvSpPr>
          <p:cNvPr id="27" name="s9_19"/>
          <p:cNvSpPr txBox="1"/>
          <p:nvPr/>
        </p:nvSpPr>
        <p:spPr>
          <a:xfrm>
            <a:off x="2834640" y="534466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bg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500" dirty="0"/>
          </a:p>
        </p:txBody>
      </p:sp>
      <p:sp>
        <p:nvSpPr>
          <p:cNvPr id="28" name="s9_20"/>
          <p:cNvSpPr/>
          <p:nvPr/>
        </p:nvSpPr>
        <p:spPr>
          <a:xfrm>
            <a:off x="5349240" y="5344668"/>
            <a:ext cx="283464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29" name="s9_21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0408" y="5454396"/>
            <a:ext cx="292608" cy="292608"/>
          </a:xfrm>
          <a:prstGeom prst="rect">
            <a:avLst/>
          </a:prstGeom>
        </p:spPr>
      </p:pic>
      <p:sp>
        <p:nvSpPr>
          <p:cNvPr id="30" name="s9_22"/>
          <p:cNvSpPr txBox="1"/>
          <p:nvPr/>
        </p:nvSpPr>
        <p:spPr>
          <a:xfrm>
            <a:off x="5943600" y="534466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Demo video</a:t>
            </a:r>
            <a:endParaRPr lang="en-US" sz="1500" dirty="0"/>
          </a:p>
        </p:txBody>
      </p:sp>
      <p:sp>
        <p:nvSpPr>
          <p:cNvPr id="31" name="s9_23"/>
          <p:cNvSpPr/>
          <p:nvPr/>
        </p:nvSpPr>
        <p:spPr>
          <a:xfrm>
            <a:off x="8458200" y="5344668"/>
            <a:ext cx="283464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pic>
        <p:nvPicPr>
          <p:cNvPr id="32" name="s9_24" descr="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59368" y="5454396"/>
            <a:ext cx="292608" cy="292608"/>
          </a:xfrm>
          <a:prstGeom prst="rect">
            <a:avLst/>
          </a:prstGeom>
        </p:spPr>
      </p:pic>
      <p:sp>
        <p:nvSpPr>
          <p:cNvPr id="33" name="s9_25"/>
          <p:cNvSpPr txBox="1"/>
          <p:nvPr/>
        </p:nvSpPr>
        <p:spPr>
          <a:xfrm>
            <a:off x="9052560" y="534466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bg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PPT video explanation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10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6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7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1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2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5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7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0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3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5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6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7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0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2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5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7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30" grpId="0" animBg="1"/>
          <p:bldP spid="31" grpId="0" animBg="1"/>
          <p:bldP spid="33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10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6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7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1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2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5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6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7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0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1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2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3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5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6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7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8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0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0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1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2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5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6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7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2" grpId="0" animBg="1"/>
          <p:bldP spid="13" grpId="0" animBg="1"/>
          <p:bldP spid="14" grpId="0" animBg="1"/>
          <p:bldP spid="15" grpId="0" animBg="1"/>
          <p:bldP spid="17" grpId="0" animBg="1"/>
          <p:bldP spid="18" grpId="0" animBg="1"/>
          <p:bldP spid="19" grpId="0" animBg="1"/>
          <p:bldP spid="20" grpId="0" animBg="1"/>
          <p:bldP spid="22" grpId="0" animBg="1"/>
          <p:bldP spid="23" grpId="0" animBg="1"/>
          <p:bldP spid="24" grpId="0" animBg="1"/>
          <p:bldP spid="25" grpId="0" animBg="1"/>
          <p:bldP spid="27" grpId="0" animBg="1"/>
          <p:bldP spid="28" grpId="0" animBg="1"/>
          <p:bldP spid="30" grpId="0" animBg="1"/>
          <p:bldP spid="31" grpId="0" animBg="1"/>
          <p:bldP spid="33" grpId="0" animBg="1"/>
        </p:bldLst>
      </p:timing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ringA"/>
          <p:cNvSpPr/>
          <p:nvPr/>
        </p:nvSpPr>
        <p:spPr>
          <a:xfrm>
            <a:off x="5257800" y="-685800"/>
            <a:ext cx="8229600" cy="82296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3" name="!!ringB"/>
          <p:cNvSpPr/>
          <p:nvPr/>
        </p:nvSpPr>
        <p:spPr>
          <a:xfrm>
            <a:off x="7086600" y="1143000"/>
            <a:ext cx="4572000" cy="4572000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4" name="!!ghost"/>
          <p:cNvSpPr txBox="1"/>
          <p:nvPr/>
        </p:nvSpPr>
        <p:spPr>
          <a:xfrm>
            <a:off x="1828800" y="1645920"/>
            <a:ext cx="8778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25000" dirty="0"/>
          </a:p>
        </p:txBody>
      </p:sp>
      <p:sp>
        <p:nvSpPr>
          <p:cNvPr id="5" name="!!band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"/>
            </a:avLst>
          </a:prstGeom>
          <a:solidFill>
            <a:schemeClr val="accent1"/>
          </a:solidFill>
          <a:ln/>
        </p:spPr>
      </p:sp>
      <p:pic>
        <p:nvPicPr>
          <p:cNvPr id="6" name="!!wheel" descr="Wheel of the four pillars: sovereignty, ingestion, governance, tr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0"/>
            <a:ext cx="5029200" cy="5029200"/>
          </a:xfrm>
          <a:prstGeom prst="rect">
            <a:avLst/>
          </a:prstGeom>
        </p:spPr>
      </p:pic>
      <p:sp>
        <p:nvSpPr>
          <p:cNvPr id="8" name="!!title"/>
          <p:cNvSpPr txBox="1"/>
          <p:nvPr/>
        </p:nvSpPr>
        <p:spPr>
          <a:xfrm>
            <a:off x="548640" y="9144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DATA</a:t>
            </a:r>
            <a:endParaRPr lang="en-US" sz="5400" dirty="0"/>
          </a:p>
          <a:p>
            <a:pPr indent="0" marL="0">
              <a:buNone/>
            </a:pPr>
            <a:r>
              <a:rPr lang="en-US" sz="5400" b="1" spc="-1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STAYS YOURS</a:t>
            </a:r>
            <a:endParaRPr lang="en-US" sz="5400" dirty="0"/>
          </a:p>
        </p:txBody>
      </p:sp>
      <p:sp>
        <p:nvSpPr>
          <p:cNvPr id="9" name="s10_1"/>
          <p:cNvSpPr txBox="1"/>
          <p:nvPr/>
        </p:nvSpPr>
        <p:spPr>
          <a:xfrm>
            <a:off x="548640" y="3063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Sovereign. Secure. Verifiable. Actionable.</a:t>
            </a:r>
            <a:endParaRPr lang="en-US" sz="2100" dirty="0"/>
          </a:p>
        </p:txBody>
      </p:sp>
      <p:sp>
        <p:nvSpPr>
          <p:cNvPr id="10" name="s10_2"/>
          <p:cNvSpPr txBox="1"/>
          <p:nvPr/>
        </p:nvSpPr>
        <p:spPr>
          <a:xfrm>
            <a:off x="548640" y="35661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Turns private organisational knowledge into actionable intelligence.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Automates real workflows while keeping humans in control.</a:t>
            </a:r>
            <a:endParaRPr lang="en-US" sz="1500" dirty="0"/>
          </a:p>
        </p:txBody>
      </p:sp>
      <p:sp>
        <p:nvSpPr>
          <p:cNvPr id="11" name="s10_3"/>
          <p:cNvSpPr txBox="1"/>
          <p:nvPr/>
        </p:nvSpPr>
        <p:spPr>
          <a:xfrm>
            <a:off x="548640" y="4709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Powerful enough for enterprises. Controlled enough to trust.</a:t>
            </a:r>
            <a:endParaRPr lang="en-US" sz="1500" dirty="0"/>
          </a:p>
        </p:txBody>
      </p:sp>
      <p:sp>
        <p:nvSpPr>
          <p:cNvPr id="12" name="s10_4"/>
          <p:cNvSpPr/>
          <p:nvPr/>
        </p:nvSpPr>
        <p:spPr>
          <a:xfrm>
            <a:off x="548640" y="5349240"/>
            <a:ext cx="4754880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s10_5"/>
          <p:cNvSpPr txBox="1"/>
          <p:nvPr/>
        </p:nvSpPr>
        <p:spPr>
          <a:xfrm>
            <a:off x="777240" y="5349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THANK YOU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   Team Kern · 4CE (ACE)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4" fill="hold" grpId="0" nodeType="withEffect" p14:presetBounceEnd="35000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22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23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4" fill="hold" grpId="0" nodeType="withEffect" p14:presetBounceEnd="35000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5000">
                                          <p:cBhvr additive="base">
                                            <p:cTn id="26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5000">
                                          <p:cBhvr additive="base">
                                            <p:cTn id="27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4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12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4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6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12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45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10" grpId="0" animBg="1"/>
          <p:bldP spid="11" grpId="0" animBg="1"/>
          <p:bldP spid="12" grpId="0" animBg="1"/>
          <p:bldP spid="13" grpId="0" animBg="1"/>
        </p:bldLst>
      </p:timing>
    </mc:Fallback>
  </mc:AlternateContent>
</p:sld>
</file>

<file path=ppt/theme/theme1.xml><?xml version="1.0" encoding="utf-8"?>
<a:theme xmlns:a="http://schemas.openxmlformats.org/drawingml/2006/main" name="Graphite Signal">
  <a:themeElements>
    <a:clrScheme name="Graphite Signal">
      <a:dk1>
        <a:srgbClr val="141414"/>
      </a:dk1>
      <a:lt1>
        <a:srgbClr val="F2F2EE"/>
      </a:lt1>
      <a:dk2>
        <a:srgbClr val="1F1F1D"/>
      </a:dk2>
      <a:lt2>
        <a:srgbClr val="A3A39C"/>
      </a:lt2>
      <a:accent1>
        <a:srgbClr val="FF5B1A"/>
      </a:accent1>
      <a:accent2>
        <a:srgbClr val="343431"/>
      </a:accent2>
      <a:accent3>
        <a:srgbClr val="2A2A27"/>
      </a:accent3>
      <a:accent4>
        <a:srgbClr val="D9D5CC"/>
      </a:accent4>
      <a:accent5>
        <a:srgbClr val="B8410F"/>
      </a:accent5>
      <a:accent6>
        <a:srgbClr val="FFA27A"/>
      </a:accent6>
      <a:hlink>
        <a:srgbClr val="FF5B1A"/>
      </a:hlink>
      <a:folHlink>
        <a:srgbClr val="B8410F"/>
      </a:folHlink>
    </a:clrScheme>
    <a:fontScheme name="Office">
      <a:majorFont>
        <a:latin typeface="SF Pro Display" panose="020B0604020202020204" pitchFamily="34" charset="0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F Pro Text" panose="020B0604020202020204" pitchFamily="34" charset="0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On-Premise Agentic AI Workbench</dc:title>
  <dc:subject>Smart India Hackathon 2026 - SIH26117</dc:subject>
  <dc:creator>Team Kern</dc:creator>
  <cp:lastModifiedBy>Team Kern</cp:lastModifiedBy>
  <cp:revision>1</cp:revision>
  <dcterms:created xsi:type="dcterms:W3CDTF">2026-10-04T13:37:35Z</dcterms:created>
  <dcterms:modified xsi:type="dcterms:W3CDTF">2026-10-04T13:37:35Z</dcterms:modified>
</cp:coreProperties>
</file>