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debf2f86-9480-e8ea-f91e-06b35d7fa99c}">
          <p14:sldIdLst>
            <p14:sldId id="256"/>
          </p14:sldIdLst>
        </p14:section>
        <p14:section name="Solution" id="{75bfabed-a727-89a8-3d4e-b41db5f53bdb}">
          <p14:sldIdLst>
            <p14:sldId id="257"/>
            <p14:sldId id="258"/>
          </p14:sldIdLst>
        </p14:section>
        <p14:section name="Technical" id="{0162901f-920a-b80b-5407-cac74503ba19}">
          <p14:sldIdLst>
            <p14:sldId id="259"/>
          </p14:sldIdLst>
        </p14:section>
        <p14:section name="Feasibility" id="{002b7952-7ef0-1159-ba32-53a40feeb83e}">
          <p14:sldIdLst>
            <p14:sldId id="260"/>
            <p14:sldId id="261"/>
          </p14:sldIdLst>
        </p14:section>
        <p14:section name="Impact" id="{78e7f46b-66bd-10a2-4eea-a09961f3a494}">
          <p14:sldIdLst>
            <p14:sldId id="262"/>
            <p14:sldId id="263"/>
          </p14:sldIdLst>
        </p14:section>
        <p14:section name="References" id="{e95fbfd1-8c62-06ef-f98d-a02c24246c55}">
          <p14:sldIdLst>
            <p14:sldId id="264"/>
          </p14:sldIdLst>
        </p14:section>
        <p14:section name="Close" id="{db8bce4c-cc1c-a623-b2bc-06d486352e42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4CE is a sovereign, on-premise agentic AI workbench that runs open-weight multimodal LLMs on confidential industrial data. We are Team Kern.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solution rests on four pillars. Sovereignty: local LLMs, so data stays inside. Ingestion: legacy files become usable intelligence. Governance: tool execution waits for human approval. Trust: every generated answer is source-verified. On the right is how that looks in the 4CE chat: a local model, grounded sources, ULTRON's check, a human release and zero external calls.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it is different. Generated code never runs on the host: it goes to a sandbox with no network, a read-only filesystem and no capabilities. Every action passes a central control layer, and sensitive ones stop at YOU - a human approves before anything is released. And the architecture is model-independent: Qwen, Gemma, Mistral or another open model. Change the model, not the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approach. Python and Bash at the core; FastAPI, Uvicorn, Socket.io and SvelteKit with JWT session auth for the platform; Bionic with Qwen and Gemma models and nomic-embed-text v1.5 embeddings for AI; SQLite and ChromaDB for storage; Docker with hardening flags for isolated execution; python-docx for document generation; and a custom test harness. Over 75 percent of the prototype is built, and it is all on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Feasibility: each real risk we hit has a mitigation in place. Cloud dependency - a local-only stack with outbound paths disabled. A 65K context overflowed 6 GB of VRAM and fell back to CPU with 20-plus-minute inference; an 8K context fits VRAM and restores GPU inference. Hallucinated findings are caught by ULTRON verification with bounded replanning. Generated code runs only in a hardened Docker sandbox.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it takes to run: local compute with a GPU recommended, Docker and a local model server, persistent storage next to the enterprise data, and proven frameworks. How it pays: potentially lower recurring AI costs for sustained, high-volume workloads; monetisation through enterprise licensing plus setup and integration; and recurring revenue from support, maintenance and custom agents.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and benefits. Conversational: safer AI interactions with human oversight. Research: private AI research and controlled experimentation. National: AI and data sovereignty with less external dependence. Technical: local LLM plus RAG, multi-agent orchestration, sandboxing, verification and auditability. Economic and industrial: lower recurring AI costs and secure adoption in regulated industries. A safer tomorrow.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it goes next: multimodal enterprise AI across vision, audio, video and complex documents; multi-site deployment with local AI at every site and central governance; industry-specific agents for manufacturing, healthcare, finance, government and defence; continuous security and governance; and finally an enterprise AI control layer - the secure orchestration and governance layer for enterprise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work builds on transformer, retrieval-augmented generation, self-refinement and multi-agent research, and is backed by our own architecture, verification and security documentation plus 2026 market research on inference economics and cloud versus on-prem TCO. The repository and the explanation videos are linked at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data stays yours. Sovereign, secure, verifiable, actionable: 4CE turns private organisational knowledge into actionable intelligence and automates real workflows while keeping humans in control. Powerful enough for enterprises, controlled enough to trust.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CE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image" Target="../media/image-2-2.png"/><Relationship Id="rId5" Type="http://schemas.openxmlformats.org/officeDocument/2006/relationships/image" Target="../media/image-2-2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ash3510/Multi-LLM-Agentic-Ai" TargetMode="Externa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ttention_Is_All_You_Need" TargetMode="External"/><Relationship Id="rId4" Type="http://schemas.openxmlformats.org/officeDocument/2006/relationships/hyperlink" Target="https://en.wikipedia.org/wiki/Attention_Is_All_You_Need" TargetMode="External"/><Relationship Id="rId5" Type="http://schemas.openxmlformats.org/officeDocument/2006/relationships/hyperlink" Target="https://en.wikipedia.org/wiki/Attention_Is_All_You_Need" TargetMode="External"/><Relationship Id="rId6" Type="http://schemas.openxmlformats.org/officeDocument/2006/relationships/hyperlink" Target="https://en.wikipedia.org/wiki/Attention_Is_All_You_Need" TargetMode="External"/><Relationship Id="rId7" Type="http://schemas.openxmlformats.org/officeDocument/2006/relationships/hyperlink" Target="https://en.wikipedia.org/wiki/Attention_Is_All_You_Need" TargetMode="External"/><Relationship Id="rId8" Type="http://schemas.openxmlformats.org/officeDocument/2006/relationships/hyperlink" Target="http://arxiv.org/abs/2005.11401" TargetMode="External"/><Relationship Id="rId9" Type="http://schemas.openxmlformats.org/officeDocument/2006/relationships/hyperlink" Target="http://arxiv.org/abs/2005.11401" TargetMode="External"/><Relationship Id="rId10" Type="http://schemas.openxmlformats.org/officeDocument/2006/relationships/hyperlink" Target="http://arxiv.org/abs/2005.11401" TargetMode="External"/><Relationship Id="rId11" Type="http://schemas.openxmlformats.org/officeDocument/2006/relationships/hyperlink" Target="http://arxiv.org/abs/2005.11401" TargetMode="External"/><Relationship Id="rId12" Type="http://schemas.openxmlformats.org/officeDocument/2006/relationships/hyperlink" Target="http://arxiv.org/abs/2005.11401" TargetMode="External"/><Relationship Id="rId13" Type="http://schemas.openxmlformats.org/officeDocument/2006/relationships/hyperlink" Target="http://arxiv.org/abs/2005.11401" TargetMode="External"/><Relationship Id="rId14" Type="http://schemas.openxmlformats.org/officeDocument/2006/relationships/hyperlink" Target="http://arxiv.org/abs/2303.17651" TargetMode="External"/><Relationship Id="rId15" Type="http://schemas.openxmlformats.org/officeDocument/2006/relationships/hyperlink" Target="http://arxiv.org/abs/2303.17651" TargetMode="External"/><Relationship Id="rId16" Type="http://schemas.openxmlformats.org/officeDocument/2006/relationships/hyperlink" Target="http://arxiv.org/abs/2303.17651" TargetMode="External"/><Relationship Id="rId17" Type="http://schemas.openxmlformats.org/officeDocument/2006/relationships/hyperlink" Target="http://arxiv.org/abs/2303.17651" TargetMode="External"/><Relationship Id="rId18" Type="http://schemas.openxmlformats.org/officeDocument/2006/relationships/hyperlink" Target="http://arxiv.org/abs/2303.17651" TargetMode="External"/><Relationship Id="rId19" Type="http://schemas.openxmlformats.org/officeDocument/2006/relationships/hyperlink" Target="http://arxiv.org/abs/2308.08155" TargetMode="External"/><Relationship Id="rId20" Type="http://schemas.openxmlformats.org/officeDocument/2006/relationships/hyperlink" Target="http://arxiv.org/abs/2308.08155" TargetMode="External"/><Relationship Id="rId21" Type="http://schemas.openxmlformats.org/officeDocument/2006/relationships/hyperlink" Target="http://arxiv.org/abs/2308.08155" TargetMode="External"/><Relationship Id="rId22" Type="http://schemas.openxmlformats.org/officeDocument/2006/relationships/hyperlink" Target="http://arxiv.org/abs/2308.08155" TargetMode="External"/><Relationship Id="rId23" Type="http://schemas.openxmlformats.org/officeDocument/2006/relationships/hyperlink" Target="http://arxiv.org/abs/2308.08155" TargetMode="External"/><Relationship Id="rId24" Type="http://schemas.openxmlformats.org/officeDocument/2006/relationships/hyperlink" Target="http://arxiv.org/abs/2308.08155" TargetMode="External"/><Relationship Id="rId25" Type="http://schemas.openxmlformats.org/officeDocument/2006/relationships/hyperlink" Target="http://arxiv.org/abs/2308.08155" TargetMode="External"/><Relationship Id="rId29" Type="http://schemas.openxmlformats.org/officeDocument/2006/relationships/hyperlink" Target="https://github.com/Yash3510/Multi-LLM-Agentic-Ai" TargetMode="External"/><Relationship Id="rId32" Type="http://schemas.openxmlformats.org/officeDocument/2006/relationships/hyperlink" Target="https://1drv.ms/p/c/1e7d8a4c6e729bdb/IQC%20ydx9YwLXVRqQyP9bNjAuyAdYZ7JEdsIa4ADd%208qzDv6HU?e=gWzcwv" TargetMode="Externa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26" Type="http://schemas.openxmlformats.org/officeDocument/2006/relationships/image" Target="../media/image-9-3.png"/><Relationship Id="rId27" Type="http://schemas.openxmlformats.org/officeDocument/2006/relationships/image" Target="../media/image-9-4.png"/><Relationship Id="rId28" Type="http://schemas.openxmlformats.org/officeDocument/2006/relationships/image" Target="../media/image-9-5.png"/><Relationship Id="rId30" Type="http://schemas.openxmlformats.org/officeDocument/2006/relationships/image" Target="../media/image-9-6.png"/><Relationship Id="rId31" Type="http://schemas.openxmlformats.org/officeDocument/2006/relationships/image" Target="../media/image-9-6.png"/><Relationship Id="rId33" Type="http://schemas.openxmlformats.org/officeDocument/2006/relationships/slideLayout" Target="../slideLayouts/slideLayout2.xml"/><Relationship Id="rId3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926080" y="3108960"/>
            <a:ext cx="6858000" cy="6858000"/>
          </a:xfrm>
          <a:prstGeom prst="rect">
            <a:avLst/>
          </a:prstGeom>
        </p:spPr>
      </p:pic>
      <p:sp>
        <p:nvSpPr>
          <p:cNvPr id="3" name="!!canvas"/>
          <p:cNvSpPr/>
          <p:nvPr/>
        </p:nvSpPr>
        <p:spPr>
          <a:xfrm>
            <a:off x="12374575" y="0"/>
            <a:ext cx="182880" cy="6858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" name="!!px1"/>
          <p:cNvSpPr/>
          <p:nvPr/>
        </p:nvSpPr>
        <p:spPr>
          <a:xfrm>
            <a:off x="3429000" y="1188720"/>
            <a:ext cx="128016" cy="2560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!!px2"/>
          <p:cNvSpPr/>
          <p:nvPr/>
        </p:nvSpPr>
        <p:spPr>
          <a:xfrm>
            <a:off x="2926080" y="1828800"/>
            <a:ext cx="256032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!!px3"/>
          <p:cNvSpPr/>
          <p:nvPr/>
        </p:nvSpPr>
        <p:spPr>
          <a:xfrm>
            <a:off x="3703320" y="2423160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!!px4"/>
          <p:cNvSpPr/>
          <p:nvPr/>
        </p:nvSpPr>
        <p:spPr>
          <a:xfrm>
            <a:off x="8458200" y="1097280"/>
            <a:ext cx="128016" cy="2560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!!px5"/>
          <p:cNvSpPr/>
          <p:nvPr/>
        </p:nvSpPr>
        <p:spPr>
          <a:xfrm>
            <a:off x="8915400" y="1737360"/>
            <a:ext cx="256032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!!px6"/>
          <p:cNvSpPr/>
          <p:nvPr/>
        </p:nvSpPr>
        <p:spPr>
          <a:xfrm>
            <a:off x="8366760" y="2286000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!!px7"/>
          <p:cNvSpPr/>
          <p:nvPr/>
        </p:nvSpPr>
        <p:spPr>
          <a:xfrm>
            <a:off x="9555480" y="1325880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!!mark"/>
          <p:cNvSpPr/>
          <p:nvPr/>
        </p:nvSpPr>
        <p:spPr>
          <a:xfrm>
            <a:off x="4224528" y="1325880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568650" y="0"/>
                </a:moveTo>
                <a:lnTo>
                  <a:pt x="552779" y="5905"/>
                </a:lnTo>
                <a:lnTo>
                  <a:pt x="418634" y="83579"/>
                </a:lnTo>
                <a:lnTo>
                  <a:pt x="408504" y="93832"/>
                </a:lnTo>
                <a:lnTo>
                  <a:pt x="405141" y="107160"/>
                </a:lnTo>
                <a:lnTo>
                  <a:pt x="405511" y="249671"/>
                </a:lnTo>
                <a:lnTo>
                  <a:pt x="402476" y="260949"/>
                </a:lnTo>
                <a:lnTo>
                  <a:pt x="397431" y="266157"/>
                </a:lnTo>
                <a:lnTo>
                  <a:pt x="387712" y="270217"/>
                </a:lnTo>
                <a:lnTo>
                  <a:pt x="376434" y="266690"/>
                </a:lnTo>
                <a:lnTo>
                  <a:pt x="251763" y="194307"/>
                </a:lnTo>
                <a:lnTo>
                  <a:pt x="238024" y="191888"/>
                </a:lnTo>
                <a:lnTo>
                  <a:pt x="226746" y="194307"/>
                </a:lnTo>
                <a:lnTo>
                  <a:pt x="84727" y="276533"/>
                </a:lnTo>
                <a:lnTo>
                  <a:pt x="76033" y="286293"/>
                </a:lnTo>
                <a:lnTo>
                  <a:pt x="73204" y="295316"/>
                </a:lnTo>
                <a:lnTo>
                  <a:pt x="73121" y="458332"/>
                </a:lnTo>
                <a:lnTo>
                  <a:pt x="75500" y="471660"/>
                </a:lnTo>
                <a:lnTo>
                  <a:pt x="86778" y="483635"/>
                </a:lnTo>
                <a:lnTo>
                  <a:pt x="211490" y="555198"/>
                </a:lnTo>
                <a:lnTo>
                  <a:pt x="218011" y="561596"/>
                </a:lnTo>
                <a:lnTo>
                  <a:pt x="219898" y="571110"/>
                </a:lnTo>
                <a:lnTo>
                  <a:pt x="218052" y="580338"/>
                </a:lnTo>
                <a:lnTo>
                  <a:pt x="212885" y="586161"/>
                </a:lnTo>
                <a:lnTo>
                  <a:pt x="87803" y="658093"/>
                </a:lnTo>
                <a:lnTo>
                  <a:pt x="75787" y="670027"/>
                </a:lnTo>
                <a:lnTo>
                  <a:pt x="72998" y="684381"/>
                </a:lnTo>
                <a:lnTo>
                  <a:pt x="73121" y="846372"/>
                </a:lnTo>
                <a:lnTo>
                  <a:pt x="79519" y="861259"/>
                </a:lnTo>
                <a:lnTo>
                  <a:pt x="90387" y="869256"/>
                </a:lnTo>
                <a:lnTo>
                  <a:pt x="225188" y="947175"/>
                </a:lnTo>
                <a:lnTo>
                  <a:pt x="238024" y="950907"/>
                </a:lnTo>
                <a:lnTo>
                  <a:pt x="253895" y="946970"/>
                </a:lnTo>
                <a:lnTo>
                  <a:pt x="376926" y="875161"/>
                </a:lnTo>
                <a:lnTo>
                  <a:pt x="387179" y="872865"/>
                </a:lnTo>
                <a:lnTo>
                  <a:pt x="395832" y="875079"/>
                </a:lnTo>
                <a:lnTo>
                  <a:pt x="402476" y="881231"/>
                </a:lnTo>
                <a:lnTo>
                  <a:pt x="405305" y="892017"/>
                </a:lnTo>
                <a:lnTo>
                  <a:pt x="405182" y="1035020"/>
                </a:lnTo>
                <a:lnTo>
                  <a:pt x="408709" y="1049127"/>
                </a:lnTo>
                <a:lnTo>
                  <a:pt x="423596" y="1061881"/>
                </a:lnTo>
                <a:lnTo>
                  <a:pt x="559751" y="1140129"/>
                </a:lnTo>
                <a:lnTo>
                  <a:pt x="571726" y="1143000"/>
                </a:lnTo>
                <a:lnTo>
                  <a:pt x="590713" y="1136069"/>
                </a:lnTo>
                <a:lnTo>
                  <a:pt x="726540" y="1057288"/>
                </a:lnTo>
                <a:lnTo>
                  <a:pt x="734250" y="1049004"/>
                </a:lnTo>
                <a:lnTo>
                  <a:pt x="737818" y="1034528"/>
                </a:lnTo>
                <a:lnTo>
                  <a:pt x="737571" y="892509"/>
                </a:lnTo>
                <a:lnTo>
                  <a:pt x="740811" y="880739"/>
                </a:lnTo>
                <a:lnTo>
                  <a:pt x="747168" y="875079"/>
                </a:lnTo>
                <a:lnTo>
                  <a:pt x="755247" y="872701"/>
                </a:lnTo>
                <a:lnTo>
                  <a:pt x="766033" y="875120"/>
                </a:lnTo>
                <a:lnTo>
                  <a:pt x="889064" y="946929"/>
                </a:lnTo>
                <a:lnTo>
                  <a:pt x="904935" y="950907"/>
                </a:lnTo>
                <a:lnTo>
                  <a:pt x="918263" y="946888"/>
                </a:lnTo>
                <a:lnTo>
                  <a:pt x="1058724" y="865483"/>
                </a:lnTo>
                <a:lnTo>
                  <a:pt x="1066926" y="856132"/>
                </a:lnTo>
                <a:lnTo>
                  <a:pt x="1069879" y="846372"/>
                </a:lnTo>
                <a:lnTo>
                  <a:pt x="1070002" y="683889"/>
                </a:lnTo>
                <a:lnTo>
                  <a:pt x="1067336" y="670561"/>
                </a:lnTo>
                <a:lnTo>
                  <a:pt x="1055156" y="658093"/>
                </a:lnTo>
                <a:lnTo>
                  <a:pt x="930074" y="586120"/>
                </a:lnTo>
                <a:lnTo>
                  <a:pt x="924948" y="580707"/>
                </a:lnTo>
                <a:lnTo>
                  <a:pt x="923020" y="570577"/>
                </a:lnTo>
                <a:lnTo>
                  <a:pt x="925194" y="560858"/>
                </a:lnTo>
                <a:lnTo>
                  <a:pt x="931551" y="555198"/>
                </a:lnTo>
                <a:lnTo>
                  <a:pt x="1055648" y="483922"/>
                </a:lnTo>
                <a:lnTo>
                  <a:pt x="1066926" y="472686"/>
                </a:lnTo>
                <a:lnTo>
                  <a:pt x="1069755" y="461900"/>
                </a:lnTo>
                <a:lnTo>
                  <a:pt x="1069755" y="295316"/>
                </a:lnTo>
                <a:lnTo>
                  <a:pt x="1066926" y="286375"/>
                </a:lnTo>
                <a:lnTo>
                  <a:pt x="1058191" y="276328"/>
                </a:lnTo>
                <a:lnTo>
                  <a:pt x="916213" y="194266"/>
                </a:lnTo>
                <a:lnTo>
                  <a:pt x="904935" y="191929"/>
                </a:lnTo>
                <a:lnTo>
                  <a:pt x="891114" y="194307"/>
                </a:lnTo>
                <a:lnTo>
                  <a:pt x="766525" y="266649"/>
                </a:lnTo>
                <a:lnTo>
                  <a:pt x="755780" y="270217"/>
                </a:lnTo>
                <a:lnTo>
                  <a:pt x="745528" y="266239"/>
                </a:lnTo>
                <a:lnTo>
                  <a:pt x="739786" y="259432"/>
                </a:lnTo>
                <a:lnTo>
                  <a:pt x="737530" y="248646"/>
                </a:lnTo>
                <a:lnTo>
                  <a:pt x="737777" y="106668"/>
                </a:lnTo>
                <a:lnTo>
                  <a:pt x="734250" y="93176"/>
                </a:lnTo>
                <a:lnTo>
                  <a:pt x="723464" y="83169"/>
                </a:lnTo>
                <a:lnTo>
                  <a:pt x="590180" y="5864"/>
                </a:lnTo>
                <a:lnTo>
                  <a:pt x="580953" y="1230"/>
                </a:lnTo>
                <a:lnTo>
                  <a:pt x="568650" y="0"/>
                </a:lnTo>
                <a:close/>
                <a:moveTo>
                  <a:pt x="568650" y="383406"/>
                </a:moveTo>
                <a:lnTo>
                  <a:pt x="557905" y="387302"/>
                </a:lnTo>
                <a:lnTo>
                  <a:pt x="416378" y="469077"/>
                </a:lnTo>
                <a:lnTo>
                  <a:pt x="408422" y="477812"/>
                </a:lnTo>
                <a:lnTo>
                  <a:pt x="405634" y="491632"/>
                </a:lnTo>
                <a:lnTo>
                  <a:pt x="405552" y="635169"/>
                </a:lnTo>
                <a:lnTo>
                  <a:pt x="406905" y="659775"/>
                </a:lnTo>
                <a:lnTo>
                  <a:pt x="415886" y="672693"/>
                </a:lnTo>
                <a:lnTo>
                  <a:pt x="556347" y="754222"/>
                </a:lnTo>
                <a:lnTo>
                  <a:pt x="572259" y="759184"/>
                </a:lnTo>
                <a:lnTo>
                  <a:pt x="586612" y="754222"/>
                </a:lnTo>
                <a:lnTo>
                  <a:pt x="727073" y="672652"/>
                </a:lnTo>
                <a:lnTo>
                  <a:pt x="734578" y="663876"/>
                </a:lnTo>
                <a:lnTo>
                  <a:pt x="737284" y="649522"/>
                </a:lnTo>
                <a:lnTo>
                  <a:pt x="737284" y="492165"/>
                </a:lnTo>
                <a:lnTo>
                  <a:pt x="734742" y="478427"/>
                </a:lnTo>
                <a:lnTo>
                  <a:pt x="726540" y="469077"/>
                </a:lnTo>
                <a:lnTo>
                  <a:pt x="584603" y="387056"/>
                </a:lnTo>
                <a:lnTo>
                  <a:pt x="568650" y="383406"/>
                </a:lnTo>
                <a:close/>
                <a:moveTo>
                  <a:pt x="570208" y="192257"/>
                </a:moveTo>
                <a:lnTo>
                  <a:pt x="559956" y="194266"/>
                </a:lnTo>
                <a:lnTo>
                  <a:pt x="437868" y="264558"/>
                </a:lnTo>
                <a:lnTo>
                  <a:pt x="428189" y="272227"/>
                </a:lnTo>
                <a:lnTo>
                  <a:pt x="424744" y="277886"/>
                </a:lnTo>
                <a:lnTo>
                  <a:pt x="424047" y="284530"/>
                </a:lnTo>
                <a:lnTo>
                  <a:pt x="425524" y="290681"/>
                </a:lnTo>
                <a:lnTo>
                  <a:pt x="433193" y="299417"/>
                </a:lnTo>
                <a:lnTo>
                  <a:pt x="560448" y="372825"/>
                </a:lnTo>
                <a:lnTo>
                  <a:pt x="572751" y="374753"/>
                </a:lnTo>
                <a:lnTo>
                  <a:pt x="582511" y="372825"/>
                </a:lnTo>
                <a:lnTo>
                  <a:pt x="709643" y="299540"/>
                </a:lnTo>
                <a:lnTo>
                  <a:pt x="717394" y="290681"/>
                </a:lnTo>
                <a:lnTo>
                  <a:pt x="718871" y="284530"/>
                </a:lnTo>
                <a:lnTo>
                  <a:pt x="718215" y="277886"/>
                </a:lnTo>
                <a:lnTo>
                  <a:pt x="714770" y="272227"/>
                </a:lnTo>
                <a:lnTo>
                  <a:pt x="704968" y="264558"/>
                </a:lnTo>
                <a:lnTo>
                  <a:pt x="583003" y="194307"/>
                </a:lnTo>
                <a:lnTo>
                  <a:pt x="570208" y="192257"/>
                </a:lnTo>
                <a:close/>
                <a:moveTo>
                  <a:pt x="255946" y="584890"/>
                </a:moveTo>
                <a:lnTo>
                  <a:pt x="244176" y="591246"/>
                </a:lnTo>
                <a:lnTo>
                  <a:pt x="239419" y="602360"/>
                </a:lnTo>
                <a:lnTo>
                  <a:pt x="239337" y="748480"/>
                </a:lnTo>
                <a:lnTo>
                  <a:pt x="243725" y="762301"/>
                </a:lnTo>
                <a:lnTo>
                  <a:pt x="252870" y="770790"/>
                </a:lnTo>
                <a:lnTo>
                  <a:pt x="380084" y="844321"/>
                </a:lnTo>
                <a:lnTo>
                  <a:pt x="393330" y="844198"/>
                </a:lnTo>
                <a:lnTo>
                  <a:pt x="402435" y="836119"/>
                </a:lnTo>
                <a:lnTo>
                  <a:pt x="405634" y="826892"/>
                </a:lnTo>
                <a:lnTo>
                  <a:pt x="405387" y="682331"/>
                </a:lnTo>
                <a:lnTo>
                  <a:pt x="402558" y="670520"/>
                </a:lnTo>
                <a:lnTo>
                  <a:pt x="395422" y="661825"/>
                </a:lnTo>
                <a:lnTo>
                  <a:pt x="269807" y="588499"/>
                </a:lnTo>
                <a:lnTo>
                  <a:pt x="255946" y="584890"/>
                </a:lnTo>
                <a:close/>
                <a:moveTo>
                  <a:pt x="883404" y="584890"/>
                </a:moveTo>
                <a:lnTo>
                  <a:pt x="873685" y="588417"/>
                </a:lnTo>
                <a:lnTo>
                  <a:pt x="747660" y="661825"/>
                </a:lnTo>
                <a:lnTo>
                  <a:pt x="740401" y="670232"/>
                </a:lnTo>
                <a:lnTo>
                  <a:pt x="737489" y="680813"/>
                </a:lnTo>
                <a:lnTo>
                  <a:pt x="737571" y="826892"/>
                </a:lnTo>
                <a:lnTo>
                  <a:pt x="740811" y="836653"/>
                </a:lnTo>
                <a:lnTo>
                  <a:pt x="750121" y="844198"/>
                </a:lnTo>
                <a:lnTo>
                  <a:pt x="759348" y="845019"/>
                </a:lnTo>
                <a:lnTo>
                  <a:pt x="768575" y="840836"/>
                </a:lnTo>
                <a:lnTo>
                  <a:pt x="889679" y="771036"/>
                </a:lnTo>
                <a:lnTo>
                  <a:pt x="899316" y="762014"/>
                </a:lnTo>
                <a:lnTo>
                  <a:pt x="903581" y="748480"/>
                </a:lnTo>
                <a:lnTo>
                  <a:pt x="903458" y="601868"/>
                </a:lnTo>
                <a:lnTo>
                  <a:pt x="899809" y="592641"/>
                </a:lnTo>
                <a:lnTo>
                  <a:pt x="895666" y="588540"/>
                </a:lnTo>
                <a:lnTo>
                  <a:pt x="883404" y="584890"/>
                </a:ln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13" name="s1_1"/>
          <p:cNvSpPr txBox="1"/>
          <p:nvPr/>
        </p:nvSpPr>
        <p:spPr>
          <a:xfrm>
            <a:off x="5596128" y="123444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spc="-200" kern="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4CE</a:t>
            </a:r>
            <a:endParaRPr lang="en-US" sz="10000" dirty="0"/>
          </a:p>
        </p:txBody>
      </p:sp>
      <p:sp>
        <p:nvSpPr>
          <p:cNvPr id="14" name="!!title"/>
          <p:cNvSpPr txBox="1"/>
          <p:nvPr/>
        </p:nvSpPr>
        <p:spPr>
          <a:xfrm>
            <a:off x="548640" y="2697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spc="-50" kern="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Sovereign </a:t>
            </a:r>
            <a:pPr algn="ctr" indent="0" marL="0">
              <a:buNone/>
            </a:pPr>
            <a:r>
              <a:rPr lang="en-US" sz="3000" spc="-50" kern="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AI Workbench</a:t>
            </a:r>
            <a:endParaRPr lang="en-US" sz="3000" dirty="0"/>
          </a:p>
        </p:txBody>
      </p:sp>
      <p:sp>
        <p:nvSpPr>
          <p:cNvPr id="15" name="s1_2"/>
          <p:cNvSpPr txBox="1"/>
          <p:nvPr/>
        </p:nvSpPr>
        <p:spPr>
          <a:xfrm>
            <a:off x="2441448" y="33832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Sovereign On-Premise Agentic AI Workbench using Open-Weight Multimodal LLMs for Confidential Industrial Work</a:t>
            </a:r>
            <a:endParaRPr lang="en-US" sz="1500" dirty="0"/>
          </a:p>
        </p:txBody>
      </p:sp>
      <p:sp>
        <p:nvSpPr>
          <p:cNvPr id="16" name="s1_3"/>
          <p:cNvSpPr/>
          <p:nvPr/>
        </p:nvSpPr>
        <p:spPr>
          <a:xfrm>
            <a:off x="2441448" y="4251960"/>
            <a:ext cx="7315200" cy="1207008"/>
          </a:xfrm>
          <a:prstGeom prst="roundRect">
            <a:avLst>
              <a:gd name="adj" fmla="val 12121"/>
            </a:avLst>
          </a:prstGeom>
          <a:solidFill>
            <a:schemeClr val="tx2"/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17" name="s1_4"/>
          <p:cNvSpPr txBox="1"/>
          <p:nvPr/>
        </p:nvSpPr>
        <p:spPr>
          <a:xfrm>
            <a:off x="2715768" y="44348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Ask about your documents, or give 4CE a task</a:t>
            </a:r>
            <a:endParaRPr lang="en-US" sz="1500" dirty="0"/>
          </a:p>
        </p:txBody>
      </p:sp>
      <p:pic>
        <p:nvPicPr>
          <p:cNvPr id="18" name="s1_5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768" y="5038344"/>
            <a:ext cx="201168" cy="201168"/>
          </a:xfrm>
          <a:prstGeom prst="rect">
            <a:avLst/>
          </a:prstGeom>
        </p:spPr>
      </p:pic>
      <p:pic>
        <p:nvPicPr>
          <p:cNvPr id="19" name="s1_6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4952" y="5038344"/>
            <a:ext cx="201168" cy="201168"/>
          </a:xfrm>
          <a:prstGeom prst="rect">
            <a:avLst/>
          </a:prstGeom>
        </p:spPr>
      </p:pic>
      <p:pic>
        <p:nvPicPr>
          <p:cNvPr id="20" name="s1_7" descr="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4136" y="5038344"/>
            <a:ext cx="182880" cy="182880"/>
          </a:xfrm>
          <a:prstGeom prst="rect">
            <a:avLst/>
          </a:prstGeom>
        </p:spPr>
      </p:pic>
      <p:sp>
        <p:nvSpPr>
          <p:cNvPr id="21" name="s1_8"/>
          <p:cNvSpPr txBox="1"/>
          <p:nvPr/>
        </p:nvSpPr>
        <p:spPr>
          <a:xfrm>
            <a:off x="3593592" y="499262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7</a:t>
            </a:r>
            <a:endParaRPr lang="en-US" sz="1100" dirty="0"/>
          </a:p>
        </p:txBody>
      </p:sp>
      <p:sp>
        <p:nvSpPr>
          <p:cNvPr id="22" name="s1_9"/>
          <p:cNvSpPr txBox="1"/>
          <p:nvPr/>
        </p:nvSpPr>
        <p:spPr>
          <a:xfrm>
            <a:off x="6281928" y="499262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4CE / TONY (Orchestrator)</a:t>
            </a:r>
            <a:endParaRPr lang="en-US" sz="1100" dirty="0"/>
          </a:p>
        </p:txBody>
      </p:sp>
      <p:pic>
        <p:nvPicPr>
          <p:cNvPr id="23" name="s1_10" descr="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0768" y="5038344"/>
            <a:ext cx="182880" cy="182880"/>
          </a:xfrm>
          <a:prstGeom prst="rect">
            <a:avLst/>
          </a:prstGeom>
        </p:spPr>
      </p:pic>
      <p:pic>
        <p:nvPicPr>
          <p:cNvPr id="24" name="s1_11" descr="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9096" y="5038344"/>
            <a:ext cx="201168" cy="201168"/>
          </a:xfrm>
          <a:prstGeom prst="rect">
            <a:avLst/>
          </a:prstGeom>
        </p:spPr>
      </p:pic>
      <p:sp>
        <p:nvSpPr>
          <p:cNvPr id="25" name="s1_12"/>
          <p:cNvSpPr/>
          <p:nvPr/>
        </p:nvSpPr>
        <p:spPr>
          <a:xfrm>
            <a:off x="9134856" y="4965192"/>
            <a:ext cx="347472" cy="347472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6" name="s1_13" descr="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17152" y="5047488"/>
            <a:ext cx="182880" cy="182880"/>
          </a:xfrm>
          <a:prstGeom prst="rect">
            <a:avLst/>
          </a:prstGeom>
        </p:spPr>
      </p:pic>
      <p:sp>
        <p:nvSpPr>
          <p:cNvPr id="27" name="s1_14"/>
          <p:cNvSpPr txBox="1"/>
          <p:nvPr/>
        </p:nvSpPr>
        <p:spPr>
          <a:xfrm>
            <a:off x="548640" y="57607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TEAM KERN  ·  4CE (ACE)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926080" y="3108960"/>
            <a:ext cx="6858000" cy="6858000"/>
          </a:xfrm>
          <a:prstGeom prst="rect">
            <a:avLst/>
          </a:prstGeom>
        </p:spPr>
      </p:pic>
      <p:sp>
        <p:nvSpPr>
          <p:cNvPr id="3" name="!!canvas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" name="!!px1"/>
          <p:cNvSpPr/>
          <p:nvPr/>
        </p:nvSpPr>
        <p:spPr>
          <a:xfrm>
            <a:off x="10127432" y="387936"/>
            <a:ext cx="128016" cy="2560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!!px2"/>
          <p:cNvSpPr/>
          <p:nvPr/>
        </p:nvSpPr>
        <p:spPr>
          <a:xfrm>
            <a:off x="9462709" y="578810"/>
            <a:ext cx="256032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!!px3"/>
          <p:cNvSpPr/>
          <p:nvPr/>
        </p:nvSpPr>
        <p:spPr>
          <a:xfrm>
            <a:off x="10087846" y="945843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!!px4"/>
          <p:cNvSpPr/>
          <p:nvPr/>
        </p:nvSpPr>
        <p:spPr>
          <a:xfrm>
            <a:off x="9415184" y="1161481"/>
            <a:ext cx="128016" cy="2560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!!px5"/>
          <p:cNvSpPr/>
          <p:nvPr/>
        </p:nvSpPr>
        <p:spPr>
          <a:xfrm>
            <a:off x="9756899" y="1398892"/>
            <a:ext cx="256032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!!px6"/>
          <p:cNvSpPr/>
          <p:nvPr/>
        </p:nvSpPr>
        <p:spPr>
          <a:xfrm>
            <a:off x="9046932" y="717225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!!px7"/>
          <p:cNvSpPr/>
          <p:nvPr/>
        </p:nvSpPr>
        <p:spPr>
          <a:xfrm>
            <a:off x="8909356" y="1291163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!!mark"/>
          <p:cNvSpPr/>
          <p:nvPr/>
        </p:nvSpPr>
        <p:spPr>
          <a:xfrm rot="7200000">
            <a:off x="11201400" y="548640"/>
            <a:ext cx="438912" cy="438912"/>
          </a:xfrm>
          <a:custGeom>
            <a:avLst/>
            <a:gdLst/>
            <a:ahLst/>
            <a:cxnLst/>
            <a:rect l="l" t="t" r="r" b="b"/>
            <a:pathLst>
              <a:path w="438912" h="438912">
                <a:moveTo>
                  <a:pt x="218362" y="0"/>
                </a:moveTo>
                <a:lnTo>
                  <a:pt x="212267" y="2268"/>
                </a:lnTo>
                <a:lnTo>
                  <a:pt x="160755" y="32094"/>
                </a:lnTo>
                <a:lnTo>
                  <a:pt x="156866" y="36031"/>
                </a:lnTo>
                <a:lnTo>
                  <a:pt x="155574" y="41149"/>
                </a:lnTo>
                <a:lnTo>
                  <a:pt x="155716" y="95874"/>
                </a:lnTo>
                <a:lnTo>
                  <a:pt x="154551" y="100204"/>
                </a:lnTo>
                <a:lnTo>
                  <a:pt x="152614" y="102204"/>
                </a:lnTo>
                <a:lnTo>
                  <a:pt x="148881" y="103763"/>
                </a:lnTo>
                <a:lnTo>
                  <a:pt x="144551" y="102409"/>
                </a:lnTo>
                <a:lnTo>
                  <a:pt x="96677" y="74614"/>
                </a:lnTo>
                <a:lnTo>
                  <a:pt x="91401" y="73685"/>
                </a:lnTo>
                <a:lnTo>
                  <a:pt x="87071" y="74614"/>
                </a:lnTo>
                <a:lnTo>
                  <a:pt x="32535" y="106189"/>
                </a:lnTo>
                <a:lnTo>
                  <a:pt x="29197" y="109937"/>
                </a:lnTo>
                <a:lnTo>
                  <a:pt x="28110" y="113401"/>
                </a:lnTo>
                <a:lnTo>
                  <a:pt x="28079" y="175999"/>
                </a:lnTo>
                <a:lnTo>
                  <a:pt x="28992" y="181118"/>
                </a:lnTo>
                <a:lnTo>
                  <a:pt x="33323" y="185716"/>
                </a:lnTo>
                <a:lnTo>
                  <a:pt x="81212" y="213196"/>
                </a:lnTo>
                <a:lnTo>
                  <a:pt x="83716" y="215653"/>
                </a:lnTo>
                <a:lnTo>
                  <a:pt x="84441" y="219306"/>
                </a:lnTo>
                <a:lnTo>
                  <a:pt x="83732" y="222850"/>
                </a:lnTo>
                <a:lnTo>
                  <a:pt x="81748" y="225086"/>
                </a:lnTo>
                <a:lnTo>
                  <a:pt x="33716" y="252708"/>
                </a:lnTo>
                <a:lnTo>
                  <a:pt x="29102" y="257291"/>
                </a:lnTo>
                <a:lnTo>
                  <a:pt x="28031" y="262802"/>
                </a:lnTo>
                <a:lnTo>
                  <a:pt x="28079" y="325007"/>
                </a:lnTo>
                <a:lnTo>
                  <a:pt x="30535" y="330723"/>
                </a:lnTo>
                <a:lnTo>
                  <a:pt x="34709" y="333794"/>
                </a:lnTo>
                <a:lnTo>
                  <a:pt x="86472" y="363715"/>
                </a:lnTo>
                <a:lnTo>
                  <a:pt x="91401" y="365148"/>
                </a:lnTo>
                <a:lnTo>
                  <a:pt x="97496" y="363637"/>
                </a:lnTo>
                <a:lnTo>
                  <a:pt x="144740" y="336062"/>
                </a:lnTo>
                <a:lnTo>
                  <a:pt x="148677" y="335180"/>
                </a:lnTo>
                <a:lnTo>
                  <a:pt x="152000" y="336030"/>
                </a:lnTo>
                <a:lnTo>
                  <a:pt x="154551" y="338393"/>
                </a:lnTo>
                <a:lnTo>
                  <a:pt x="155637" y="342534"/>
                </a:lnTo>
                <a:lnTo>
                  <a:pt x="155590" y="397448"/>
                </a:lnTo>
                <a:lnTo>
                  <a:pt x="156944" y="402865"/>
                </a:lnTo>
                <a:lnTo>
                  <a:pt x="162661" y="407762"/>
                </a:lnTo>
                <a:lnTo>
                  <a:pt x="214944" y="437810"/>
                </a:lnTo>
                <a:lnTo>
                  <a:pt x="219543" y="438912"/>
                </a:lnTo>
                <a:lnTo>
                  <a:pt x="226834" y="436251"/>
                </a:lnTo>
                <a:lnTo>
                  <a:pt x="278991" y="405999"/>
                </a:lnTo>
                <a:lnTo>
                  <a:pt x="281952" y="402818"/>
                </a:lnTo>
                <a:lnTo>
                  <a:pt x="283322" y="397259"/>
                </a:lnTo>
                <a:lnTo>
                  <a:pt x="283227" y="342723"/>
                </a:lnTo>
                <a:lnTo>
                  <a:pt x="284472" y="338204"/>
                </a:lnTo>
                <a:lnTo>
                  <a:pt x="286912" y="336030"/>
                </a:lnTo>
                <a:lnTo>
                  <a:pt x="290015" y="335117"/>
                </a:lnTo>
                <a:lnTo>
                  <a:pt x="294157" y="336046"/>
                </a:lnTo>
                <a:lnTo>
                  <a:pt x="341400" y="363621"/>
                </a:lnTo>
                <a:lnTo>
                  <a:pt x="347495" y="365148"/>
                </a:lnTo>
                <a:lnTo>
                  <a:pt x="352613" y="363605"/>
                </a:lnTo>
                <a:lnTo>
                  <a:pt x="406550" y="332345"/>
                </a:lnTo>
                <a:lnTo>
                  <a:pt x="409699" y="328755"/>
                </a:lnTo>
                <a:lnTo>
                  <a:pt x="410833" y="325007"/>
                </a:lnTo>
                <a:lnTo>
                  <a:pt x="410881" y="262613"/>
                </a:lnTo>
                <a:lnTo>
                  <a:pt x="409857" y="257495"/>
                </a:lnTo>
                <a:lnTo>
                  <a:pt x="405180" y="252708"/>
                </a:lnTo>
                <a:lnTo>
                  <a:pt x="357148" y="225070"/>
                </a:lnTo>
                <a:lnTo>
                  <a:pt x="355180" y="222991"/>
                </a:lnTo>
                <a:lnTo>
                  <a:pt x="354440" y="219102"/>
                </a:lnTo>
                <a:lnTo>
                  <a:pt x="355274" y="215369"/>
                </a:lnTo>
                <a:lnTo>
                  <a:pt x="357715" y="213196"/>
                </a:lnTo>
                <a:lnTo>
                  <a:pt x="405369" y="185826"/>
                </a:lnTo>
                <a:lnTo>
                  <a:pt x="409699" y="181511"/>
                </a:lnTo>
                <a:lnTo>
                  <a:pt x="410786" y="177370"/>
                </a:lnTo>
                <a:lnTo>
                  <a:pt x="410786" y="113401"/>
                </a:lnTo>
                <a:lnTo>
                  <a:pt x="409699" y="109968"/>
                </a:lnTo>
                <a:lnTo>
                  <a:pt x="406345" y="106110"/>
                </a:lnTo>
                <a:lnTo>
                  <a:pt x="351826" y="74598"/>
                </a:lnTo>
                <a:lnTo>
                  <a:pt x="347495" y="73701"/>
                </a:lnTo>
                <a:lnTo>
                  <a:pt x="342188" y="74614"/>
                </a:lnTo>
                <a:lnTo>
                  <a:pt x="294346" y="102393"/>
                </a:lnTo>
                <a:lnTo>
                  <a:pt x="290220" y="103763"/>
                </a:lnTo>
                <a:lnTo>
                  <a:pt x="286283" y="102236"/>
                </a:lnTo>
                <a:lnTo>
                  <a:pt x="284078" y="99622"/>
                </a:lnTo>
                <a:lnTo>
                  <a:pt x="283212" y="95480"/>
                </a:lnTo>
                <a:lnTo>
                  <a:pt x="283306" y="40961"/>
                </a:lnTo>
                <a:lnTo>
                  <a:pt x="281952" y="35779"/>
                </a:lnTo>
                <a:lnTo>
                  <a:pt x="277810" y="31937"/>
                </a:lnTo>
                <a:lnTo>
                  <a:pt x="226629" y="2252"/>
                </a:lnTo>
                <a:lnTo>
                  <a:pt x="223086" y="472"/>
                </a:lnTo>
                <a:lnTo>
                  <a:pt x="218362" y="0"/>
                </a:lnTo>
                <a:close/>
                <a:moveTo>
                  <a:pt x="218362" y="147228"/>
                </a:moveTo>
                <a:lnTo>
                  <a:pt x="214236" y="148724"/>
                </a:lnTo>
                <a:lnTo>
                  <a:pt x="159889" y="180125"/>
                </a:lnTo>
                <a:lnTo>
                  <a:pt x="156834" y="183480"/>
                </a:lnTo>
                <a:lnTo>
                  <a:pt x="155763" y="188787"/>
                </a:lnTo>
                <a:lnTo>
                  <a:pt x="155732" y="243905"/>
                </a:lnTo>
                <a:lnTo>
                  <a:pt x="156251" y="253354"/>
                </a:lnTo>
                <a:lnTo>
                  <a:pt x="159700" y="258314"/>
                </a:lnTo>
                <a:lnTo>
                  <a:pt x="213637" y="289621"/>
                </a:lnTo>
                <a:lnTo>
                  <a:pt x="219747" y="291527"/>
                </a:lnTo>
                <a:lnTo>
                  <a:pt x="225259" y="289621"/>
                </a:lnTo>
                <a:lnTo>
                  <a:pt x="279196" y="258298"/>
                </a:lnTo>
                <a:lnTo>
                  <a:pt x="282078" y="254928"/>
                </a:lnTo>
                <a:lnTo>
                  <a:pt x="283117" y="249417"/>
                </a:lnTo>
                <a:lnTo>
                  <a:pt x="283117" y="188992"/>
                </a:lnTo>
                <a:lnTo>
                  <a:pt x="282141" y="183716"/>
                </a:lnTo>
                <a:lnTo>
                  <a:pt x="278991" y="180125"/>
                </a:lnTo>
                <a:lnTo>
                  <a:pt x="224487" y="148629"/>
                </a:lnTo>
                <a:lnTo>
                  <a:pt x="218362" y="147228"/>
                </a:lnTo>
                <a:close/>
                <a:moveTo>
                  <a:pt x="218960" y="73827"/>
                </a:moveTo>
                <a:lnTo>
                  <a:pt x="215023" y="74598"/>
                </a:lnTo>
                <a:lnTo>
                  <a:pt x="168141" y="101590"/>
                </a:lnTo>
                <a:lnTo>
                  <a:pt x="164425" y="104535"/>
                </a:lnTo>
                <a:lnTo>
                  <a:pt x="163102" y="106708"/>
                </a:lnTo>
                <a:lnTo>
                  <a:pt x="162834" y="109259"/>
                </a:lnTo>
                <a:lnTo>
                  <a:pt x="163401" y="111622"/>
                </a:lnTo>
                <a:lnTo>
                  <a:pt x="166346" y="114976"/>
                </a:lnTo>
                <a:lnTo>
                  <a:pt x="215212" y="143165"/>
                </a:lnTo>
                <a:lnTo>
                  <a:pt x="219936" y="143905"/>
                </a:lnTo>
                <a:lnTo>
                  <a:pt x="223684" y="143165"/>
                </a:lnTo>
                <a:lnTo>
                  <a:pt x="272503" y="115023"/>
                </a:lnTo>
                <a:lnTo>
                  <a:pt x="275479" y="111622"/>
                </a:lnTo>
                <a:lnTo>
                  <a:pt x="276046" y="109259"/>
                </a:lnTo>
                <a:lnTo>
                  <a:pt x="275794" y="106708"/>
                </a:lnTo>
                <a:lnTo>
                  <a:pt x="274472" y="104535"/>
                </a:lnTo>
                <a:lnTo>
                  <a:pt x="270708" y="101590"/>
                </a:lnTo>
                <a:lnTo>
                  <a:pt x="223873" y="74614"/>
                </a:lnTo>
                <a:lnTo>
                  <a:pt x="218960" y="73827"/>
                </a:lnTo>
                <a:close/>
                <a:moveTo>
                  <a:pt x="98283" y="224598"/>
                </a:moveTo>
                <a:lnTo>
                  <a:pt x="93763" y="227039"/>
                </a:lnTo>
                <a:lnTo>
                  <a:pt x="91937" y="231306"/>
                </a:lnTo>
                <a:lnTo>
                  <a:pt x="91905" y="287416"/>
                </a:lnTo>
                <a:lnTo>
                  <a:pt x="93590" y="292723"/>
                </a:lnTo>
                <a:lnTo>
                  <a:pt x="97102" y="295983"/>
                </a:lnTo>
                <a:lnTo>
                  <a:pt x="145952" y="324219"/>
                </a:lnTo>
                <a:lnTo>
                  <a:pt x="151039" y="324172"/>
                </a:lnTo>
                <a:lnTo>
                  <a:pt x="154535" y="321070"/>
                </a:lnTo>
                <a:lnTo>
                  <a:pt x="155763" y="317527"/>
                </a:lnTo>
                <a:lnTo>
                  <a:pt x="155669" y="262015"/>
                </a:lnTo>
                <a:lnTo>
                  <a:pt x="154582" y="257480"/>
                </a:lnTo>
                <a:lnTo>
                  <a:pt x="151842" y="254141"/>
                </a:lnTo>
                <a:lnTo>
                  <a:pt x="103606" y="225984"/>
                </a:lnTo>
                <a:lnTo>
                  <a:pt x="98283" y="224598"/>
                </a:lnTo>
                <a:close/>
                <a:moveTo>
                  <a:pt x="339227" y="224598"/>
                </a:moveTo>
                <a:lnTo>
                  <a:pt x="335495" y="225952"/>
                </a:lnTo>
                <a:lnTo>
                  <a:pt x="287101" y="254141"/>
                </a:lnTo>
                <a:lnTo>
                  <a:pt x="284314" y="257369"/>
                </a:lnTo>
                <a:lnTo>
                  <a:pt x="283196" y="261432"/>
                </a:lnTo>
                <a:lnTo>
                  <a:pt x="283227" y="317527"/>
                </a:lnTo>
                <a:lnTo>
                  <a:pt x="284472" y="321275"/>
                </a:lnTo>
                <a:lnTo>
                  <a:pt x="288046" y="324172"/>
                </a:lnTo>
                <a:lnTo>
                  <a:pt x="291590" y="324487"/>
                </a:lnTo>
                <a:lnTo>
                  <a:pt x="295133" y="322881"/>
                </a:lnTo>
                <a:lnTo>
                  <a:pt x="341637" y="296078"/>
                </a:lnTo>
                <a:lnTo>
                  <a:pt x="345337" y="292613"/>
                </a:lnTo>
                <a:lnTo>
                  <a:pt x="346975" y="287416"/>
                </a:lnTo>
                <a:lnTo>
                  <a:pt x="346928" y="231117"/>
                </a:lnTo>
                <a:lnTo>
                  <a:pt x="345526" y="227574"/>
                </a:lnTo>
                <a:lnTo>
                  <a:pt x="343936" y="225999"/>
                </a:lnTo>
                <a:lnTo>
                  <a:pt x="339227" y="224598"/>
                </a:lnTo>
                <a:close/>
              </a:path>
            </a:pathLst>
          </a:custGeom>
          <a:solidFill>
            <a:schemeClr val="tx1"/>
          </a:solidFill>
          <a:ln/>
        </p:spPr>
      </p:sp>
      <p:sp>
        <p:nvSpPr>
          <p:cNvPr id="12" name="!!eyebrow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OUR SOLUTION</a:t>
            </a:r>
            <a:endParaRPr lang="en-US" sz="1100" dirty="0"/>
          </a:p>
        </p:txBody>
      </p:sp>
      <p:sp>
        <p:nvSpPr>
          <p:cNvPr id="14" name="!!title"/>
          <p:cNvSpPr txBox="1"/>
          <p:nvPr/>
        </p:nvSpPr>
        <p:spPr>
          <a:xfrm>
            <a:off x="548640" y="6858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spc="-50" kern="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Four pillars, </a:t>
            </a:r>
            <a:pPr indent="0" marL="0">
              <a:buNone/>
            </a:pPr>
            <a:r>
              <a:rPr lang="en-US" sz="3600" spc="-5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one workbench.</a:t>
            </a:r>
            <a:endParaRPr lang="en-US" sz="3600" dirty="0"/>
          </a:p>
        </p:txBody>
      </p:sp>
      <p:sp>
        <p:nvSpPr>
          <p:cNvPr id="15" name="s2_1"/>
          <p:cNvSpPr/>
          <p:nvPr/>
        </p:nvSpPr>
        <p:spPr>
          <a:xfrm>
            <a:off x="548640" y="1929384"/>
            <a:ext cx="310896" cy="31089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6" name="s2_2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601" y="1985345"/>
            <a:ext cx="198973" cy="198973"/>
          </a:xfrm>
          <a:prstGeom prst="rect">
            <a:avLst/>
          </a:prstGeom>
        </p:spPr>
      </p:pic>
      <p:sp>
        <p:nvSpPr>
          <p:cNvPr id="17" name="s2_3"/>
          <p:cNvSpPr txBox="1"/>
          <p:nvPr/>
        </p:nvSpPr>
        <p:spPr>
          <a:xfrm>
            <a:off x="1051560" y="183794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Sovereignty</a:t>
            </a:r>
            <a:endParaRPr lang="en-US" sz="2400" dirty="0"/>
          </a:p>
        </p:txBody>
      </p:sp>
      <p:sp>
        <p:nvSpPr>
          <p:cNvPr id="18" name="s2_4"/>
          <p:cNvSpPr txBox="1"/>
          <p:nvPr/>
        </p:nvSpPr>
        <p:spPr>
          <a:xfrm>
            <a:off x="1051560" y="229514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Local LLMs  →  data stays inside</a:t>
            </a:r>
            <a:endParaRPr lang="en-US" sz="1500" dirty="0"/>
          </a:p>
        </p:txBody>
      </p:sp>
      <p:sp>
        <p:nvSpPr>
          <p:cNvPr id="19" name="s2_5"/>
          <p:cNvSpPr/>
          <p:nvPr/>
        </p:nvSpPr>
        <p:spPr>
          <a:xfrm>
            <a:off x="548640" y="2980944"/>
            <a:ext cx="310896" cy="31089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20" name="s2_6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01" y="3036905"/>
            <a:ext cx="198973" cy="198973"/>
          </a:xfrm>
          <a:prstGeom prst="rect">
            <a:avLst/>
          </a:prstGeom>
        </p:spPr>
      </p:pic>
      <p:sp>
        <p:nvSpPr>
          <p:cNvPr id="21" name="s2_7"/>
          <p:cNvSpPr txBox="1"/>
          <p:nvPr/>
        </p:nvSpPr>
        <p:spPr>
          <a:xfrm>
            <a:off x="1051560" y="288950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Ingestion</a:t>
            </a:r>
            <a:endParaRPr lang="en-US" sz="2400" dirty="0"/>
          </a:p>
        </p:txBody>
      </p:sp>
      <p:sp>
        <p:nvSpPr>
          <p:cNvPr id="22" name="s2_8"/>
          <p:cNvSpPr txBox="1"/>
          <p:nvPr/>
        </p:nvSpPr>
        <p:spPr>
          <a:xfrm>
            <a:off x="1051560" y="334670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Legacy files  →  usable intelligence</a:t>
            </a:r>
            <a:endParaRPr lang="en-US" sz="1500" dirty="0"/>
          </a:p>
        </p:txBody>
      </p:sp>
      <p:sp>
        <p:nvSpPr>
          <p:cNvPr id="23" name="s2_9"/>
          <p:cNvSpPr/>
          <p:nvPr/>
        </p:nvSpPr>
        <p:spPr>
          <a:xfrm>
            <a:off x="548640" y="4032504"/>
            <a:ext cx="310896" cy="31089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24" name="s2_10" descr="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601" y="4088465"/>
            <a:ext cx="198973" cy="198973"/>
          </a:xfrm>
          <a:prstGeom prst="rect">
            <a:avLst/>
          </a:prstGeom>
        </p:spPr>
      </p:pic>
      <p:sp>
        <p:nvSpPr>
          <p:cNvPr id="25" name="s2_11"/>
          <p:cNvSpPr txBox="1"/>
          <p:nvPr/>
        </p:nvSpPr>
        <p:spPr>
          <a:xfrm>
            <a:off x="1051560" y="394106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Governance</a:t>
            </a:r>
            <a:endParaRPr lang="en-US" sz="2400" dirty="0"/>
          </a:p>
        </p:txBody>
      </p:sp>
      <p:sp>
        <p:nvSpPr>
          <p:cNvPr id="26" name="s2_12"/>
          <p:cNvSpPr txBox="1"/>
          <p:nvPr/>
        </p:nvSpPr>
        <p:spPr>
          <a:xfrm>
            <a:off x="1051560" y="439826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Tool execution  →  human approval</a:t>
            </a:r>
            <a:endParaRPr lang="en-US" sz="1500" dirty="0"/>
          </a:p>
        </p:txBody>
      </p:sp>
      <p:sp>
        <p:nvSpPr>
          <p:cNvPr id="27" name="s2_13"/>
          <p:cNvSpPr/>
          <p:nvPr/>
        </p:nvSpPr>
        <p:spPr>
          <a:xfrm>
            <a:off x="548640" y="5084064"/>
            <a:ext cx="310896" cy="310896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28" name="s2_14" descr="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601" y="5140025"/>
            <a:ext cx="198973" cy="198973"/>
          </a:xfrm>
          <a:prstGeom prst="rect">
            <a:avLst/>
          </a:prstGeom>
        </p:spPr>
      </p:pic>
      <p:sp>
        <p:nvSpPr>
          <p:cNvPr id="29" name="s2_15"/>
          <p:cNvSpPr txBox="1"/>
          <p:nvPr/>
        </p:nvSpPr>
        <p:spPr>
          <a:xfrm>
            <a:off x="1051560" y="499262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Trust</a:t>
            </a:r>
            <a:endParaRPr lang="en-US" sz="2400" dirty="0"/>
          </a:p>
        </p:txBody>
      </p:sp>
      <p:sp>
        <p:nvSpPr>
          <p:cNvPr id="30" name="s2_16"/>
          <p:cNvSpPr txBox="1"/>
          <p:nvPr/>
        </p:nvSpPr>
        <p:spPr>
          <a:xfrm>
            <a:off x="1051560" y="544982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Generated answer  →  source-verified</a:t>
            </a:r>
            <a:endParaRPr lang="en-US" sz="1500" dirty="0"/>
          </a:p>
        </p:txBody>
      </p:sp>
      <p:sp>
        <p:nvSpPr>
          <p:cNvPr id="31" name="s2_17"/>
          <p:cNvSpPr/>
          <p:nvPr/>
        </p:nvSpPr>
        <p:spPr>
          <a:xfrm>
            <a:off x="6675120" y="1783080"/>
            <a:ext cx="4965192" cy="4480560"/>
          </a:xfrm>
          <a:prstGeom prst="roundRect">
            <a:avLst>
              <a:gd name="adj" fmla="val 3265"/>
            </a:avLst>
          </a:prstGeom>
          <a:solidFill>
            <a:schemeClr val="tx1"/>
          </a:solidFill>
          <a:ln/>
          <a:effectLst>
            <a:outerShdw sx="100000" sy="100000" kx="0" ky="0" algn="bl" rotWithShape="0" blurRad="304800" dist="101600" dir="5400000">
              <a:srgbClr val="000000">
                <a:alpha val="18000"/>
              </a:srgbClr>
            </a:outerShdw>
          </a:effectLst>
        </p:spPr>
      </p:sp>
      <p:sp>
        <p:nvSpPr>
          <p:cNvPr id="32" name="s2_18"/>
          <p:cNvSpPr/>
          <p:nvPr/>
        </p:nvSpPr>
        <p:spPr>
          <a:xfrm>
            <a:off x="8001000" y="2057400"/>
            <a:ext cx="3364992" cy="676656"/>
          </a:xfrm>
          <a:prstGeom prst="roundRect">
            <a:avLst>
              <a:gd name="adj" fmla="val 24324"/>
            </a:avLst>
          </a:prstGeom>
          <a:solidFill>
            <a:schemeClr val="tx2"/>
          </a:solidFill>
          <a:ln/>
        </p:spPr>
      </p:sp>
      <p:sp>
        <p:nvSpPr>
          <p:cNvPr id="33" name="s2_19"/>
          <p:cNvSpPr txBox="1"/>
          <p:nvPr/>
        </p:nvSpPr>
        <p:spPr>
          <a:xfrm>
            <a:off x="8183880" y="2057400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Draft an approval note: is pump P-101B fit to restart?</a:t>
            </a:r>
            <a:endParaRPr lang="en-US" sz="1200" dirty="0"/>
          </a:p>
        </p:txBody>
      </p:sp>
      <p:sp>
        <p:nvSpPr>
          <p:cNvPr id="34" name="s2_20"/>
          <p:cNvSpPr/>
          <p:nvPr/>
        </p:nvSpPr>
        <p:spPr>
          <a:xfrm>
            <a:off x="6949440" y="2990088"/>
            <a:ext cx="256032" cy="256032"/>
          </a:xfrm>
          <a:custGeom>
            <a:avLst/>
            <a:gdLst/>
            <a:ahLst/>
            <a:cxnLst/>
            <a:rect l="l" t="t" r="r" b="b"/>
            <a:pathLst>
              <a:path w="256032" h="256032">
                <a:moveTo>
                  <a:pt x="127378" y="0"/>
                </a:moveTo>
                <a:lnTo>
                  <a:pt x="123822" y="1323"/>
                </a:lnTo>
                <a:lnTo>
                  <a:pt x="93774" y="18722"/>
                </a:lnTo>
                <a:lnTo>
                  <a:pt x="91505" y="21018"/>
                </a:lnTo>
                <a:lnTo>
                  <a:pt x="90752" y="24004"/>
                </a:lnTo>
                <a:lnTo>
                  <a:pt x="90834" y="55926"/>
                </a:lnTo>
                <a:lnTo>
                  <a:pt x="90155" y="58453"/>
                </a:lnTo>
                <a:lnTo>
                  <a:pt x="89025" y="59619"/>
                </a:lnTo>
                <a:lnTo>
                  <a:pt x="86847" y="60529"/>
                </a:lnTo>
                <a:lnTo>
                  <a:pt x="84321" y="59739"/>
                </a:lnTo>
                <a:lnTo>
                  <a:pt x="56395" y="43525"/>
                </a:lnTo>
                <a:lnTo>
                  <a:pt x="53317" y="42983"/>
                </a:lnTo>
                <a:lnTo>
                  <a:pt x="50791" y="43525"/>
                </a:lnTo>
                <a:lnTo>
                  <a:pt x="18979" y="61943"/>
                </a:lnTo>
                <a:lnTo>
                  <a:pt x="17031" y="64130"/>
                </a:lnTo>
                <a:lnTo>
                  <a:pt x="16398" y="66151"/>
                </a:lnTo>
                <a:lnTo>
                  <a:pt x="16379" y="102666"/>
                </a:lnTo>
                <a:lnTo>
                  <a:pt x="16912" y="105652"/>
                </a:lnTo>
                <a:lnTo>
                  <a:pt x="19438" y="108334"/>
                </a:lnTo>
                <a:lnTo>
                  <a:pt x="47374" y="124364"/>
                </a:lnTo>
                <a:lnTo>
                  <a:pt x="48834" y="125798"/>
                </a:lnTo>
                <a:lnTo>
                  <a:pt x="49257" y="127929"/>
                </a:lnTo>
                <a:lnTo>
                  <a:pt x="48844" y="129996"/>
                </a:lnTo>
                <a:lnTo>
                  <a:pt x="47686" y="131300"/>
                </a:lnTo>
                <a:lnTo>
                  <a:pt x="19668" y="147413"/>
                </a:lnTo>
                <a:lnTo>
                  <a:pt x="16976" y="150086"/>
                </a:lnTo>
                <a:lnTo>
                  <a:pt x="16352" y="153301"/>
                </a:lnTo>
                <a:lnTo>
                  <a:pt x="16379" y="189587"/>
                </a:lnTo>
                <a:lnTo>
                  <a:pt x="17812" y="192922"/>
                </a:lnTo>
                <a:lnTo>
                  <a:pt x="20247" y="194713"/>
                </a:lnTo>
                <a:lnTo>
                  <a:pt x="50442" y="212167"/>
                </a:lnTo>
                <a:lnTo>
                  <a:pt x="53317" y="213003"/>
                </a:lnTo>
                <a:lnTo>
                  <a:pt x="56873" y="212121"/>
                </a:lnTo>
                <a:lnTo>
                  <a:pt x="84431" y="196036"/>
                </a:lnTo>
                <a:lnTo>
                  <a:pt x="86728" y="195522"/>
                </a:lnTo>
                <a:lnTo>
                  <a:pt x="88666" y="196018"/>
                </a:lnTo>
                <a:lnTo>
                  <a:pt x="90155" y="197396"/>
                </a:lnTo>
                <a:lnTo>
                  <a:pt x="90788" y="199812"/>
                </a:lnTo>
                <a:lnTo>
                  <a:pt x="90761" y="231844"/>
                </a:lnTo>
                <a:lnTo>
                  <a:pt x="91551" y="235005"/>
                </a:lnTo>
                <a:lnTo>
                  <a:pt x="94886" y="237861"/>
                </a:lnTo>
                <a:lnTo>
                  <a:pt x="125384" y="255389"/>
                </a:lnTo>
                <a:lnTo>
                  <a:pt x="128067" y="256032"/>
                </a:lnTo>
                <a:lnTo>
                  <a:pt x="132320" y="254480"/>
                </a:lnTo>
                <a:lnTo>
                  <a:pt x="162745" y="236833"/>
                </a:lnTo>
                <a:lnTo>
                  <a:pt x="164472" y="234977"/>
                </a:lnTo>
                <a:lnTo>
                  <a:pt x="165271" y="231734"/>
                </a:lnTo>
                <a:lnTo>
                  <a:pt x="165216" y="199922"/>
                </a:lnTo>
                <a:lnTo>
                  <a:pt x="165942" y="197285"/>
                </a:lnTo>
                <a:lnTo>
                  <a:pt x="167366" y="196018"/>
                </a:lnTo>
                <a:lnTo>
                  <a:pt x="169175" y="195485"/>
                </a:lnTo>
                <a:lnTo>
                  <a:pt x="171591" y="196027"/>
                </a:lnTo>
                <a:lnTo>
                  <a:pt x="199150" y="212112"/>
                </a:lnTo>
                <a:lnTo>
                  <a:pt x="202705" y="213003"/>
                </a:lnTo>
                <a:lnTo>
                  <a:pt x="205691" y="212103"/>
                </a:lnTo>
                <a:lnTo>
                  <a:pt x="237154" y="193868"/>
                </a:lnTo>
                <a:lnTo>
                  <a:pt x="238991" y="191774"/>
                </a:lnTo>
                <a:lnTo>
                  <a:pt x="239653" y="189587"/>
                </a:lnTo>
                <a:lnTo>
                  <a:pt x="239680" y="153191"/>
                </a:lnTo>
                <a:lnTo>
                  <a:pt x="239083" y="150206"/>
                </a:lnTo>
                <a:lnTo>
                  <a:pt x="236355" y="147413"/>
                </a:lnTo>
                <a:lnTo>
                  <a:pt x="208337" y="131291"/>
                </a:lnTo>
                <a:lnTo>
                  <a:pt x="207188" y="130078"/>
                </a:lnTo>
                <a:lnTo>
                  <a:pt x="206757" y="127809"/>
                </a:lnTo>
                <a:lnTo>
                  <a:pt x="207243" y="125632"/>
                </a:lnTo>
                <a:lnTo>
                  <a:pt x="208667" y="124364"/>
                </a:lnTo>
                <a:lnTo>
                  <a:pt x="236465" y="108399"/>
                </a:lnTo>
                <a:lnTo>
                  <a:pt x="238991" y="105882"/>
                </a:lnTo>
                <a:lnTo>
                  <a:pt x="239625" y="103466"/>
                </a:lnTo>
                <a:lnTo>
                  <a:pt x="239625" y="66151"/>
                </a:lnTo>
                <a:lnTo>
                  <a:pt x="238991" y="64148"/>
                </a:lnTo>
                <a:lnTo>
                  <a:pt x="237035" y="61897"/>
                </a:lnTo>
                <a:lnTo>
                  <a:pt x="205232" y="43516"/>
                </a:lnTo>
                <a:lnTo>
                  <a:pt x="202705" y="42992"/>
                </a:lnTo>
                <a:lnTo>
                  <a:pt x="199610" y="43525"/>
                </a:lnTo>
                <a:lnTo>
                  <a:pt x="171702" y="59729"/>
                </a:lnTo>
                <a:lnTo>
                  <a:pt x="169295" y="60529"/>
                </a:lnTo>
                <a:lnTo>
                  <a:pt x="166998" y="59638"/>
                </a:lnTo>
                <a:lnTo>
                  <a:pt x="165712" y="58113"/>
                </a:lnTo>
                <a:lnTo>
                  <a:pt x="165207" y="55697"/>
                </a:lnTo>
                <a:lnTo>
                  <a:pt x="165262" y="23894"/>
                </a:lnTo>
                <a:lnTo>
                  <a:pt x="164472" y="20871"/>
                </a:lnTo>
                <a:lnTo>
                  <a:pt x="162056" y="18630"/>
                </a:lnTo>
                <a:lnTo>
                  <a:pt x="132200" y="1314"/>
                </a:lnTo>
                <a:lnTo>
                  <a:pt x="130133" y="276"/>
                </a:lnTo>
                <a:lnTo>
                  <a:pt x="127378" y="0"/>
                </a:lnTo>
                <a:close/>
                <a:moveTo>
                  <a:pt x="127378" y="85883"/>
                </a:moveTo>
                <a:lnTo>
                  <a:pt x="124971" y="86756"/>
                </a:lnTo>
                <a:lnTo>
                  <a:pt x="93269" y="105073"/>
                </a:lnTo>
                <a:lnTo>
                  <a:pt x="91487" y="107030"/>
                </a:lnTo>
                <a:lnTo>
                  <a:pt x="90862" y="110126"/>
                </a:lnTo>
                <a:lnTo>
                  <a:pt x="90844" y="142278"/>
                </a:lnTo>
                <a:lnTo>
                  <a:pt x="91147" y="147790"/>
                </a:lnTo>
                <a:lnTo>
                  <a:pt x="93158" y="150683"/>
                </a:lnTo>
                <a:lnTo>
                  <a:pt x="124622" y="168946"/>
                </a:lnTo>
                <a:lnTo>
                  <a:pt x="128186" y="170057"/>
                </a:lnTo>
                <a:lnTo>
                  <a:pt x="131401" y="168946"/>
                </a:lnTo>
                <a:lnTo>
                  <a:pt x="162864" y="150674"/>
                </a:lnTo>
                <a:lnTo>
                  <a:pt x="164545" y="148708"/>
                </a:lnTo>
                <a:lnTo>
                  <a:pt x="165152" y="145493"/>
                </a:lnTo>
                <a:lnTo>
                  <a:pt x="165152" y="110245"/>
                </a:lnTo>
                <a:lnTo>
                  <a:pt x="164582" y="107168"/>
                </a:lnTo>
                <a:lnTo>
                  <a:pt x="162745" y="105073"/>
                </a:lnTo>
                <a:lnTo>
                  <a:pt x="130951" y="86701"/>
                </a:lnTo>
                <a:lnTo>
                  <a:pt x="127378" y="85883"/>
                </a:lnTo>
                <a:close/>
                <a:moveTo>
                  <a:pt x="127727" y="43065"/>
                </a:moveTo>
                <a:lnTo>
                  <a:pt x="125430" y="43516"/>
                </a:lnTo>
                <a:lnTo>
                  <a:pt x="98082" y="59261"/>
                </a:lnTo>
                <a:lnTo>
                  <a:pt x="95914" y="60979"/>
                </a:lnTo>
                <a:lnTo>
                  <a:pt x="95143" y="62247"/>
                </a:lnTo>
                <a:lnTo>
                  <a:pt x="94987" y="63735"/>
                </a:lnTo>
                <a:lnTo>
                  <a:pt x="95317" y="65113"/>
                </a:lnTo>
                <a:lnTo>
                  <a:pt x="97035" y="67069"/>
                </a:lnTo>
                <a:lnTo>
                  <a:pt x="125540" y="83513"/>
                </a:lnTo>
                <a:lnTo>
                  <a:pt x="128296" y="83945"/>
                </a:lnTo>
                <a:lnTo>
                  <a:pt x="130483" y="83513"/>
                </a:lnTo>
                <a:lnTo>
                  <a:pt x="158960" y="67097"/>
                </a:lnTo>
                <a:lnTo>
                  <a:pt x="160696" y="65113"/>
                </a:lnTo>
                <a:lnTo>
                  <a:pt x="161027" y="63735"/>
                </a:lnTo>
                <a:lnTo>
                  <a:pt x="160880" y="62247"/>
                </a:lnTo>
                <a:lnTo>
                  <a:pt x="160108" y="60979"/>
                </a:lnTo>
                <a:lnTo>
                  <a:pt x="157913" y="59261"/>
                </a:lnTo>
                <a:lnTo>
                  <a:pt x="130593" y="43525"/>
                </a:lnTo>
                <a:lnTo>
                  <a:pt x="127727" y="43065"/>
                </a:lnTo>
                <a:close/>
                <a:moveTo>
                  <a:pt x="57332" y="131015"/>
                </a:moveTo>
                <a:lnTo>
                  <a:pt x="54695" y="132439"/>
                </a:lnTo>
                <a:lnTo>
                  <a:pt x="53630" y="134929"/>
                </a:lnTo>
                <a:lnTo>
                  <a:pt x="53611" y="167660"/>
                </a:lnTo>
                <a:lnTo>
                  <a:pt x="54594" y="170755"/>
                </a:lnTo>
                <a:lnTo>
                  <a:pt x="56643" y="172657"/>
                </a:lnTo>
                <a:lnTo>
                  <a:pt x="85139" y="189128"/>
                </a:lnTo>
                <a:lnTo>
                  <a:pt x="88106" y="189100"/>
                </a:lnTo>
                <a:lnTo>
                  <a:pt x="90145" y="187291"/>
                </a:lnTo>
                <a:lnTo>
                  <a:pt x="90862" y="185224"/>
                </a:lnTo>
                <a:lnTo>
                  <a:pt x="90807" y="152842"/>
                </a:lnTo>
                <a:lnTo>
                  <a:pt x="90173" y="150196"/>
                </a:lnTo>
                <a:lnTo>
                  <a:pt x="88575" y="148249"/>
                </a:lnTo>
                <a:lnTo>
                  <a:pt x="60437" y="131824"/>
                </a:lnTo>
                <a:lnTo>
                  <a:pt x="57332" y="131015"/>
                </a:lnTo>
                <a:close/>
                <a:moveTo>
                  <a:pt x="197883" y="131015"/>
                </a:moveTo>
                <a:lnTo>
                  <a:pt x="195705" y="131805"/>
                </a:lnTo>
                <a:lnTo>
                  <a:pt x="167476" y="148249"/>
                </a:lnTo>
                <a:lnTo>
                  <a:pt x="165850" y="150132"/>
                </a:lnTo>
                <a:lnTo>
                  <a:pt x="165198" y="152502"/>
                </a:lnTo>
                <a:lnTo>
                  <a:pt x="165216" y="185224"/>
                </a:lnTo>
                <a:lnTo>
                  <a:pt x="165942" y="187410"/>
                </a:lnTo>
                <a:lnTo>
                  <a:pt x="168027" y="189100"/>
                </a:lnTo>
                <a:lnTo>
                  <a:pt x="170094" y="189284"/>
                </a:lnTo>
                <a:lnTo>
                  <a:pt x="172161" y="188347"/>
                </a:lnTo>
                <a:lnTo>
                  <a:pt x="199288" y="172712"/>
                </a:lnTo>
                <a:lnTo>
                  <a:pt x="201447" y="170691"/>
                </a:lnTo>
                <a:lnTo>
                  <a:pt x="202402" y="167660"/>
                </a:lnTo>
                <a:lnTo>
                  <a:pt x="202375" y="134818"/>
                </a:lnTo>
                <a:lnTo>
                  <a:pt x="201557" y="132752"/>
                </a:lnTo>
                <a:lnTo>
                  <a:pt x="200629" y="131833"/>
                </a:lnTo>
                <a:lnTo>
                  <a:pt x="197883" y="131015"/>
                </a:ln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35" name="s2_21"/>
          <p:cNvSpPr txBox="1"/>
          <p:nvPr/>
        </p:nvSpPr>
        <p:spPr>
          <a:xfrm>
            <a:off x="7315200" y="29718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4CE / TONY (Orchestrator)</a:t>
            </a:r>
            <a:endParaRPr lang="en-US" sz="1200" dirty="0"/>
          </a:p>
        </p:txBody>
      </p:sp>
      <p:sp>
        <p:nvSpPr>
          <p:cNvPr id="36" name="s2_22"/>
          <p:cNvSpPr/>
          <p:nvPr/>
        </p:nvSpPr>
        <p:spPr>
          <a:xfrm>
            <a:off x="6949440" y="3474720"/>
            <a:ext cx="1468526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37" name="s2_23"/>
          <p:cNvSpPr txBox="1"/>
          <p:nvPr/>
        </p:nvSpPr>
        <p:spPr>
          <a:xfrm>
            <a:off x="6949440" y="3474720"/>
            <a:ext cx="14685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Local qwen3-vl-4b</a:t>
            </a:r>
            <a:endParaRPr lang="en-US" sz="1100" dirty="0"/>
          </a:p>
        </p:txBody>
      </p:sp>
      <p:sp>
        <p:nvSpPr>
          <p:cNvPr id="38" name="s2_24"/>
          <p:cNvSpPr/>
          <p:nvPr/>
        </p:nvSpPr>
        <p:spPr>
          <a:xfrm>
            <a:off x="8509406" y="3474720"/>
            <a:ext cx="1539850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39" name="s2_25"/>
          <p:cNvSpPr txBox="1"/>
          <p:nvPr/>
        </p:nvSpPr>
        <p:spPr>
          <a:xfrm>
            <a:off x="8509406" y="3474720"/>
            <a:ext cx="15398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Grounded 2 sources</a:t>
            </a:r>
            <a:endParaRPr lang="en-US" sz="1100" dirty="0"/>
          </a:p>
        </p:txBody>
      </p:sp>
      <p:sp>
        <p:nvSpPr>
          <p:cNvPr id="40" name="s2_26"/>
          <p:cNvSpPr/>
          <p:nvPr/>
        </p:nvSpPr>
        <p:spPr>
          <a:xfrm>
            <a:off x="6949440" y="3858768"/>
            <a:ext cx="2110435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1" name="s2_27"/>
          <p:cNvSpPr txBox="1"/>
          <p:nvPr/>
        </p:nvSpPr>
        <p:spPr>
          <a:xfrm>
            <a:off x="6949440" y="3858768"/>
            <a:ext cx="21104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Checked · ULTRON passed it</a:t>
            </a:r>
            <a:endParaRPr lang="en-US" sz="1100" dirty="0"/>
          </a:p>
        </p:txBody>
      </p:sp>
      <p:sp>
        <p:nvSpPr>
          <p:cNvPr id="42" name="s2_28"/>
          <p:cNvSpPr/>
          <p:nvPr/>
        </p:nvSpPr>
        <p:spPr>
          <a:xfrm>
            <a:off x="6949440" y="4242816"/>
            <a:ext cx="2324405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43" name="s2_29"/>
          <p:cNvSpPr txBox="1"/>
          <p:nvPr/>
        </p:nvSpPr>
        <p:spPr>
          <a:xfrm>
            <a:off x="6949440" y="4242816"/>
            <a:ext cx="23244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Released by 4CE Administrator</a:t>
            </a:r>
            <a:endParaRPr lang="en-US" sz="1100" dirty="0"/>
          </a:p>
        </p:txBody>
      </p:sp>
      <p:sp>
        <p:nvSpPr>
          <p:cNvPr id="44" name="s2_30"/>
          <p:cNvSpPr/>
          <p:nvPr/>
        </p:nvSpPr>
        <p:spPr>
          <a:xfrm>
            <a:off x="6949440" y="4626864"/>
            <a:ext cx="2110435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45" name="s2_31"/>
          <p:cNvSpPr txBox="1"/>
          <p:nvPr/>
        </p:nvSpPr>
        <p:spPr>
          <a:xfrm>
            <a:off x="6949440" y="4626864"/>
            <a:ext cx="21104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0 external calls, observed</a:t>
            </a:r>
            <a:endParaRPr lang="en-US" sz="1100" dirty="0"/>
          </a:p>
        </p:txBody>
      </p:sp>
      <p:sp>
        <p:nvSpPr>
          <p:cNvPr id="46" name="s2_32"/>
          <p:cNvSpPr/>
          <p:nvPr/>
        </p:nvSpPr>
        <p:spPr>
          <a:xfrm>
            <a:off x="9151315" y="4626864"/>
            <a:ext cx="612648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47" name="s2_33"/>
          <p:cNvSpPr txBox="1"/>
          <p:nvPr/>
        </p:nvSpPr>
        <p:spPr>
          <a:xfrm>
            <a:off x="9151315" y="4626864"/>
            <a:ext cx="612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Audit</a:t>
            </a:r>
            <a:endParaRPr lang="en-US" sz="1100" dirty="0"/>
          </a:p>
        </p:txBody>
      </p:sp>
      <p:sp>
        <p:nvSpPr>
          <p:cNvPr id="48" name="s2_34"/>
          <p:cNvSpPr/>
          <p:nvPr/>
        </p:nvSpPr>
        <p:spPr>
          <a:xfrm>
            <a:off x="6949440" y="5148072"/>
            <a:ext cx="4416552" cy="822960"/>
          </a:xfrm>
          <a:prstGeom prst="roundRect">
            <a:avLst>
              <a:gd name="adj" fmla="val 15556"/>
            </a:avLst>
          </a:prstGeom>
          <a:solidFill>
            <a:schemeClr val="tx2"/>
          </a:solidFill>
          <a:ln/>
        </p:spPr>
      </p:sp>
      <p:sp>
        <p:nvSpPr>
          <p:cNvPr id="49" name="s2_35"/>
          <p:cNvSpPr/>
          <p:nvPr/>
        </p:nvSpPr>
        <p:spPr>
          <a:xfrm>
            <a:off x="7114032" y="5303520"/>
            <a:ext cx="512064" cy="512064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/>
        </p:spPr>
      </p:sp>
      <p:pic>
        <p:nvPicPr>
          <p:cNvPr id="50" name="s2_36" descr="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6927" y="5426415"/>
            <a:ext cx="266273" cy="266273"/>
          </a:xfrm>
          <a:prstGeom prst="rect">
            <a:avLst/>
          </a:prstGeom>
        </p:spPr>
      </p:pic>
      <p:sp>
        <p:nvSpPr>
          <p:cNvPr id="51" name="s2_37"/>
          <p:cNvSpPr txBox="1"/>
          <p:nvPr/>
        </p:nvSpPr>
        <p:spPr>
          <a:xfrm>
            <a:off x="7772400" y="52852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Approval note</a:t>
            </a:r>
            <a:endParaRPr lang="en-US" sz="1250" dirty="0"/>
          </a:p>
        </p:txBody>
      </p:sp>
      <p:sp>
        <p:nvSpPr>
          <p:cNvPr id="52" name="s2_38"/>
          <p:cNvSpPr txBox="1"/>
          <p:nvPr/>
        </p:nvSpPr>
        <p:spPr>
          <a:xfrm>
            <a:off x="7772400" y="55504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Word report · stored on this machine</a:t>
            </a:r>
            <a:endParaRPr lang="en-US" sz="1000" dirty="0"/>
          </a:p>
        </p:txBody>
      </p:sp>
      <p:sp>
        <p:nvSpPr>
          <p:cNvPr id="53" name="s2_39"/>
          <p:cNvSpPr/>
          <p:nvPr/>
        </p:nvSpPr>
        <p:spPr>
          <a:xfrm>
            <a:off x="10222992" y="5394960"/>
            <a:ext cx="960120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54" name="s2_40"/>
          <p:cNvSpPr txBox="1"/>
          <p:nvPr/>
        </p:nvSpPr>
        <p:spPr>
          <a:xfrm>
            <a:off x="10222992" y="539496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Download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3474720"/>
            <a:ext cx="6858000" cy="6858000"/>
          </a:xfrm>
          <a:prstGeom prst="rect">
            <a:avLst/>
          </a:prstGeom>
        </p:spPr>
      </p:pic>
      <p:sp>
        <p:nvSpPr>
          <p:cNvPr id="3" name="!!canvas"/>
          <p:cNvSpPr/>
          <p:nvPr/>
        </p:nvSpPr>
        <p:spPr>
          <a:xfrm>
            <a:off x="-365760" y="0"/>
            <a:ext cx="182880" cy="6858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" name="!!px1"/>
          <p:cNvSpPr/>
          <p:nvPr/>
        </p:nvSpPr>
        <p:spPr>
          <a:xfrm>
            <a:off x="10592708" y="800641"/>
            <a:ext cx="128016" cy="2560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!!px2"/>
          <p:cNvSpPr/>
          <p:nvPr/>
        </p:nvSpPr>
        <p:spPr>
          <a:xfrm>
            <a:off x="9899581" y="643269"/>
            <a:ext cx="256032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!!px3"/>
          <p:cNvSpPr/>
          <p:nvPr/>
        </p:nvSpPr>
        <p:spPr>
          <a:xfrm>
            <a:off x="9790205" y="1142578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!!px4"/>
          <p:cNvSpPr/>
          <p:nvPr/>
        </p:nvSpPr>
        <p:spPr>
          <a:xfrm>
            <a:off x="9057484" y="997779"/>
            <a:ext cx="128016" cy="2560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!!px5"/>
          <p:cNvSpPr/>
          <p:nvPr/>
        </p:nvSpPr>
        <p:spPr>
          <a:xfrm>
            <a:off x="8946466" y="1294357"/>
            <a:ext cx="256032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!!px6"/>
          <p:cNvSpPr/>
          <p:nvPr/>
        </p:nvSpPr>
        <p:spPr>
          <a:xfrm>
            <a:off x="9439539" y="557063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!!px7"/>
          <p:cNvSpPr/>
          <p:nvPr/>
        </p:nvSpPr>
        <p:spPr>
          <a:xfrm>
            <a:off x="8551721" y="868019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!!mark"/>
          <p:cNvSpPr/>
          <p:nvPr/>
        </p:nvSpPr>
        <p:spPr>
          <a:xfrm rot="10800000">
            <a:off x="11201400" y="548640"/>
            <a:ext cx="438912" cy="438912"/>
          </a:xfrm>
          <a:custGeom>
            <a:avLst/>
            <a:gdLst/>
            <a:ahLst/>
            <a:cxnLst/>
            <a:rect l="l" t="t" r="r" b="b"/>
            <a:pathLst>
              <a:path w="438912" h="438912">
                <a:moveTo>
                  <a:pt x="218362" y="0"/>
                </a:moveTo>
                <a:lnTo>
                  <a:pt x="212267" y="2268"/>
                </a:lnTo>
                <a:lnTo>
                  <a:pt x="160755" y="32094"/>
                </a:lnTo>
                <a:lnTo>
                  <a:pt x="156866" y="36031"/>
                </a:lnTo>
                <a:lnTo>
                  <a:pt x="155574" y="41149"/>
                </a:lnTo>
                <a:lnTo>
                  <a:pt x="155716" y="95874"/>
                </a:lnTo>
                <a:lnTo>
                  <a:pt x="154551" y="100204"/>
                </a:lnTo>
                <a:lnTo>
                  <a:pt x="152614" y="102204"/>
                </a:lnTo>
                <a:lnTo>
                  <a:pt x="148881" y="103763"/>
                </a:lnTo>
                <a:lnTo>
                  <a:pt x="144551" y="102409"/>
                </a:lnTo>
                <a:lnTo>
                  <a:pt x="96677" y="74614"/>
                </a:lnTo>
                <a:lnTo>
                  <a:pt x="91401" y="73685"/>
                </a:lnTo>
                <a:lnTo>
                  <a:pt x="87071" y="74614"/>
                </a:lnTo>
                <a:lnTo>
                  <a:pt x="32535" y="106189"/>
                </a:lnTo>
                <a:lnTo>
                  <a:pt x="29197" y="109937"/>
                </a:lnTo>
                <a:lnTo>
                  <a:pt x="28110" y="113401"/>
                </a:lnTo>
                <a:lnTo>
                  <a:pt x="28079" y="175999"/>
                </a:lnTo>
                <a:lnTo>
                  <a:pt x="28992" y="181118"/>
                </a:lnTo>
                <a:lnTo>
                  <a:pt x="33323" y="185716"/>
                </a:lnTo>
                <a:lnTo>
                  <a:pt x="81212" y="213196"/>
                </a:lnTo>
                <a:lnTo>
                  <a:pt x="83716" y="215653"/>
                </a:lnTo>
                <a:lnTo>
                  <a:pt x="84441" y="219306"/>
                </a:lnTo>
                <a:lnTo>
                  <a:pt x="83732" y="222850"/>
                </a:lnTo>
                <a:lnTo>
                  <a:pt x="81748" y="225086"/>
                </a:lnTo>
                <a:lnTo>
                  <a:pt x="33716" y="252708"/>
                </a:lnTo>
                <a:lnTo>
                  <a:pt x="29102" y="257291"/>
                </a:lnTo>
                <a:lnTo>
                  <a:pt x="28031" y="262802"/>
                </a:lnTo>
                <a:lnTo>
                  <a:pt x="28079" y="325007"/>
                </a:lnTo>
                <a:lnTo>
                  <a:pt x="30535" y="330723"/>
                </a:lnTo>
                <a:lnTo>
                  <a:pt x="34709" y="333794"/>
                </a:lnTo>
                <a:lnTo>
                  <a:pt x="86472" y="363715"/>
                </a:lnTo>
                <a:lnTo>
                  <a:pt x="91401" y="365148"/>
                </a:lnTo>
                <a:lnTo>
                  <a:pt x="97496" y="363637"/>
                </a:lnTo>
                <a:lnTo>
                  <a:pt x="144740" y="336062"/>
                </a:lnTo>
                <a:lnTo>
                  <a:pt x="148677" y="335180"/>
                </a:lnTo>
                <a:lnTo>
                  <a:pt x="152000" y="336030"/>
                </a:lnTo>
                <a:lnTo>
                  <a:pt x="154551" y="338393"/>
                </a:lnTo>
                <a:lnTo>
                  <a:pt x="155637" y="342534"/>
                </a:lnTo>
                <a:lnTo>
                  <a:pt x="155590" y="397448"/>
                </a:lnTo>
                <a:lnTo>
                  <a:pt x="156944" y="402865"/>
                </a:lnTo>
                <a:lnTo>
                  <a:pt x="162661" y="407762"/>
                </a:lnTo>
                <a:lnTo>
                  <a:pt x="214944" y="437810"/>
                </a:lnTo>
                <a:lnTo>
                  <a:pt x="219543" y="438912"/>
                </a:lnTo>
                <a:lnTo>
                  <a:pt x="226834" y="436251"/>
                </a:lnTo>
                <a:lnTo>
                  <a:pt x="278991" y="405999"/>
                </a:lnTo>
                <a:lnTo>
                  <a:pt x="281952" y="402818"/>
                </a:lnTo>
                <a:lnTo>
                  <a:pt x="283322" y="397259"/>
                </a:lnTo>
                <a:lnTo>
                  <a:pt x="283227" y="342723"/>
                </a:lnTo>
                <a:lnTo>
                  <a:pt x="284472" y="338204"/>
                </a:lnTo>
                <a:lnTo>
                  <a:pt x="286912" y="336030"/>
                </a:lnTo>
                <a:lnTo>
                  <a:pt x="290015" y="335117"/>
                </a:lnTo>
                <a:lnTo>
                  <a:pt x="294157" y="336046"/>
                </a:lnTo>
                <a:lnTo>
                  <a:pt x="341400" y="363621"/>
                </a:lnTo>
                <a:lnTo>
                  <a:pt x="347495" y="365148"/>
                </a:lnTo>
                <a:lnTo>
                  <a:pt x="352613" y="363605"/>
                </a:lnTo>
                <a:lnTo>
                  <a:pt x="406550" y="332345"/>
                </a:lnTo>
                <a:lnTo>
                  <a:pt x="409699" y="328755"/>
                </a:lnTo>
                <a:lnTo>
                  <a:pt x="410833" y="325007"/>
                </a:lnTo>
                <a:lnTo>
                  <a:pt x="410881" y="262613"/>
                </a:lnTo>
                <a:lnTo>
                  <a:pt x="409857" y="257495"/>
                </a:lnTo>
                <a:lnTo>
                  <a:pt x="405180" y="252708"/>
                </a:lnTo>
                <a:lnTo>
                  <a:pt x="357148" y="225070"/>
                </a:lnTo>
                <a:lnTo>
                  <a:pt x="355180" y="222991"/>
                </a:lnTo>
                <a:lnTo>
                  <a:pt x="354440" y="219102"/>
                </a:lnTo>
                <a:lnTo>
                  <a:pt x="355274" y="215369"/>
                </a:lnTo>
                <a:lnTo>
                  <a:pt x="357715" y="213196"/>
                </a:lnTo>
                <a:lnTo>
                  <a:pt x="405369" y="185826"/>
                </a:lnTo>
                <a:lnTo>
                  <a:pt x="409699" y="181511"/>
                </a:lnTo>
                <a:lnTo>
                  <a:pt x="410786" y="177370"/>
                </a:lnTo>
                <a:lnTo>
                  <a:pt x="410786" y="113401"/>
                </a:lnTo>
                <a:lnTo>
                  <a:pt x="409699" y="109968"/>
                </a:lnTo>
                <a:lnTo>
                  <a:pt x="406345" y="106110"/>
                </a:lnTo>
                <a:lnTo>
                  <a:pt x="351826" y="74598"/>
                </a:lnTo>
                <a:lnTo>
                  <a:pt x="347495" y="73701"/>
                </a:lnTo>
                <a:lnTo>
                  <a:pt x="342188" y="74614"/>
                </a:lnTo>
                <a:lnTo>
                  <a:pt x="294346" y="102393"/>
                </a:lnTo>
                <a:lnTo>
                  <a:pt x="290220" y="103763"/>
                </a:lnTo>
                <a:lnTo>
                  <a:pt x="286283" y="102236"/>
                </a:lnTo>
                <a:lnTo>
                  <a:pt x="284078" y="99622"/>
                </a:lnTo>
                <a:lnTo>
                  <a:pt x="283212" y="95480"/>
                </a:lnTo>
                <a:lnTo>
                  <a:pt x="283306" y="40961"/>
                </a:lnTo>
                <a:lnTo>
                  <a:pt x="281952" y="35779"/>
                </a:lnTo>
                <a:lnTo>
                  <a:pt x="277810" y="31937"/>
                </a:lnTo>
                <a:lnTo>
                  <a:pt x="226629" y="2252"/>
                </a:lnTo>
                <a:lnTo>
                  <a:pt x="223086" y="472"/>
                </a:lnTo>
                <a:lnTo>
                  <a:pt x="218362" y="0"/>
                </a:lnTo>
                <a:close/>
                <a:moveTo>
                  <a:pt x="218362" y="147228"/>
                </a:moveTo>
                <a:lnTo>
                  <a:pt x="214236" y="148724"/>
                </a:lnTo>
                <a:lnTo>
                  <a:pt x="159889" y="180125"/>
                </a:lnTo>
                <a:lnTo>
                  <a:pt x="156834" y="183480"/>
                </a:lnTo>
                <a:lnTo>
                  <a:pt x="155763" y="188787"/>
                </a:lnTo>
                <a:lnTo>
                  <a:pt x="155732" y="243905"/>
                </a:lnTo>
                <a:lnTo>
                  <a:pt x="156251" y="253354"/>
                </a:lnTo>
                <a:lnTo>
                  <a:pt x="159700" y="258314"/>
                </a:lnTo>
                <a:lnTo>
                  <a:pt x="213637" y="289621"/>
                </a:lnTo>
                <a:lnTo>
                  <a:pt x="219747" y="291527"/>
                </a:lnTo>
                <a:lnTo>
                  <a:pt x="225259" y="289621"/>
                </a:lnTo>
                <a:lnTo>
                  <a:pt x="279196" y="258298"/>
                </a:lnTo>
                <a:lnTo>
                  <a:pt x="282078" y="254928"/>
                </a:lnTo>
                <a:lnTo>
                  <a:pt x="283117" y="249417"/>
                </a:lnTo>
                <a:lnTo>
                  <a:pt x="283117" y="188992"/>
                </a:lnTo>
                <a:lnTo>
                  <a:pt x="282141" y="183716"/>
                </a:lnTo>
                <a:lnTo>
                  <a:pt x="278991" y="180125"/>
                </a:lnTo>
                <a:lnTo>
                  <a:pt x="224487" y="148629"/>
                </a:lnTo>
                <a:lnTo>
                  <a:pt x="218362" y="147228"/>
                </a:lnTo>
                <a:close/>
                <a:moveTo>
                  <a:pt x="218960" y="73827"/>
                </a:moveTo>
                <a:lnTo>
                  <a:pt x="215023" y="74598"/>
                </a:lnTo>
                <a:lnTo>
                  <a:pt x="168141" y="101590"/>
                </a:lnTo>
                <a:lnTo>
                  <a:pt x="164425" y="104535"/>
                </a:lnTo>
                <a:lnTo>
                  <a:pt x="163102" y="106708"/>
                </a:lnTo>
                <a:lnTo>
                  <a:pt x="162834" y="109259"/>
                </a:lnTo>
                <a:lnTo>
                  <a:pt x="163401" y="111622"/>
                </a:lnTo>
                <a:lnTo>
                  <a:pt x="166346" y="114976"/>
                </a:lnTo>
                <a:lnTo>
                  <a:pt x="215212" y="143165"/>
                </a:lnTo>
                <a:lnTo>
                  <a:pt x="219936" y="143905"/>
                </a:lnTo>
                <a:lnTo>
                  <a:pt x="223684" y="143165"/>
                </a:lnTo>
                <a:lnTo>
                  <a:pt x="272503" y="115023"/>
                </a:lnTo>
                <a:lnTo>
                  <a:pt x="275479" y="111622"/>
                </a:lnTo>
                <a:lnTo>
                  <a:pt x="276046" y="109259"/>
                </a:lnTo>
                <a:lnTo>
                  <a:pt x="275794" y="106708"/>
                </a:lnTo>
                <a:lnTo>
                  <a:pt x="274472" y="104535"/>
                </a:lnTo>
                <a:lnTo>
                  <a:pt x="270708" y="101590"/>
                </a:lnTo>
                <a:lnTo>
                  <a:pt x="223873" y="74614"/>
                </a:lnTo>
                <a:lnTo>
                  <a:pt x="218960" y="73827"/>
                </a:lnTo>
                <a:close/>
                <a:moveTo>
                  <a:pt x="98283" y="224598"/>
                </a:moveTo>
                <a:lnTo>
                  <a:pt x="93763" y="227039"/>
                </a:lnTo>
                <a:lnTo>
                  <a:pt x="91937" y="231306"/>
                </a:lnTo>
                <a:lnTo>
                  <a:pt x="91905" y="287416"/>
                </a:lnTo>
                <a:lnTo>
                  <a:pt x="93590" y="292723"/>
                </a:lnTo>
                <a:lnTo>
                  <a:pt x="97102" y="295983"/>
                </a:lnTo>
                <a:lnTo>
                  <a:pt x="145952" y="324219"/>
                </a:lnTo>
                <a:lnTo>
                  <a:pt x="151039" y="324172"/>
                </a:lnTo>
                <a:lnTo>
                  <a:pt x="154535" y="321070"/>
                </a:lnTo>
                <a:lnTo>
                  <a:pt x="155763" y="317527"/>
                </a:lnTo>
                <a:lnTo>
                  <a:pt x="155669" y="262015"/>
                </a:lnTo>
                <a:lnTo>
                  <a:pt x="154582" y="257480"/>
                </a:lnTo>
                <a:lnTo>
                  <a:pt x="151842" y="254141"/>
                </a:lnTo>
                <a:lnTo>
                  <a:pt x="103606" y="225984"/>
                </a:lnTo>
                <a:lnTo>
                  <a:pt x="98283" y="224598"/>
                </a:lnTo>
                <a:close/>
                <a:moveTo>
                  <a:pt x="339227" y="224598"/>
                </a:moveTo>
                <a:lnTo>
                  <a:pt x="335495" y="225952"/>
                </a:lnTo>
                <a:lnTo>
                  <a:pt x="287101" y="254141"/>
                </a:lnTo>
                <a:lnTo>
                  <a:pt x="284314" y="257369"/>
                </a:lnTo>
                <a:lnTo>
                  <a:pt x="283196" y="261432"/>
                </a:lnTo>
                <a:lnTo>
                  <a:pt x="283227" y="317527"/>
                </a:lnTo>
                <a:lnTo>
                  <a:pt x="284472" y="321275"/>
                </a:lnTo>
                <a:lnTo>
                  <a:pt x="288046" y="324172"/>
                </a:lnTo>
                <a:lnTo>
                  <a:pt x="291590" y="324487"/>
                </a:lnTo>
                <a:lnTo>
                  <a:pt x="295133" y="322881"/>
                </a:lnTo>
                <a:lnTo>
                  <a:pt x="341637" y="296078"/>
                </a:lnTo>
                <a:lnTo>
                  <a:pt x="345337" y="292613"/>
                </a:lnTo>
                <a:lnTo>
                  <a:pt x="346975" y="287416"/>
                </a:lnTo>
                <a:lnTo>
                  <a:pt x="346928" y="231117"/>
                </a:lnTo>
                <a:lnTo>
                  <a:pt x="345526" y="227574"/>
                </a:lnTo>
                <a:lnTo>
                  <a:pt x="343936" y="225999"/>
                </a:lnTo>
                <a:lnTo>
                  <a:pt x="339227" y="224598"/>
                </a:ln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12" name="!!eyebrow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WHY DIFFERENT</a:t>
            </a:r>
            <a:endParaRPr lang="en-US" sz="1100" dirty="0"/>
          </a:p>
        </p:txBody>
      </p:sp>
      <p:sp>
        <p:nvSpPr>
          <p:cNvPr id="14" name="!!title"/>
          <p:cNvSpPr txBox="1"/>
          <p:nvPr/>
        </p:nvSpPr>
        <p:spPr>
          <a:xfrm>
            <a:off x="548640" y="6858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spc="-50" kern="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Safe by </a:t>
            </a:r>
            <a:pPr indent="0" marL="0">
              <a:buNone/>
            </a:pPr>
            <a:r>
              <a:rPr lang="en-US" sz="3600" spc="-50" kern="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design.</a:t>
            </a:r>
            <a:endParaRPr lang="en-US" sz="3600" dirty="0"/>
          </a:p>
        </p:txBody>
      </p:sp>
      <p:sp>
        <p:nvSpPr>
          <p:cNvPr id="15" name="s3_1"/>
          <p:cNvSpPr/>
          <p:nvPr/>
        </p:nvSpPr>
        <p:spPr>
          <a:xfrm>
            <a:off x="548640" y="1783080"/>
            <a:ext cx="3392424" cy="4480560"/>
          </a:xfrm>
          <a:prstGeom prst="roundRect">
            <a:avLst>
              <a:gd name="adj" fmla="val 4313"/>
            </a:avLst>
          </a:prstGeom>
          <a:solidFill>
            <a:schemeClr val="tx2"/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pic>
        <p:nvPicPr>
          <p:cNvPr id="16" name="s3_2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57400"/>
            <a:ext cx="329184" cy="329184"/>
          </a:xfrm>
          <a:prstGeom prst="rect">
            <a:avLst/>
          </a:prstGeom>
        </p:spPr>
      </p:pic>
      <p:sp>
        <p:nvSpPr>
          <p:cNvPr id="17" name="s3_3"/>
          <p:cNvSpPr txBox="1"/>
          <p:nvPr/>
        </p:nvSpPr>
        <p:spPr>
          <a:xfrm>
            <a:off x="822960" y="2514600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Isolated sandbox execution</a:t>
            </a:r>
            <a:endParaRPr lang="en-US" sz="1600" dirty="0"/>
          </a:p>
        </p:txBody>
      </p:sp>
      <p:sp>
        <p:nvSpPr>
          <p:cNvPr id="18" name="s3_4"/>
          <p:cNvSpPr txBox="1"/>
          <p:nvPr/>
        </p:nvSpPr>
        <p:spPr>
          <a:xfrm>
            <a:off x="822960" y="3081528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AI-generated code  →  isolated environment  →  controlled execution.</a:t>
            </a:r>
            <a:endParaRPr lang="en-US" sz="1250" dirty="0"/>
          </a:p>
        </p:txBody>
      </p:sp>
      <p:sp>
        <p:nvSpPr>
          <p:cNvPr id="19" name="s3_5"/>
          <p:cNvSpPr/>
          <p:nvPr/>
        </p:nvSpPr>
        <p:spPr>
          <a:xfrm>
            <a:off x="4398264" y="1783080"/>
            <a:ext cx="3392424" cy="4480560"/>
          </a:xfrm>
          <a:prstGeom prst="roundRect">
            <a:avLst>
              <a:gd name="adj" fmla="val 4313"/>
            </a:avLst>
          </a:prstGeom>
          <a:solidFill>
            <a:schemeClr val="tx2"/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pic>
        <p:nvPicPr>
          <p:cNvPr id="20" name="s3_6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584" y="2057400"/>
            <a:ext cx="329184" cy="329184"/>
          </a:xfrm>
          <a:prstGeom prst="rect">
            <a:avLst/>
          </a:prstGeom>
        </p:spPr>
      </p:pic>
      <p:sp>
        <p:nvSpPr>
          <p:cNvPr id="21" name="s3_7"/>
          <p:cNvSpPr txBox="1"/>
          <p:nvPr/>
        </p:nvSpPr>
        <p:spPr>
          <a:xfrm>
            <a:off x="4672584" y="2514600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Centralised AI control</a:t>
            </a:r>
            <a:endParaRPr lang="en-US" sz="1600" dirty="0"/>
          </a:p>
        </p:txBody>
      </p:sp>
      <p:sp>
        <p:nvSpPr>
          <p:cNvPr id="22" name="s3_8"/>
          <p:cNvSpPr txBox="1"/>
          <p:nvPr/>
        </p:nvSpPr>
        <p:spPr>
          <a:xfrm>
            <a:off x="4672584" y="3081528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Every action  →  control layer  →  authorization  →  execution.</a:t>
            </a:r>
            <a:endParaRPr lang="en-US" sz="1250" dirty="0"/>
          </a:p>
        </p:txBody>
      </p:sp>
      <p:sp>
        <p:nvSpPr>
          <p:cNvPr id="23" name="s3_9"/>
          <p:cNvSpPr/>
          <p:nvPr/>
        </p:nvSpPr>
        <p:spPr>
          <a:xfrm>
            <a:off x="8247888" y="1783080"/>
            <a:ext cx="3392424" cy="4480560"/>
          </a:xfrm>
          <a:prstGeom prst="roundRect">
            <a:avLst>
              <a:gd name="adj" fmla="val 4313"/>
            </a:avLst>
          </a:prstGeom>
          <a:solidFill>
            <a:schemeClr val="tx2"/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pic>
        <p:nvPicPr>
          <p:cNvPr id="24" name="s3_10" descr="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208" y="2057400"/>
            <a:ext cx="329184" cy="329184"/>
          </a:xfrm>
          <a:prstGeom prst="rect">
            <a:avLst/>
          </a:prstGeom>
        </p:spPr>
      </p:pic>
      <p:sp>
        <p:nvSpPr>
          <p:cNvPr id="25" name="s3_11"/>
          <p:cNvSpPr txBox="1"/>
          <p:nvPr/>
        </p:nvSpPr>
        <p:spPr>
          <a:xfrm>
            <a:off x="8522208" y="2514600"/>
            <a:ext cx="2843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Model-independent architecture</a:t>
            </a:r>
            <a:endParaRPr lang="en-US" sz="1600" dirty="0"/>
          </a:p>
        </p:txBody>
      </p:sp>
      <p:sp>
        <p:nvSpPr>
          <p:cNvPr id="26" name="s3_12"/>
          <p:cNvSpPr txBox="1"/>
          <p:nvPr/>
        </p:nvSpPr>
        <p:spPr>
          <a:xfrm>
            <a:off x="8522208" y="3081528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Runs Qwen, Gemma, Mistral or other open-source models.</a:t>
            </a:r>
            <a:endParaRPr lang="en-US" sz="1250" dirty="0"/>
          </a:p>
        </p:txBody>
      </p:sp>
      <p:sp>
        <p:nvSpPr>
          <p:cNvPr id="27" name="s3_13"/>
          <p:cNvSpPr txBox="1"/>
          <p:nvPr/>
        </p:nvSpPr>
        <p:spPr>
          <a:xfrm>
            <a:off x="822960" y="3794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SANDBOXED EXECUTION</a:t>
            </a:r>
            <a:endParaRPr lang="en-US" sz="1000" dirty="0"/>
          </a:p>
        </p:txBody>
      </p:sp>
      <p:sp>
        <p:nvSpPr>
          <p:cNvPr id="28" name="s3_14"/>
          <p:cNvSpPr/>
          <p:nvPr/>
        </p:nvSpPr>
        <p:spPr>
          <a:xfrm>
            <a:off x="822960" y="4142232"/>
            <a:ext cx="1433779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9" name="s3_15"/>
          <p:cNvSpPr txBox="1"/>
          <p:nvPr/>
        </p:nvSpPr>
        <p:spPr>
          <a:xfrm>
            <a:off x="822960" y="4142232"/>
            <a:ext cx="14337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JetBrains Mono" panose="020B0509030504030204" pitchFamily="49" charset="0"/>
                <a:ea typeface="JetBrains Mono" panose="020B0509030504030204" pitchFamily="49" charset="0"/>
                <a:cs typeface="JetBrains Mono" panose="020B0509030504030204" pitchFamily="49" charset="0"/>
              </a:rPr>
              <a:t>--network none</a:t>
            </a:r>
            <a:endParaRPr lang="en-US" sz="1100" dirty="0"/>
          </a:p>
        </p:txBody>
      </p:sp>
      <p:sp>
        <p:nvSpPr>
          <p:cNvPr id="30" name="s3_16"/>
          <p:cNvSpPr/>
          <p:nvPr/>
        </p:nvSpPr>
        <p:spPr>
          <a:xfrm>
            <a:off x="822960" y="4526280"/>
            <a:ext cx="1181405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31" name="s3_17"/>
          <p:cNvSpPr txBox="1"/>
          <p:nvPr/>
        </p:nvSpPr>
        <p:spPr>
          <a:xfrm>
            <a:off x="822960" y="4526280"/>
            <a:ext cx="11814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JetBrains Mono" panose="020B0509030504030204" pitchFamily="49" charset="0"/>
                <a:ea typeface="JetBrains Mono" panose="020B0509030504030204" pitchFamily="49" charset="0"/>
                <a:cs typeface="JetBrains Mono" panose="020B0509030504030204" pitchFamily="49" charset="0"/>
              </a:rPr>
              <a:t>--read-only</a:t>
            </a:r>
            <a:endParaRPr lang="en-US" sz="1100" dirty="0"/>
          </a:p>
        </p:txBody>
      </p:sp>
      <p:sp>
        <p:nvSpPr>
          <p:cNvPr id="32" name="s3_18"/>
          <p:cNvSpPr/>
          <p:nvPr/>
        </p:nvSpPr>
        <p:spPr>
          <a:xfrm>
            <a:off x="822960" y="4910328"/>
            <a:ext cx="1433779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33" name="s3_19"/>
          <p:cNvSpPr txBox="1"/>
          <p:nvPr/>
        </p:nvSpPr>
        <p:spPr>
          <a:xfrm>
            <a:off x="822960" y="4910328"/>
            <a:ext cx="14337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JetBrains Mono" panose="020B0509030504030204" pitchFamily="49" charset="0"/>
                <a:ea typeface="JetBrains Mono" panose="020B0509030504030204" pitchFamily="49" charset="0"/>
                <a:cs typeface="JetBrains Mono" panose="020B0509030504030204" pitchFamily="49" charset="0"/>
              </a:rPr>
              <a:t>--cap-drop ALL</a:t>
            </a:r>
            <a:endParaRPr lang="en-US" sz="1100" dirty="0"/>
          </a:p>
        </p:txBody>
      </p:sp>
      <p:sp>
        <p:nvSpPr>
          <p:cNvPr id="34" name="s3_20"/>
          <p:cNvSpPr/>
          <p:nvPr/>
        </p:nvSpPr>
        <p:spPr>
          <a:xfrm>
            <a:off x="822960" y="5394960"/>
            <a:ext cx="1265530" cy="292608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35" name="s3_21"/>
          <p:cNvSpPr txBox="1"/>
          <p:nvPr/>
        </p:nvSpPr>
        <p:spPr>
          <a:xfrm>
            <a:off x="822960" y="5394960"/>
            <a:ext cx="12655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JetBrains Mono" panose="020B0509030504030204" pitchFamily="49" charset="0"/>
                <a:ea typeface="JetBrains Mono" panose="020B0509030504030204" pitchFamily="49" charset="0"/>
                <a:cs typeface="JetBrains Mono" panose="020B0509030504030204" pitchFamily="49" charset="0"/>
              </a:rPr>
              <a:t>Exit code: 0</a:t>
            </a:r>
            <a:endParaRPr lang="en-US" sz="1100" dirty="0"/>
          </a:p>
        </p:txBody>
      </p:sp>
      <p:sp>
        <p:nvSpPr>
          <p:cNvPr id="36" name="s3_22"/>
          <p:cNvSpPr txBox="1"/>
          <p:nvPr/>
        </p:nvSpPr>
        <p:spPr>
          <a:xfrm>
            <a:off x="4672584" y="3794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EVERY ACTION, IN ORDER</a:t>
            </a:r>
            <a:endParaRPr lang="en-US" sz="1000" dirty="0"/>
          </a:p>
        </p:txBody>
      </p:sp>
      <p:sp>
        <p:nvSpPr>
          <p:cNvPr id="37" name="s3_23"/>
          <p:cNvSpPr/>
          <p:nvPr/>
        </p:nvSpPr>
        <p:spPr>
          <a:xfrm>
            <a:off x="4818888" y="4251960"/>
            <a:ext cx="482346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38" name="s3_24"/>
          <p:cNvSpPr/>
          <p:nvPr/>
        </p:nvSpPr>
        <p:spPr>
          <a:xfrm>
            <a:off x="4672584" y="4178808"/>
            <a:ext cx="146304" cy="146304"/>
          </a:xfrm>
          <a:prstGeom prst="ellipse">
            <a:avLst/>
          </a:prstGeom>
          <a:noFill/>
          <a:ln w="15875">
            <a:solidFill>
              <a:schemeClr val="bg1"/>
            </a:solidFill>
            <a:prstDash val="solid"/>
          </a:ln>
        </p:spPr>
      </p:sp>
      <p:sp>
        <p:nvSpPr>
          <p:cNvPr id="39" name="s3_25"/>
          <p:cNvSpPr txBox="1"/>
          <p:nvPr/>
        </p:nvSpPr>
        <p:spPr>
          <a:xfrm>
            <a:off x="4672584" y="441655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bg1"/>
                </a:solidFill>
              </a:rPr>
              <a:t>TONY</a:t>
            </a:r>
            <a:endParaRPr lang="en-US" sz="950" dirty="0"/>
          </a:p>
        </p:txBody>
      </p:sp>
      <p:sp>
        <p:nvSpPr>
          <p:cNvPr id="40" name="s3_26"/>
          <p:cNvSpPr/>
          <p:nvPr/>
        </p:nvSpPr>
        <p:spPr>
          <a:xfrm>
            <a:off x="5447538" y="4251960"/>
            <a:ext cx="482346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41" name="s3_27"/>
          <p:cNvSpPr/>
          <p:nvPr/>
        </p:nvSpPr>
        <p:spPr>
          <a:xfrm>
            <a:off x="5301234" y="4178808"/>
            <a:ext cx="146304" cy="146304"/>
          </a:xfrm>
          <a:prstGeom prst="ellipse">
            <a:avLst/>
          </a:prstGeom>
          <a:noFill/>
          <a:ln w="15875">
            <a:solidFill>
              <a:schemeClr val="bg1"/>
            </a:solidFill>
            <a:prstDash val="solid"/>
          </a:ln>
        </p:spPr>
      </p:sp>
      <p:sp>
        <p:nvSpPr>
          <p:cNvPr id="42" name="s3_28"/>
          <p:cNvSpPr txBox="1"/>
          <p:nvPr/>
        </p:nvSpPr>
        <p:spPr>
          <a:xfrm>
            <a:off x="5301234" y="441655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bg1"/>
                </a:solidFill>
              </a:rPr>
              <a:t>FRIDAY</a:t>
            </a:r>
            <a:endParaRPr lang="en-US" sz="950" dirty="0"/>
          </a:p>
        </p:txBody>
      </p:sp>
      <p:sp>
        <p:nvSpPr>
          <p:cNvPr id="43" name="s3_29"/>
          <p:cNvSpPr/>
          <p:nvPr/>
        </p:nvSpPr>
        <p:spPr>
          <a:xfrm>
            <a:off x="6076188" y="4251960"/>
            <a:ext cx="482346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44" name="s3_30"/>
          <p:cNvSpPr/>
          <p:nvPr/>
        </p:nvSpPr>
        <p:spPr>
          <a:xfrm>
            <a:off x="5929884" y="4178808"/>
            <a:ext cx="146304" cy="146304"/>
          </a:xfrm>
          <a:prstGeom prst="ellipse">
            <a:avLst/>
          </a:prstGeom>
          <a:noFill/>
          <a:ln w="15875">
            <a:solidFill>
              <a:schemeClr val="bg1"/>
            </a:solidFill>
            <a:prstDash val="solid"/>
          </a:ln>
        </p:spPr>
      </p:sp>
      <p:sp>
        <p:nvSpPr>
          <p:cNvPr id="45" name="s3_31"/>
          <p:cNvSpPr txBox="1"/>
          <p:nvPr/>
        </p:nvSpPr>
        <p:spPr>
          <a:xfrm>
            <a:off x="5929884" y="441655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bg1"/>
                </a:solidFill>
              </a:rPr>
              <a:t>JARVIS</a:t>
            </a:r>
            <a:endParaRPr lang="en-US" sz="950" dirty="0"/>
          </a:p>
        </p:txBody>
      </p:sp>
      <p:sp>
        <p:nvSpPr>
          <p:cNvPr id="46" name="s3_32"/>
          <p:cNvSpPr/>
          <p:nvPr/>
        </p:nvSpPr>
        <p:spPr>
          <a:xfrm>
            <a:off x="6704838" y="4251960"/>
            <a:ext cx="482346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47" name="s3_33"/>
          <p:cNvSpPr/>
          <p:nvPr/>
        </p:nvSpPr>
        <p:spPr>
          <a:xfrm>
            <a:off x="6558534" y="4178808"/>
            <a:ext cx="146304" cy="146304"/>
          </a:xfrm>
          <a:prstGeom prst="ellipse">
            <a:avLst/>
          </a:prstGeom>
          <a:noFill/>
          <a:ln w="15875">
            <a:solidFill>
              <a:schemeClr val="bg1"/>
            </a:solidFill>
            <a:prstDash val="solid"/>
          </a:ln>
        </p:spPr>
      </p:sp>
      <p:sp>
        <p:nvSpPr>
          <p:cNvPr id="48" name="s3_34"/>
          <p:cNvSpPr txBox="1"/>
          <p:nvPr/>
        </p:nvSpPr>
        <p:spPr>
          <a:xfrm>
            <a:off x="6558534" y="441655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bg1"/>
                </a:solidFill>
              </a:rPr>
              <a:t>ULTRON</a:t>
            </a:r>
            <a:endParaRPr lang="en-US" sz="950" dirty="0"/>
          </a:p>
        </p:txBody>
      </p:sp>
      <p:sp>
        <p:nvSpPr>
          <p:cNvPr id="49" name="s3_35"/>
          <p:cNvSpPr/>
          <p:nvPr/>
        </p:nvSpPr>
        <p:spPr>
          <a:xfrm>
            <a:off x="7187184" y="4178808"/>
            <a:ext cx="146304" cy="146304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0" name="s3_36"/>
          <p:cNvSpPr txBox="1"/>
          <p:nvPr/>
        </p:nvSpPr>
        <p:spPr>
          <a:xfrm>
            <a:off x="7187184" y="441655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chemeClr val="accent2"/>
                </a:solidFill>
              </a:rPr>
              <a:t>YOU</a:t>
            </a:r>
            <a:endParaRPr lang="en-US" sz="950" dirty="0"/>
          </a:p>
        </p:txBody>
      </p:sp>
      <p:sp>
        <p:nvSpPr>
          <p:cNvPr id="51" name="s3_37"/>
          <p:cNvSpPr/>
          <p:nvPr/>
        </p:nvSpPr>
        <p:spPr>
          <a:xfrm>
            <a:off x="4672584" y="4892040"/>
            <a:ext cx="132588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52" name="s3_38"/>
          <p:cNvSpPr txBox="1"/>
          <p:nvPr/>
        </p:nvSpPr>
        <p:spPr>
          <a:xfrm>
            <a:off x="4809744" y="48920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Type approve</a:t>
            </a:r>
            <a:endParaRPr lang="en-US" sz="1050" dirty="0"/>
          </a:p>
        </p:txBody>
      </p:sp>
      <p:sp>
        <p:nvSpPr>
          <p:cNvPr id="53" name="s3_39"/>
          <p:cNvSpPr txBox="1"/>
          <p:nvPr/>
        </p:nvSpPr>
        <p:spPr>
          <a:xfrm>
            <a:off x="6089904" y="489204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Withhold</a:t>
            </a:r>
            <a:endParaRPr lang="en-US" sz="1050" dirty="0"/>
          </a:p>
        </p:txBody>
      </p:sp>
      <p:sp>
        <p:nvSpPr>
          <p:cNvPr id="54" name="s3_40"/>
          <p:cNvSpPr/>
          <p:nvPr/>
        </p:nvSpPr>
        <p:spPr>
          <a:xfrm>
            <a:off x="6775704" y="4892040"/>
            <a:ext cx="740664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55" name="s3_41"/>
          <p:cNvSpPr txBox="1"/>
          <p:nvPr/>
        </p:nvSpPr>
        <p:spPr>
          <a:xfrm>
            <a:off x="6775704" y="4892040"/>
            <a:ext cx="740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Approve</a:t>
            </a:r>
            <a:endParaRPr lang="en-US" sz="1150" dirty="0"/>
          </a:p>
        </p:txBody>
      </p:sp>
      <p:sp>
        <p:nvSpPr>
          <p:cNvPr id="56" name="s3_42"/>
          <p:cNvSpPr txBox="1"/>
          <p:nvPr/>
        </p:nvSpPr>
        <p:spPr>
          <a:xfrm>
            <a:off x="4672584" y="53949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2"/>
                </a:solidFill>
              </a:rPr>
              <a:t>Sensitive actions  →  mandatory human approval</a:t>
            </a:r>
            <a:endParaRPr lang="en-US" sz="1150" dirty="0"/>
          </a:p>
        </p:txBody>
      </p:sp>
      <p:sp>
        <p:nvSpPr>
          <p:cNvPr id="57" name="s3_43"/>
          <p:cNvSpPr/>
          <p:nvPr/>
        </p:nvSpPr>
        <p:spPr>
          <a:xfrm>
            <a:off x="8522208" y="3749040"/>
            <a:ext cx="2843784" cy="347472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58" name="s3_44"/>
          <p:cNvSpPr txBox="1"/>
          <p:nvPr/>
        </p:nvSpPr>
        <p:spPr>
          <a:xfrm>
            <a:off x="8686800" y="3749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4CE / TONY (Orchestrator)</a:t>
            </a:r>
            <a:endParaRPr lang="en-US" sz="1100" dirty="0"/>
          </a:p>
        </p:txBody>
      </p:sp>
      <p:pic>
        <p:nvPicPr>
          <p:cNvPr id="59" name="s3_45" descr="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2528" y="3831336"/>
            <a:ext cx="182880" cy="182880"/>
          </a:xfrm>
          <a:prstGeom prst="rect">
            <a:avLst/>
          </a:prstGeom>
        </p:spPr>
      </p:pic>
      <p:sp>
        <p:nvSpPr>
          <p:cNvPr id="60" name="s3_46"/>
          <p:cNvSpPr/>
          <p:nvPr/>
        </p:nvSpPr>
        <p:spPr>
          <a:xfrm>
            <a:off x="8522208" y="4187952"/>
            <a:ext cx="2843784" cy="1325880"/>
          </a:xfrm>
          <a:prstGeom prst="roundRect">
            <a:avLst>
              <a:gd name="adj" fmla="val 8276"/>
            </a:avLst>
          </a:prstGeom>
          <a:solidFill>
            <a:schemeClr val="tx1"/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61" name="s3_47"/>
          <p:cNvSpPr txBox="1"/>
          <p:nvPr/>
        </p:nvSpPr>
        <p:spPr>
          <a:xfrm>
            <a:off x="8705088" y="42702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Qwen</a:t>
            </a:r>
            <a:endParaRPr lang="en-US" sz="1150" dirty="0"/>
          </a:p>
        </p:txBody>
      </p:sp>
      <p:pic>
        <p:nvPicPr>
          <p:cNvPr id="62" name="s3_48" descr="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36808" y="4325112"/>
            <a:ext cx="182880" cy="182880"/>
          </a:xfrm>
          <a:prstGeom prst="rect">
            <a:avLst/>
          </a:prstGeom>
        </p:spPr>
      </p:pic>
      <p:sp>
        <p:nvSpPr>
          <p:cNvPr id="63" name="s3_49"/>
          <p:cNvSpPr txBox="1"/>
          <p:nvPr/>
        </p:nvSpPr>
        <p:spPr>
          <a:xfrm>
            <a:off x="8705088" y="45628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Gemma</a:t>
            </a:r>
            <a:endParaRPr lang="en-US" sz="1150" dirty="0"/>
          </a:p>
        </p:txBody>
      </p:sp>
      <p:sp>
        <p:nvSpPr>
          <p:cNvPr id="64" name="s3_50"/>
          <p:cNvSpPr txBox="1"/>
          <p:nvPr/>
        </p:nvSpPr>
        <p:spPr>
          <a:xfrm>
            <a:off x="8705088" y="48554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Mistral</a:t>
            </a:r>
            <a:endParaRPr lang="en-US" sz="1150" dirty="0"/>
          </a:p>
        </p:txBody>
      </p:sp>
      <p:sp>
        <p:nvSpPr>
          <p:cNvPr id="65" name="s3_51"/>
          <p:cNvSpPr txBox="1"/>
          <p:nvPr/>
        </p:nvSpPr>
        <p:spPr>
          <a:xfrm>
            <a:off x="8705088" y="5148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Other open-source models</a:t>
            </a:r>
            <a:endParaRPr lang="en-US" sz="1150" dirty="0"/>
          </a:p>
        </p:txBody>
      </p:sp>
      <p:sp>
        <p:nvSpPr>
          <p:cNvPr id="66" name="s3_52"/>
          <p:cNvSpPr txBox="1"/>
          <p:nvPr/>
        </p:nvSpPr>
        <p:spPr>
          <a:xfrm>
            <a:off x="8522208" y="5605272"/>
            <a:ext cx="2843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Change the model, not the architecture.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3474720"/>
            <a:ext cx="6858000" cy="6858000"/>
          </a:xfrm>
          <a:prstGeom prst="rect">
            <a:avLst/>
          </a:prstGeom>
        </p:spPr>
      </p:pic>
      <p:sp>
        <p:nvSpPr>
          <p:cNvPr id="3" name="!!canvas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" name="!!px1"/>
          <p:cNvSpPr/>
          <p:nvPr/>
        </p:nvSpPr>
        <p:spPr>
          <a:xfrm>
            <a:off x="10316963" y="1261955"/>
            <a:ext cx="128016" cy="2560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!!px2"/>
          <p:cNvSpPr/>
          <p:nvPr/>
        </p:nvSpPr>
        <p:spPr>
          <a:xfrm>
            <a:off x="10090619" y="868767"/>
            <a:ext cx="256032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!!px3"/>
          <p:cNvSpPr/>
          <p:nvPr/>
        </p:nvSpPr>
        <p:spPr>
          <a:xfrm>
            <a:off x="9324871" y="1143634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!!px4"/>
          <p:cNvSpPr/>
          <p:nvPr/>
        </p:nvSpPr>
        <p:spPr>
          <a:xfrm>
            <a:off x="9055564" y="741845"/>
            <a:ext cx="128016" cy="2560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!!px5"/>
          <p:cNvSpPr/>
          <p:nvPr/>
        </p:nvSpPr>
        <p:spPr>
          <a:xfrm>
            <a:off x="8571128" y="885707"/>
            <a:ext cx="256032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!!px6"/>
          <p:cNvSpPr/>
          <p:nvPr/>
        </p:nvSpPr>
        <p:spPr>
          <a:xfrm>
            <a:off x="9914977" y="619528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!!px7"/>
          <p:cNvSpPr/>
          <p:nvPr/>
        </p:nvSpPr>
        <p:spPr>
          <a:xfrm>
            <a:off x="8911197" y="445347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!!mark"/>
          <p:cNvSpPr/>
          <p:nvPr/>
        </p:nvSpPr>
        <p:spPr>
          <a:xfrm rot="14400000">
            <a:off x="11201400" y="548640"/>
            <a:ext cx="438912" cy="438912"/>
          </a:xfrm>
          <a:custGeom>
            <a:avLst/>
            <a:gdLst/>
            <a:ahLst/>
            <a:cxnLst/>
            <a:rect l="l" t="t" r="r" b="b"/>
            <a:pathLst>
              <a:path w="438912" h="438912">
                <a:moveTo>
                  <a:pt x="218362" y="0"/>
                </a:moveTo>
                <a:lnTo>
                  <a:pt x="212267" y="2268"/>
                </a:lnTo>
                <a:lnTo>
                  <a:pt x="160755" y="32094"/>
                </a:lnTo>
                <a:lnTo>
                  <a:pt x="156866" y="36031"/>
                </a:lnTo>
                <a:lnTo>
                  <a:pt x="155574" y="41149"/>
                </a:lnTo>
                <a:lnTo>
                  <a:pt x="155716" y="95874"/>
                </a:lnTo>
                <a:lnTo>
                  <a:pt x="154551" y="100204"/>
                </a:lnTo>
                <a:lnTo>
                  <a:pt x="152614" y="102204"/>
                </a:lnTo>
                <a:lnTo>
                  <a:pt x="148881" y="103763"/>
                </a:lnTo>
                <a:lnTo>
                  <a:pt x="144551" y="102409"/>
                </a:lnTo>
                <a:lnTo>
                  <a:pt x="96677" y="74614"/>
                </a:lnTo>
                <a:lnTo>
                  <a:pt x="91401" y="73685"/>
                </a:lnTo>
                <a:lnTo>
                  <a:pt x="87071" y="74614"/>
                </a:lnTo>
                <a:lnTo>
                  <a:pt x="32535" y="106189"/>
                </a:lnTo>
                <a:lnTo>
                  <a:pt x="29197" y="109937"/>
                </a:lnTo>
                <a:lnTo>
                  <a:pt x="28110" y="113401"/>
                </a:lnTo>
                <a:lnTo>
                  <a:pt x="28079" y="175999"/>
                </a:lnTo>
                <a:lnTo>
                  <a:pt x="28992" y="181118"/>
                </a:lnTo>
                <a:lnTo>
                  <a:pt x="33323" y="185716"/>
                </a:lnTo>
                <a:lnTo>
                  <a:pt x="81212" y="213196"/>
                </a:lnTo>
                <a:lnTo>
                  <a:pt x="83716" y="215653"/>
                </a:lnTo>
                <a:lnTo>
                  <a:pt x="84441" y="219306"/>
                </a:lnTo>
                <a:lnTo>
                  <a:pt x="83732" y="222850"/>
                </a:lnTo>
                <a:lnTo>
                  <a:pt x="81748" y="225086"/>
                </a:lnTo>
                <a:lnTo>
                  <a:pt x="33716" y="252708"/>
                </a:lnTo>
                <a:lnTo>
                  <a:pt x="29102" y="257291"/>
                </a:lnTo>
                <a:lnTo>
                  <a:pt x="28031" y="262802"/>
                </a:lnTo>
                <a:lnTo>
                  <a:pt x="28079" y="325007"/>
                </a:lnTo>
                <a:lnTo>
                  <a:pt x="30535" y="330723"/>
                </a:lnTo>
                <a:lnTo>
                  <a:pt x="34709" y="333794"/>
                </a:lnTo>
                <a:lnTo>
                  <a:pt x="86472" y="363715"/>
                </a:lnTo>
                <a:lnTo>
                  <a:pt x="91401" y="365148"/>
                </a:lnTo>
                <a:lnTo>
                  <a:pt x="97496" y="363637"/>
                </a:lnTo>
                <a:lnTo>
                  <a:pt x="144740" y="336062"/>
                </a:lnTo>
                <a:lnTo>
                  <a:pt x="148677" y="335180"/>
                </a:lnTo>
                <a:lnTo>
                  <a:pt x="152000" y="336030"/>
                </a:lnTo>
                <a:lnTo>
                  <a:pt x="154551" y="338393"/>
                </a:lnTo>
                <a:lnTo>
                  <a:pt x="155637" y="342534"/>
                </a:lnTo>
                <a:lnTo>
                  <a:pt x="155590" y="397448"/>
                </a:lnTo>
                <a:lnTo>
                  <a:pt x="156944" y="402865"/>
                </a:lnTo>
                <a:lnTo>
                  <a:pt x="162661" y="407762"/>
                </a:lnTo>
                <a:lnTo>
                  <a:pt x="214944" y="437810"/>
                </a:lnTo>
                <a:lnTo>
                  <a:pt x="219543" y="438912"/>
                </a:lnTo>
                <a:lnTo>
                  <a:pt x="226834" y="436251"/>
                </a:lnTo>
                <a:lnTo>
                  <a:pt x="278991" y="405999"/>
                </a:lnTo>
                <a:lnTo>
                  <a:pt x="281952" y="402818"/>
                </a:lnTo>
                <a:lnTo>
                  <a:pt x="283322" y="397259"/>
                </a:lnTo>
                <a:lnTo>
                  <a:pt x="283227" y="342723"/>
                </a:lnTo>
                <a:lnTo>
                  <a:pt x="284472" y="338204"/>
                </a:lnTo>
                <a:lnTo>
                  <a:pt x="286912" y="336030"/>
                </a:lnTo>
                <a:lnTo>
                  <a:pt x="290015" y="335117"/>
                </a:lnTo>
                <a:lnTo>
                  <a:pt x="294157" y="336046"/>
                </a:lnTo>
                <a:lnTo>
                  <a:pt x="341400" y="363621"/>
                </a:lnTo>
                <a:lnTo>
                  <a:pt x="347495" y="365148"/>
                </a:lnTo>
                <a:lnTo>
                  <a:pt x="352613" y="363605"/>
                </a:lnTo>
                <a:lnTo>
                  <a:pt x="406550" y="332345"/>
                </a:lnTo>
                <a:lnTo>
                  <a:pt x="409699" y="328755"/>
                </a:lnTo>
                <a:lnTo>
                  <a:pt x="410833" y="325007"/>
                </a:lnTo>
                <a:lnTo>
                  <a:pt x="410881" y="262613"/>
                </a:lnTo>
                <a:lnTo>
                  <a:pt x="409857" y="257495"/>
                </a:lnTo>
                <a:lnTo>
                  <a:pt x="405180" y="252708"/>
                </a:lnTo>
                <a:lnTo>
                  <a:pt x="357148" y="225070"/>
                </a:lnTo>
                <a:lnTo>
                  <a:pt x="355180" y="222991"/>
                </a:lnTo>
                <a:lnTo>
                  <a:pt x="354440" y="219102"/>
                </a:lnTo>
                <a:lnTo>
                  <a:pt x="355274" y="215369"/>
                </a:lnTo>
                <a:lnTo>
                  <a:pt x="357715" y="213196"/>
                </a:lnTo>
                <a:lnTo>
                  <a:pt x="405369" y="185826"/>
                </a:lnTo>
                <a:lnTo>
                  <a:pt x="409699" y="181511"/>
                </a:lnTo>
                <a:lnTo>
                  <a:pt x="410786" y="177370"/>
                </a:lnTo>
                <a:lnTo>
                  <a:pt x="410786" y="113401"/>
                </a:lnTo>
                <a:lnTo>
                  <a:pt x="409699" y="109968"/>
                </a:lnTo>
                <a:lnTo>
                  <a:pt x="406345" y="106110"/>
                </a:lnTo>
                <a:lnTo>
                  <a:pt x="351826" y="74598"/>
                </a:lnTo>
                <a:lnTo>
                  <a:pt x="347495" y="73701"/>
                </a:lnTo>
                <a:lnTo>
                  <a:pt x="342188" y="74614"/>
                </a:lnTo>
                <a:lnTo>
                  <a:pt x="294346" y="102393"/>
                </a:lnTo>
                <a:lnTo>
                  <a:pt x="290220" y="103763"/>
                </a:lnTo>
                <a:lnTo>
                  <a:pt x="286283" y="102236"/>
                </a:lnTo>
                <a:lnTo>
                  <a:pt x="284078" y="99622"/>
                </a:lnTo>
                <a:lnTo>
                  <a:pt x="283212" y="95480"/>
                </a:lnTo>
                <a:lnTo>
                  <a:pt x="283306" y="40961"/>
                </a:lnTo>
                <a:lnTo>
                  <a:pt x="281952" y="35779"/>
                </a:lnTo>
                <a:lnTo>
                  <a:pt x="277810" y="31937"/>
                </a:lnTo>
                <a:lnTo>
                  <a:pt x="226629" y="2252"/>
                </a:lnTo>
                <a:lnTo>
                  <a:pt x="223086" y="472"/>
                </a:lnTo>
                <a:lnTo>
                  <a:pt x="218362" y="0"/>
                </a:lnTo>
                <a:close/>
                <a:moveTo>
                  <a:pt x="218362" y="147228"/>
                </a:moveTo>
                <a:lnTo>
                  <a:pt x="214236" y="148724"/>
                </a:lnTo>
                <a:lnTo>
                  <a:pt x="159889" y="180125"/>
                </a:lnTo>
                <a:lnTo>
                  <a:pt x="156834" y="183480"/>
                </a:lnTo>
                <a:lnTo>
                  <a:pt x="155763" y="188787"/>
                </a:lnTo>
                <a:lnTo>
                  <a:pt x="155732" y="243905"/>
                </a:lnTo>
                <a:lnTo>
                  <a:pt x="156251" y="253354"/>
                </a:lnTo>
                <a:lnTo>
                  <a:pt x="159700" y="258314"/>
                </a:lnTo>
                <a:lnTo>
                  <a:pt x="213637" y="289621"/>
                </a:lnTo>
                <a:lnTo>
                  <a:pt x="219747" y="291527"/>
                </a:lnTo>
                <a:lnTo>
                  <a:pt x="225259" y="289621"/>
                </a:lnTo>
                <a:lnTo>
                  <a:pt x="279196" y="258298"/>
                </a:lnTo>
                <a:lnTo>
                  <a:pt x="282078" y="254928"/>
                </a:lnTo>
                <a:lnTo>
                  <a:pt x="283117" y="249417"/>
                </a:lnTo>
                <a:lnTo>
                  <a:pt x="283117" y="188992"/>
                </a:lnTo>
                <a:lnTo>
                  <a:pt x="282141" y="183716"/>
                </a:lnTo>
                <a:lnTo>
                  <a:pt x="278991" y="180125"/>
                </a:lnTo>
                <a:lnTo>
                  <a:pt x="224487" y="148629"/>
                </a:lnTo>
                <a:lnTo>
                  <a:pt x="218362" y="147228"/>
                </a:lnTo>
                <a:close/>
                <a:moveTo>
                  <a:pt x="218960" y="73827"/>
                </a:moveTo>
                <a:lnTo>
                  <a:pt x="215023" y="74598"/>
                </a:lnTo>
                <a:lnTo>
                  <a:pt x="168141" y="101590"/>
                </a:lnTo>
                <a:lnTo>
                  <a:pt x="164425" y="104535"/>
                </a:lnTo>
                <a:lnTo>
                  <a:pt x="163102" y="106708"/>
                </a:lnTo>
                <a:lnTo>
                  <a:pt x="162834" y="109259"/>
                </a:lnTo>
                <a:lnTo>
                  <a:pt x="163401" y="111622"/>
                </a:lnTo>
                <a:lnTo>
                  <a:pt x="166346" y="114976"/>
                </a:lnTo>
                <a:lnTo>
                  <a:pt x="215212" y="143165"/>
                </a:lnTo>
                <a:lnTo>
                  <a:pt x="219936" y="143905"/>
                </a:lnTo>
                <a:lnTo>
                  <a:pt x="223684" y="143165"/>
                </a:lnTo>
                <a:lnTo>
                  <a:pt x="272503" y="115023"/>
                </a:lnTo>
                <a:lnTo>
                  <a:pt x="275479" y="111622"/>
                </a:lnTo>
                <a:lnTo>
                  <a:pt x="276046" y="109259"/>
                </a:lnTo>
                <a:lnTo>
                  <a:pt x="275794" y="106708"/>
                </a:lnTo>
                <a:lnTo>
                  <a:pt x="274472" y="104535"/>
                </a:lnTo>
                <a:lnTo>
                  <a:pt x="270708" y="101590"/>
                </a:lnTo>
                <a:lnTo>
                  <a:pt x="223873" y="74614"/>
                </a:lnTo>
                <a:lnTo>
                  <a:pt x="218960" y="73827"/>
                </a:lnTo>
                <a:close/>
                <a:moveTo>
                  <a:pt x="98283" y="224598"/>
                </a:moveTo>
                <a:lnTo>
                  <a:pt x="93763" y="227039"/>
                </a:lnTo>
                <a:lnTo>
                  <a:pt x="91937" y="231306"/>
                </a:lnTo>
                <a:lnTo>
                  <a:pt x="91905" y="287416"/>
                </a:lnTo>
                <a:lnTo>
                  <a:pt x="93590" y="292723"/>
                </a:lnTo>
                <a:lnTo>
                  <a:pt x="97102" y="295983"/>
                </a:lnTo>
                <a:lnTo>
                  <a:pt x="145952" y="324219"/>
                </a:lnTo>
                <a:lnTo>
                  <a:pt x="151039" y="324172"/>
                </a:lnTo>
                <a:lnTo>
                  <a:pt x="154535" y="321070"/>
                </a:lnTo>
                <a:lnTo>
                  <a:pt x="155763" y="317527"/>
                </a:lnTo>
                <a:lnTo>
                  <a:pt x="155669" y="262015"/>
                </a:lnTo>
                <a:lnTo>
                  <a:pt x="154582" y="257480"/>
                </a:lnTo>
                <a:lnTo>
                  <a:pt x="151842" y="254141"/>
                </a:lnTo>
                <a:lnTo>
                  <a:pt x="103606" y="225984"/>
                </a:lnTo>
                <a:lnTo>
                  <a:pt x="98283" y="224598"/>
                </a:lnTo>
                <a:close/>
                <a:moveTo>
                  <a:pt x="339227" y="224598"/>
                </a:moveTo>
                <a:lnTo>
                  <a:pt x="335495" y="225952"/>
                </a:lnTo>
                <a:lnTo>
                  <a:pt x="287101" y="254141"/>
                </a:lnTo>
                <a:lnTo>
                  <a:pt x="284314" y="257369"/>
                </a:lnTo>
                <a:lnTo>
                  <a:pt x="283196" y="261432"/>
                </a:lnTo>
                <a:lnTo>
                  <a:pt x="283227" y="317527"/>
                </a:lnTo>
                <a:lnTo>
                  <a:pt x="284472" y="321275"/>
                </a:lnTo>
                <a:lnTo>
                  <a:pt x="288046" y="324172"/>
                </a:lnTo>
                <a:lnTo>
                  <a:pt x="291590" y="324487"/>
                </a:lnTo>
                <a:lnTo>
                  <a:pt x="295133" y="322881"/>
                </a:lnTo>
                <a:lnTo>
                  <a:pt x="341637" y="296078"/>
                </a:lnTo>
                <a:lnTo>
                  <a:pt x="345337" y="292613"/>
                </a:lnTo>
                <a:lnTo>
                  <a:pt x="346975" y="287416"/>
                </a:lnTo>
                <a:lnTo>
                  <a:pt x="346928" y="231117"/>
                </a:lnTo>
                <a:lnTo>
                  <a:pt x="345526" y="227574"/>
                </a:lnTo>
                <a:lnTo>
                  <a:pt x="343936" y="225999"/>
                </a:lnTo>
                <a:lnTo>
                  <a:pt x="339227" y="224598"/>
                </a:lnTo>
                <a:close/>
              </a:path>
            </a:pathLst>
          </a:custGeom>
          <a:solidFill>
            <a:schemeClr val="tx1"/>
          </a:solidFill>
          <a:ln/>
        </p:spPr>
      </p:sp>
      <p:sp>
        <p:nvSpPr>
          <p:cNvPr id="12" name="!!eyebrow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TECHNICAL APPROACH</a:t>
            </a:r>
            <a:endParaRPr lang="en-US" sz="1100" dirty="0"/>
          </a:p>
        </p:txBody>
      </p:sp>
      <p:sp>
        <p:nvSpPr>
          <p:cNvPr id="14" name="!!title"/>
          <p:cNvSpPr txBox="1"/>
          <p:nvPr/>
        </p:nvSpPr>
        <p:spPr>
          <a:xfrm>
            <a:off x="548640" y="6858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spc="-50" kern="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Built on an open, </a:t>
            </a:r>
            <a:pPr indent="0" marL="0">
              <a:buNone/>
            </a:pPr>
            <a:r>
              <a:rPr lang="en-US" sz="3600" spc="-5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local stack.</a:t>
            </a:r>
            <a:endParaRPr lang="en-US" sz="3600" dirty="0"/>
          </a:p>
        </p:txBody>
      </p:sp>
      <p:sp>
        <p:nvSpPr>
          <p:cNvPr id="15" name="s4_1"/>
          <p:cNvSpPr/>
          <p:nvPr/>
        </p:nvSpPr>
        <p:spPr>
          <a:xfrm>
            <a:off x="548640" y="1783080"/>
            <a:ext cx="7589520" cy="4480560"/>
          </a:xfrm>
          <a:prstGeom prst="roundRect">
            <a:avLst>
              <a:gd name="adj" fmla="val 3265"/>
            </a:avLst>
          </a:prstGeom>
          <a:solidFill>
            <a:schemeClr val="tx1"/>
          </a:solidFill>
          <a:ln/>
          <a:effectLst>
            <a:outerShdw sx="100000" sy="100000" kx="0" ky="0" algn="bl" rotWithShape="0" blurRad="304800" dist="101600" dir="5400000">
              <a:srgbClr val="000000">
                <a:alpha val="18000"/>
              </a:srgbClr>
            </a:outerShdw>
          </a:effectLst>
        </p:spPr>
      </p:sp>
      <p:sp>
        <p:nvSpPr>
          <p:cNvPr id="16" name="s4_2"/>
          <p:cNvSpPr txBox="1"/>
          <p:nvPr/>
        </p:nvSpPr>
        <p:spPr>
          <a:xfrm>
            <a:off x="822960" y="2011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Tech stack</a:t>
            </a:r>
            <a:endParaRPr lang="en-US" sz="1300" dirty="0"/>
          </a:p>
        </p:txBody>
      </p:sp>
      <p:sp>
        <p:nvSpPr>
          <p:cNvPr id="17" name="s4_3"/>
          <p:cNvSpPr txBox="1"/>
          <p:nvPr/>
        </p:nvSpPr>
        <p:spPr>
          <a:xfrm>
            <a:off x="822960" y="24963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Language &amp; runtime</a:t>
            </a:r>
            <a:endParaRPr lang="en-US" sz="1200" dirty="0"/>
          </a:p>
        </p:txBody>
      </p:sp>
      <p:sp>
        <p:nvSpPr>
          <p:cNvPr id="18" name="s4_4"/>
          <p:cNvSpPr/>
          <p:nvPr/>
        </p:nvSpPr>
        <p:spPr>
          <a:xfrm>
            <a:off x="2606040" y="2496312"/>
            <a:ext cx="683971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9" name="s4_5"/>
          <p:cNvSpPr txBox="1"/>
          <p:nvPr/>
        </p:nvSpPr>
        <p:spPr>
          <a:xfrm>
            <a:off x="2606040" y="2496312"/>
            <a:ext cx="6839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Python</a:t>
            </a:r>
            <a:endParaRPr lang="en-US" sz="1100" dirty="0"/>
          </a:p>
        </p:txBody>
      </p:sp>
      <p:sp>
        <p:nvSpPr>
          <p:cNvPr id="20" name="s4_6"/>
          <p:cNvSpPr/>
          <p:nvPr/>
        </p:nvSpPr>
        <p:spPr>
          <a:xfrm>
            <a:off x="3381451" y="2496312"/>
            <a:ext cx="541325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1" name="s4_7"/>
          <p:cNvSpPr txBox="1"/>
          <p:nvPr/>
        </p:nvSpPr>
        <p:spPr>
          <a:xfrm>
            <a:off x="3381451" y="2496312"/>
            <a:ext cx="54132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Bash</a:t>
            </a:r>
            <a:endParaRPr lang="en-US" sz="1100" dirty="0"/>
          </a:p>
        </p:txBody>
      </p:sp>
      <p:sp>
        <p:nvSpPr>
          <p:cNvPr id="22" name="s4_8"/>
          <p:cNvSpPr txBox="1"/>
          <p:nvPr/>
        </p:nvSpPr>
        <p:spPr>
          <a:xfrm>
            <a:off x="822960" y="302666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Application platform</a:t>
            </a:r>
            <a:endParaRPr lang="en-US" sz="1200" dirty="0"/>
          </a:p>
        </p:txBody>
      </p:sp>
      <p:sp>
        <p:nvSpPr>
          <p:cNvPr id="23" name="s4_9"/>
          <p:cNvSpPr/>
          <p:nvPr/>
        </p:nvSpPr>
        <p:spPr>
          <a:xfrm>
            <a:off x="2606040" y="3026664"/>
            <a:ext cx="755294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4" name="s4_10"/>
          <p:cNvSpPr txBox="1"/>
          <p:nvPr/>
        </p:nvSpPr>
        <p:spPr>
          <a:xfrm>
            <a:off x="2606040" y="3026664"/>
            <a:ext cx="7552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FastAPI</a:t>
            </a:r>
            <a:endParaRPr lang="en-US" sz="1100" dirty="0"/>
          </a:p>
        </p:txBody>
      </p:sp>
      <p:sp>
        <p:nvSpPr>
          <p:cNvPr id="25" name="s4_11"/>
          <p:cNvSpPr/>
          <p:nvPr/>
        </p:nvSpPr>
        <p:spPr>
          <a:xfrm>
            <a:off x="3452774" y="3026664"/>
            <a:ext cx="755294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6" name="s4_12"/>
          <p:cNvSpPr txBox="1"/>
          <p:nvPr/>
        </p:nvSpPr>
        <p:spPr>
          <a:xfrm>
            <a:off x="3452774" y="3026664"/>
            <a:ext cx="7552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Uvicorn</a:t>
            </a:r>
            <a:endParaRPr lang="en-US" sz="1100" dirty="0"/>
          </a:p>
        </p:txBody>
      </p:sp>
      <p:sp>
        <p:nvSpPr>
          <p:cNvPr id="27" name="s4_13"/>
          <p:cNvSpPr/>
          <p:nvPr/>
        </p:nvSpPr>
        <p:spPr>
          <a:xfrm>
            <a:off x="4299509" y="3026664"/>
            <a:ext cx="897941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8" name="s4_14"/>
          <p:cNvSpPr txBox="1"/>
          <p:nvPr/>
        </p:nvSpPr>
        <p:spPr>
          <a:xfrm>
            <a:off x="4299509" y="3026664"/>
            <a:ext cx="89794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Socket.io</a:t>
            </a:r>
            <a:endParaRPr lang="en-US" sz="1100" dirty="0"/>
          </a:p>
        </p:txBody>
      </p:sp>
      <p:sp>
        <p:nvSpPr>
          <p:cNvPr id="29" name="s4_15"/>
          <p:cNvSpPr/>
          <p:nvPr/>
        </p:nvSpPr>
        <p:spPr>
          <a:xfrm>
            <a:off x="5288890" y="3026664"/>
            <a:ext cx="897941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30" name="s4_16"/>
          <p:cNvSpPr txBox="1"/>
          <p:nvPr/>
        </p:nvSpPr>
        <p:spPr>
          <a:xfrm>
            <a:off x="5288890" y="3026664"/>
            <a:ext cx="89794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SvelteKit</a:t>
            </a:r>
            <a:endParaRPr lang="en-US" sz="1100" dirty="0"/>
          </a:p>
        </p:txBody>
      </p:sp>
      <p:sp>
        <p:nvSpPr>
          <p:cNvPr id="31" name="s4_17"/>
          <p:cNvSpPr/>
          <p:nvPr/>
        </p:nvSpPr>
        <p:spPr>
          <a:xfrm>
            <a:off x="6278270" y="3026664"/>
            <a:ext cx="1397203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32" name="s4_18"/>
          <p:cNvSpPr txBox="1"/>
          <p:nvPr/>
        </p:nvSpPr>
        <p:spPr>
          <a:xfrm>
            <a:off x="6278270" y="3026664"/>
            <a:ext cx="13972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JWT session auth</a:t>
            </a:r>
            <a:endParaRPr lang="en-US" sz="1100" dirty="0"/>
          </a:p>
        </p:txBody>
      </p:sp>
      <p:sp>
        <p:nvSpPr>
          <p:cNvPr id="33" name="s4_19"/>
          <p:cNvSpPr txBox="1"/>
          <p:nvPr/>
        </p:nvSpPr>
        <p:spPr>
          <a:xfrm>
            <a:off x="822960" y="355701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AI / ML</a:t>
            </a:r>
            <a:endParaRPr lang="en-US" sz="1200" dirty="0"/>
          </a:p>
        </p:txBody>
      </p:sp>
      <p:sp>
        <p:nvSpPr>
          <p:cNvPr id="34" name="s4_20"/>
          <p:cNvSpPr/>
          <p:nvPr/>
        </p:nvSpPr>
        <p:spPr>
          <a:xfrm>
            <a:off x="2606040" y="3557016"/>
            <a:ext cx="683971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35" name="s4_21"/>
          <p:cNvSpPr txBox="1"/>
          <p:nvPr/>
        </p:nvSpPr>
        <p:spPr>
          <a:xfrm>
            <a:off x="2606040" y="3557016"/>
            <a:ext cx="6839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Bionic</a:t>
            </a:r>
            <a:endParaRPr lang="en-US" sz="1100" dirty="0"/>
          </a:p>
        </p:txBody>
      </p:sp>
      <p:sp>
        <p:nvSpPr>
          <p:cNvPr id="36" name="s4_22"/>
          <p:cNvSpPr/>
          <p:nvPr/>
        </p:nvSpPr>
        <p:spPr>
          <a:xfrm>
            <a:off x="3381451" y="3557016"/>
            <a:ext cx="1040587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37" name="s4_23"/>
          <p:cNvSpPr txBox="1"/>
          <p:nvPr/>
        </p:nvSpPr>
        <p:spPr>
          <a:xfrm>
            <a:off x="3381451" y="3557016"/>
            <a:ext cx="10405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Qwen models</a:t>
            </a:r>
            <a:endParaRPr lang="en-US" sz="1100" dirty="0"/>
          </a:p>
        </p:txBody>
      </p:sp>
      <p:sp>
        <p:nvSpPr>
          <p:cNvPr id="38" name="s4_24"/>
          <p:cNvSpPr/>
          <p:nvPr/>
        </p:nvSpPr>
        <p:spPr>
          <a:xfrm>
            <a:off x="4513478" y="3557016"/>
            <a:ext cx="1111910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39" name="s4_25"/>
          <p:cNvSpPr txBox="1"/>
          <p:nvPr/>
        </p:nvSpPr>
        <p:spPr>
          <a:xfrm>
            <a:off x="4513478" y="3557016"/>
            <a:ext cx="11119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Gemma models</a:t>
            </a:r>
            <a:endParaRPr lang="en-US" sz="1100" dirty="0"/>
          </a:p>
        </p:txBody>
      </p:sp>
      <p:sp>
        <p:nvSpPr>
          <p:cNvPr id="40" name="s4_26"/>
          <p:cNvSpPr/>
          <p:nvPr/>
        </p:nvSpPr>
        <p:spPr>
          <a:xfrm>
            <a:off x="5716829" y="3557016"/>
            <a:ext cx="1753819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41" name="s4_27"/>
          <p:cNvSpPr txBox="1"/>
          <p:nvPr/>
        </p:nvSpPr>
        <p:spPr>
          <a:xfrm>
            <a:off x="5716829" y="3557016"/>
            <a:ext cx="17538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nomic-embed-text-v1.5</a:t>
            </a:r>
            <a:endParaRPr lang="en-US" sz="1100" dirty="0"/>
          </a:p>
        </p:txBody>
      </p:sp>
      <p:sp>
        <p:nvSpPr>
          <p:cNvPr id="42" name="s4_28"/>
          <p:cNvSpPr txBox="1"/>
          <p:nvPr/>
        </p:nvSpPr>
        <p:spPr>
          <a:xfrm>
            <a:off x="822960" y="40873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Data &amp; storage</a:t>
            </a:r>
            <a:endParaRPr lang="en-US" sz="1200" dirty="0"/>
          </a:p>
        </p:txBody>
      </p:sp>
      <p:sp>
        <p:nvSpPr>
          <p:cNvPr id="43" name="s4_29"/>
          <p:cNvSpPr/>
          <p:nvPr/>
        </p:nvSpPr>
        <p:spPr>
          <a:xfrm>
            <a:off x="2606040" y="4087368"/>
            <a:ext cx="683971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44" name="s4_30"/>
          <p:cNvSpPr txBox="1"/>
          <p:nvPr/>
        </p:nvSpPr>
        <p:spPr>
          <a:xfrm>
            <a:off x="2606040" y="4087368"/>
            <a:ext cx="6839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SQLite</a:t>
            </a:r>
            <a:endParaRPr lang="en-US" sz="1100" dirty="0"/>
          </a:p>
        </p:txBody>
      </p:sp>
      <p:sp>
        <p:nvSpPr>
          <p:cNvPr id="45" name="s4_31"/>
          <p:cNvSpPr/>
          <p:nvPr/>
        </p:nvSpPr>
        <p:spPr>
          <a:xfrm>
            <a:off x="3381451" y="4087368"/>
            <a:ext cx="826618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46" name="s4_32"/>
          <p:cNvSpPr txBox="1"/>
          <p:nvPr/>
        </p:nvSpPr>
        <p:spPr>
          <a:xfrm>
            <a:off x="3381451" y="4087368"/>
            <a:ext cx="8266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ChromaDB</a:t>
            </a:r>
            <a:endParaRPr lang="en-US" sz="1100" dirty="0"/>
          </a:p>
        </p:txBody>
      </p:sp>
      <p:sp>
        <p:nvSpPr>
          <p:cNvPr id="47" name="s4_33"/>
          <p:cNvSpPr txBox="1"/>
          <p:nvPr/>
        </p:nvSpPr>
        <p:spPr>
          <a:xfrm>
            <a:off x="822960" y="46177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Execution &amp; isolation</a:t>
            </a:r>
            <a:endParaRPr lang="en-US" sz="1200" dirty="0"/>
          </a:p>
        </p:txBody>
      </p:sp>
      <p:sp>
        <p:nvSpPr>
          <p:cNvPr id="48" name="s4_34"/>
          <p:cNvSpPr/>
          <p:nvPr/>
        </p:nvSpPr>
        <p:spPr>
          <a:xfrm>
            <a:off x="2606040" y="4617720"/>
            <a:ext cx="683971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49" name="s4_35"/>
          <p:cNvSpPr txBox="1"/>
          <p:nvPr/>
        </p:nvSpPr>
        <p:spPr>
          <a:xfrm>
            <a:off x="2606040" y="4617720"/>
            <a:ext cx="6839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Docker</a:t>
            </a:r>
            <a:endParaRPr lang="en-US" sz="1100" dirty="0"/>
          </a:p>
        </p:txBody>
      </p:sp>
      <p:sp>
        <p:nvSpPr>
          <p:cNvPr id="50" name="s4_36"/>
          <p:cNvSpPr/>
          <p:nvPr/>
        </p:nvSpPr>
        <p:spPr>
          <a:xfrm>
            <a:off x="3381451" y="4617720"/>
            <a:ext cx="1325880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51" name="s4_37"/>
          <p:cNvSpPr txBox="1"/>
          <p:nvPr/>
        </p:nvSpPr>
        <p:spPr>
          <a:xfrm>
            <a:off x="3381451" y="46177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Hardening flags</a:t>
            </a:r>
            <a:endParaRPr lang="en-US" sz="1100" dirty="0"/>
          </a:p>
        </p:txBody>
      </p:sp>
      <p:sp>
        <p:nvSpPr>
          <p:cNvPr id="52" name="s4_38"/>
          <p:cNvSpPr txBox="1"/>
          <p:nvPr/>
        </p:nvSpPr>
        <p:spPr>
          <a:xfrm>
            <a:off x="822960" y="51480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Document generation</a:t>
            </a:r>
            <a:endParaRPr lang="en-US" sz="1200" dirty="0"/>
          </a:p>
        </p:txBody>
      </p:sp>
      <p:sp>
        <p:nvSpPr>
          <p:cNvPr id="53" name="s4_39"/>
          <p:cNvSpPr/>
          <p:nvPr/>
        </p:nvSpPr>
        <p:spPr>
          <a:xfrm>
            <a:off x="2606040" y="5148072"/>
            <a:ext cx="1040587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54" name="s4_40"/>
          <p:cNvSpPr txBox="1"/>
          <p:nvPr/>
        </p:nvSpPr>
        <p:spPr>
          <a:xfrm>
            <a:off x="2606040" y="5148072"/>
            <a:ext cx="104058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python-docx</a:t>
            </a:r>
            <a:endParaRPr lang="en-US" sz="1100" dirty="0"/>
          </a:p>
        </p:txBody>
      </p:sp>
      <p:sp>
        <p:nvSpPr>
          <p:cNvPr id="55" name="s4_41"/>
          <p:cNvSpPr txBox="1"/>
          <p:nvPr/>
        </p:nvSpPr>
        <p:spPr>
          <a:xfrm>
            <a:off x="822960" y="567842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Deployment &amp; tooling</a:t>
            </a:r>
            <a:endParaRPr lang="en-US" sz="1200" dirty="0"/>
          </a:p>
        </p:txBody>
      </p:sp>
      <p:sp>
        <p:nvSpPr>
          <p:cNvPr id="56" name="s4_42"/>
          <p:cNvSpPr/>
          <p:nvPr/>
        </p:nvSpPr>
        <p:spPr>
          <a:xfrm>
            <a:off x="2606040" y="5678424"/>
            <a:ext cx="1611173" cy="29260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57" name="s4_43"/>
          <p:cNvSpPr txBox="1"/>
          <p:nvPr/>
        </p:nvSpPr>
        <p:spPr>
          <a:xfrm>
            <a:off x="2606040" y="5678424"/>
            <a:ext cx="16111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Custom test harness</a:t>
            </a:r>
            <a:endParaRPr lang="en-US" sz="1100" dirty="0"/>
          </a:p>
        </p:txBody>
      </p:sp>
      <p:sp>
        <p:nvSpPr>
          <p:cNvPr id="58" name="s4_44"/>
          <p:cNvSpPr/>
          <p:nvPr/>
        </p:nvSpPr>
        <p:spPr>
          <a:xfrm>
            <a:off x="8366760" y="1783080"/>
            <a:ext cx="3273552" cy="2514600"/>
          </a:xfrm>
          <a:prstGeom prst="roundRect">
            <a:avLst>
              <a:gd name="adj" fmla="val 5818"/>
            </a:avLst>
          </a:prstGeom>
          <a:solidFill>
            <a:schemeClr val="bg2"/>
          </a:solidFill>
          <a:ln w="9525">
            <a:solidFill>
              <a:schemeClr val="tx1">
                <a:alpha val="14000"/>
              </a:schemeClr>
            </a:solidFill>
            <a:prstDash val="solid"/>
          </a:ln>
        </p:spPr>
      </p:sp>
      <p:sp>
        <p:nvSpPr>
          <p:cNvPr id="59" name="s4_45"/>
          <p:cNvSpPr txBox="1"/>
          <p:nvPr/>
        </p:nvSpPr>
        <p:spPr>
          <a:xfrm>
            <a:off x="8641080" y="2029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6"/>
                </a:solidFill>
              </a:rPr>
              <a:t>PROTOTYPE</a:t>
            </a:r>
            <a:endParaRPr lang="en-US" sz="1000" dirty="0"/>
          </a:p>
        </p:txBody>
      </p:sp>
      <p:sp>
        <p:nvSpPr>
          <p:cNvPr id="60" name="s4_46"/>
          <p:cNvSpPr txBox="1"/>
          <p:nvPr/>
        </p:nvSpPr>
        <p:spPr>
          <a:xfrm>
            <a:off x="8641080" y="2286000"/>
            <a:ext cx="27249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spc="-200" kern="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75%+</a:t>
            </a:r>
            <a:endParaRPr lang="en-US" sz="6400" dirty="0"/>
          </a:p>
        </p:txBody>
      </p:sp>
      <p:sp>
        <p:nvSpPr>
          <p:cNvPr id="61" name="s4_47"/>
          <p:cNvSpPr txBox="1"/>
          <p:nvPr/>
        </p:nvSpPr>
        <p:spPr>
          <a:xfrm>
            <a:off x="8641080" y="3291840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of the prototype is already built</a:t>
            </a:r>
            <a:endParaRPr lang="en-US" sz="1300" dirty="0"/>
          </a:p>
        </p:txBody>
      </p:sp>
      <p:sp>
        <p:nvSpPr>
          <p:cNvPr id="62" name="s4_48"/>
          <p:cNvSpPr/>
          <p:nvPr/>
        </p:nvSpPr>
        <p:spPr>
          <a:xfrm>
            <a:off x="8641080" y="3840480"/>
            <a:ext cx="2724912" cy="109728"/>
          </a:xfrm>
          <a:prstGeom prst="roundRect">
            <a:avLst>
              <a:gd name="adj" fmla="val 50000"/>
            </a:avLst>
          </a:prstGeom>
          <a:solidFill>
            <a:schemeClr val="tx1">
              <a:alpha val="12000"/>
            </a:schemeClr>
          </a:solidFill>
          <a:ln/>
        </p:spPr>
      </p:sp>
      <p:sp>
        <p:nvSpPr>
          <p:cNvPr id="63" name="s4_49"/>
          <p:cNvSpPr/>
          <p:nvPr/>
        </p:nvSpPr>
        <p:spPr>
          <a:xfrm>
            <a:off x="8641080" y="3840480"/>
            <a:ext cx="2043684" cy="1097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4" name="s4_50"/>
          <p:cNvSpPr/>
          <p:nvPr/>
        </p:nvSpPr>
        <p:spPr>
          <a:xfrm>
            <a:off x="8366760" y="4526280"/>
            <a:ext cx="3273552" cy="173736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chemeClr val="tx1">
                <a:alpha val="14000"/>
              </a:schemeClr>
            </a:solidFill>
            <a:prstDash val="solid"/>
          </a:ln>
        </p:spPr>
      </p:sp>
      <p:sp>
        <p:nvSpPr>
          <p:cNvPr id="65" name="s4_51"/>
          <p:cNvSpPr/>
          <p:nvPr/>
        </p:nvSpPr>
        <p:spPr>
          <a:xfrm>
            <a:off x="8641080" y="4782312"/>
            <a:ext cx="512064" cy="512064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/>
        </p:spPr>
      </p:sp>
      <p:pic>
        <p:nvPicPr>
          <p:cNvPr id="66" name="s4_52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975" y="4905207"/>
            <a:ext cx="266273" cy="266273"/>
          </a:xfrm>
          <a:prstGeom prst="rect">
            <a:avLst/>
          </a:prstGeom>
        </p:spPr>
      </p:pic>
      <p:sp>
        <p:nvSpPr>
          <p:cNvPr id="67" name="s4_53"/>
          <p:cNvSpPr txBox="1"/>
          <p:nvPr/>
        </p:nvSpPr>
        <p:spPr>
          <a:xfrm>
            <a:off x="9299448" y="4754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Multi-LLM-Agentic-Ai</a:t>
            </a:r>
            <a:endParaRPr lang="en-US" sz="1300" dirty="0"/>
          </a:p>
        </p:txBody>
      </p:sp>
      <p:sp>
        <p:nvSpPr>
          <p:cNvPr id="68" name="s4_54"/>
          <p:cNvSpPr txBox="1"/>
          <p:nvPr/>
        </p:nvSpPr>
        <p:spPr>
          <a:xfrm>
            <a:off x="9299448" y="5029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GitHub repository · Yash3510</a:t>
            </a:r>
            <a:endParaRPr lang="en-US" sz="1050" dirty="0"/>
          </a:p>
        </p:txBody>
      </p:sp>
      <p:sp>
        <p:nvSpPr>
          <p:cNvPr id="69" name="s4_55"/>
          <p:cNvSpPr/>
          <p:nvPr/>
        </p:nvSpPr>
        <p:spPr>
          <a:xfrm>
            <a:off x="8641080" y="5623560"/>
            <a:ext cx="2724912" cy="32918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70" name="s4_56"/>
          <p:cNvSpPr txBox="1"/>
          <p:nvPr/>
        </p:nvSpPr>
        <p:spPr>
          <a:xfrm>
            <a:off x="8641080" y="5623560"/>
            <a:ext cx="2724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chemeClr val="bg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repository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108960" y="3291840"/>
            <a:ext cx="6858000" cy="6858000"/>
          </a:xfrm>
          <a:prstGeom prst="rect">
            <a:avLst/>
          </a:prstGeom>
        </p:spPr>
      </p:pic>
      <p:sp>
        <p:nvSpPr>
          <p:cNvPr id="3" name="!!canvas"/>
          <p:cNvSpPr/>
          <p:nvPr/>
        </p:nvSpPr>
        <p:spPr>
          <a:xfrm>
            <a:off x="12374575" y="0"/>
            <a:ext cx="182880" cy="6858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" name="!!px1"/>
          <p:cNvSpPr/>
          <p:nvPr/>
        </p:nvSpPr>
        <p:spPr>
          <a:xfrm>
            <a:off x="9497196" y="1442304"/>
            <a:ext cx="128016" cy="2560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!!px2"/>
          <p:cNvSpPr/>
          <p:nvPr/>
        </p:nvSpPr>
        <p:spPr>
          <a:xfrm>
            <a:off x="9899340" y="1094203"/>
            <a:ext cx="256032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!!px3"/>
          <p:cNvSpPr/>
          <p:nvPr/>
        </p:nvSpPr>
        <p:spPr>
          <a:xfrm>
            <a:off x="9024290" y="948256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!!px4"/>
          <p:cNvSpPr/>
          <p:nvPr/>
        </p:nvSpPr>
        <p:spPr>
          <a:xfrm>
            <a:off x="9410797" y="576525"/>
            <a:ext cx="128016" cy="2560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!!px5"/>
          <p:cNvSpPr/>
          <p:nvPr/>
        </p:nvSpPr>
        <p:spPr>
          <a:xfrm>
            <a:off x="8899035" y="464893"/>
            <a:ext cx="256032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!!px6"/>
          <p:cNvSpPr/>
          <p:nvPr/>
        </p:nvSpPr>
        <p:spPr>
          <a:xfrm>
            <a:off x="10133582" y="859993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!!px7"/>
          <p:cNvSpPr/>
          <p:nvPr/>
        </p:nvSpPr>
        <p:spPr>
          <a:xfrm>
            <a:off x="9730964" y="325114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!!mark"/>
          <p:cNvSpPr/>
          <p:nvPr/>
        </p:nvSpPr>
        <p:spPr>
          <a:xfrm rot="18000000">
            <a:off x="11201400" y="548640"/>
            <a:ext cx="438912" cy="438912"/>
          </a:xfrm>
          <a:custGeom>
            <a:avLst/>
            <a:gdLst/>
            <a:ahLst/>
            <a:cxnLst/>
            <a:rect l="l" t="t" r="r" b="b"/>
            <a:pathLst>
              <a:path w="438912" h="438912">
                <a:moveTo>
                  <a:pt x="218362" y="0"/>
                </a:moveTo>
                <a:lnTo>
                  <a:pt x="212267" y="2268"/>
                </a:lnTo>
                <a:lnTo>
                  <a:pt x="160755" y="32094"/>
                </a:lnTo>
                <a:lnTo>
                  <a:pt x="156866" y="36031"/>
                </a:lnTo>
                <a:lnTo>
                  <a:pt x="155574" y="41149"/>
                </a:lnTo>
                <a:lnTo>
                  <a:pt x="155716" y="95874"/>
                </a:lnTo>
                <a:lnTo>
                  <a:pt x="154551" y="100204"/>
                </a:lnTo>
                <a:lnTo>
                  <a:pt x="152614" y="102204"/>
                </a:lnTo>
                <a:lnTo>
                  <a:pt x="148881" y="103763"/>
                </a:lnTo>
                <a:lnTo>
                  <a:pt x="144551" y="102409"/>
                </a:lnTo>
                <a:lnTo>
                  <a:pt x="96677" y="74614"/>
                </a:lnTo>
                <a:lnTo>
                  <a:pt x="91401" y="73685"/>
                </a:lnTo>
                <a:lnTo>
                  <a:pt x="87071" y="74614"/>
                </a:lnTo>
                <a:lnTo>
                  <a:pt x="32535" y="106189"/>
                </a:lnTo>
                <a:lnTo>
                  <a:pt x="29197" y="109937"/>
                </a:lnTo>
                <a:lnTo>
                  <a:pt x="28110" y="113401"/>
                </a:lnTo>
                <a:lnTo>
                  <a:pt x="28079" y="175999"/>
                </a:lnTo>
                <a:lnTo>
                  <a:pt x="28992" y="181118"/>
                </a:lnTo>
                <a:lnTo>
                  <a:pt x="33323" y="185716"/>
                </a:lnTo>
                <a:lnTo>
                  <a:pt x="81212" y="213196"/>
                </a:lnTo>
                <a:lnTo>
                  <a:pt x="83716" y="215653"/>
                </a:lnTo>
                <a:lnTo>
                  <a:pt x="84441" y="219306"/>
                </a:lnTo>
                <a:lnTo>
                  <a:pt x="83732" y="222850"/>
                </a:lnTo>
                <a:lnTo>
                  <a:pt x="81748" y="225086"/>
                </a:lnTo>
                <a:lnTo>
                  <a:pt x="33716" y="252708"/>
                </a:lnTo>
                <a:lnTo>
                  <a:pt x="29102" y="257291"/>
                </a:lnTo>
                <a:lnTo>
                  <a:pt x="28031" y="262802"/>
                </a:lnTo>
                <a:lnTo>
                  <a:pt x="28079" y="325007"/>
                </a:lnTo>
                <a:lnTo>
                  <a:pt x="30535" y="330723"/>
                </a:lnTo>
                <a:lnTo>
                  <a:pt x="34709" y="333794"/>
                </a:lnTo>
                <a:lnTo>
                  <a:pt x="86472" y="363715"/>
                </a:lnTo>
                <a:lnTo>
                  <a:pt x="91401" y="365148"/>
                </a:lnTo>
                <a:lnTo>
                  <a:pt x="97496" y="363637"/>
                </a:lnTo>
                <a:lnTo>
                  <a:pt x="144740" y="336062"/>
                </a:lnTo>
                <a:lnTo>
                  <a:pt x="148677" y="335180"/>
                </a:lnTo>
                <a:lnTo>
                  <a:pt x="152000" y="336030"/>
                </a:lnTo>
                <a:lnTo>
                  <a:pt x="154551" y="338393"/>
                </a:lnTo>
                <a:lnTo>
                  <a:pt x="155637" y="342534"/>
                </a:lnTo>
                <a:lnTo>
                  <a:pt x="155590" y="397448"/>
                </a:lnTo>
                <a:lnTo>
                  <a:pt x="156944" y="402865"/>
                </a:lnTo>
                <a:lnTo>
                  <a:pt x="162661" y="407762"/>
                </a:lnTo>
                <a:lnTo>
                  <a:pt x="214944" y="437810"/>
                </a:lnTo>
                <a:lnTo>
                  <a:pt x="219543" y="438912"/>
                </a:lnTo>
                <a:lnTo>
                  <a:pt x="226834" y="436251"/>
                </a:lnTo>
                <a:lnTo>
                  <a:pt x="278991" y="405999"/>
                </a:lnTo>
                <a:lnTo>
                  <a:pt x="281952" y="402818"/>
                </a:lnTo>
                <a:lnTo>
                  <a:pt x="283322" y="397259"/>
                </a:lnTo>
                <a:lnTo>
                  <a:pt x="283227" y="342723"/>
                </a:lnTo>
                <a:lnTo>
                  <a:pt x="284472" y="338204"/>
                </a:lnTo>
                <a:lnTo>
                  <a:pt x="286912" y="336030"/>
                </a:lnTo>
                <a:lnTo>
                  <a:pt x="290015" y="335117"/>
                </a:lnTo>
                <a:lnTo>
                  <a:pt x="294157" y="336046"/>
                </a:lnTo>
                <a:lnTo>
                  <a:pt x="341400" y="363621"/>
                </a:lnTo>
                <a:lnTo>
                  <a:pt x="347495" y="365148"/>
                </a:lnTo>
                <a:lnTo>
                  <a:pt x="352613" y="363605"/>
                </a:lnTo>
                <a:lnTo>
                  <a:pt x="406550" y="332345"/>
                </a:lnTo>
                <a:lnTo>
                  <a:pt x="409699" y="328755"/>
                </a:lnTo>
                <a:lnTo>
                  <a:pt x="410833" y="325007"/>
                </a:lnTo>
                <a:lnTo>
                  <a:pt x="410881" y="262613"/>
                </a:lnTo>
                <a:lnTo>
                  <a:pt x="409857" y="257495"/>
                </a:lnTo>
                <a:lnTo>
                  <a:pt x="405180" y="252708"/>
                </a:lnTo>
                <a:lnTo>
                  <a:pt x="357148" y="225070"/>
                </a:lnTo>
                <a:lnTo>
                  <a:pt x="355180" y="222991"/>
                </a:lnTo>
                <a:lnTo>
                  <a:pt x="354440" y="219102"/>
                </a:lnTo>
                <a:lnTo>
                  <a:pt x="355274" y="215369"/>
                </a:lnTo>
                <a:lnTo>
                  <a:pt x="357715" y="213196"/>
                </a:lnTo>
                <a:lnTo>
                  <a:pt x="405369" y="185826"/>
                </a:lnTo>
                <a:lnTo>
                  <a:pt x="409699" y="181511"/>
                </a:lnTo>
                <a:lnTo>
                  <a:pt x="410786" y="177370"/>
                </a:lnTo>
                <a:lnTo>
                  <a:pt x="410786" y="113401"/>
                </a:lnTo>
                <a:lnTo>
                  <a:pt x="409699" y="109968"/>
                </a:lnTo>
                <a:lnTo>
                  <a:pt x="406345" y="106110"/>
                </a:lnTo>
                <a:lnTo>
                  <a:pt x="351826" y="74598"/>
                </a:lnTo>
                <a:lnTo>
                  <a:pt x="347495" y="73701"/>
                </a:lnTo>
                <a:lnTo>
                  <a:pt x="342188" y="74614"/>
                </a:lnTo>
                <a:lnTo>
                  <a:pt x="294346" y="102393"/>
                </a:lnTo>
                <a:lnTo>
                  <a:pt x="290220" y="103763"/>
                </a:lnTo>
                <a:lnTo>
                  <a:pt x="286283" y="102236"/>
                </a:lnTo>
                <a:lnTo>
                  <a:pt x="284078" y="99622"/>
                </a:lnTo>
                <a:lnTo>
                  <a:pt x="283212" y="95480"/>
                </a:lnTo>
                <a:lnTo>
                  <a:pt x="283306" y="40961"/>
                </a:lnTo>
                <a:lnTo>
                  <a:pt x="281952" y="35779"/>
                </a:lnTo>
                <a:lnTo>
                  <a:pt x="277810" y="31937"/>
                </a:lnTo>
                <a:lnTo>
                  <a:pt x="226629" y="2252"/>
                </a:lnTo>
                <a:lnTo>
                  <a:pt x="223086" y="472"/>
                </a:lnTo>
                <a:lnTo>
                  <a:pt x="218362" y="0"/>
                </a:lnTo>
                <a:close/>
                <a:moveTo>
                  <a:pt x="218362" y="147228"/>
                </a:moveTo>
                <a:lnTo>
                  <a:pt x="214236" y="148724"/>
                </a:lnTo>
                <a:lnTo>
                  <a:pt x="159889" y="180125"/>
                </a:lnTo>
                <a:lnTo>
                  <a:pt x="156834" y="183480"/>
                </a:lnTo>
                <a:lnTo>
                  <a:pt x="155763" y="188787"/>
                </a:lnTo>
                <a:lnTo>
                  <a:pt x="155732" y="243905"/>
                </a:lnTo>
                <a:lnTo>
                  <a:pt x="156251" y="253354"/>
                </a:lnTo>
                <a:lnTo>
                  <a:pt x="159700" y="258314"/>
                </a:lnTo>
                <a:lnTo>
                  <a:pt x="213637" y="289621"/>
                </a:lnTo>
                <a:lnTo>
                  <a:pt x="219747" y="291527"/>
                </a:lnTo>
                <a:lnTo>
                  <a:pt x="225259" y="289621"/>
                </a:lnTo>
                <a:lnTo>
                  <a:pt x="279196" y="258298"/>
                </a:lnTo>
                <a:lnTo>
                  <a:pt x="282078" y="254928"/>
                </a:lnTo>
                <a:lnTo>
                  <a:pt x="283117" y="249417"/>
                </a:lnTo>
                <a:lnTo>
                  <a:pt x="283117" y="188992"/>
                </a:lnTo>
                <a:lnTo>
                  <a:pt x="282141" y="183716"/>
                </a:lnTo>
                <a:lnTo>
                  <a:pt x="278991" y="180125"/>
                </a:lnTo>
                <a:lnTo>
                  <a:pt x="224487" y="148629"/>
                </a:lnTo>
                <a:lnTo>
                  <a:pt x="218362" y="147228"/>
                </a:lnTo>
                <a:close/>
                <a:moveTo>
                  <a:pt x="218960" y="73827"/>
                </a:moveTo>
                <a:lnTo>
                  <a:pt x="215023" y="74598"/>
                </a:lnTo>
                <a:lnTo>
                  <a:pt x="168141" y="101590"/>
                </a:lnTo>
                <a:lnTo>
                  <a:pt x="164425" y="104535"/>
                </a:lnTo>
                <a:lnTo>
                  <a:pt x="163102" y="106708"/>
                </a:lnTo>
                <a:lnTo>
                  <a:pt x="162834" y="109259"/>
                </a:lnTo>
                <a:lnTo>
                  <a:pt x="163401" y="111622"/>
                </a:lnTo>
                <a:lnTo>
                  <a:pt x="166346" y="114976"/>
                </a:lnTo>
                <a:lnTo>
                  <a:pt x="215212" y="143165"/>
                </a:lnTo>
                <a:lnTo>
                  <a:pt x="219936" y="143905"/>
                </a:lnTo>
                <a:lnTo>
                  <a:pt x="223684" y="143165"/>
                </a:lnTo>
                <a:lnTo>
                  <a:pt x="272503" y="115023"/>
                </a:lnTo>
                <a:lnTo>
                  <a:pt x="275479" y="111622"/>
                </a:lnTo>
                <a:lnTo>
                  <a:pt x="276046" y="109259"/>
                </a:lnTo>
                <a:lnTo>
                  <a:pt x="275794" y="106708"/>
                </a:lnTo>
                <a:lnTo>
                  <a:pt x="274472" y="104535"/>
                </a:lnTo>
                <a:lnTo>
                  <a:pt x="270708" y="101590"/>
                </a:lnTo>
                <a:lnTo>
                  <a:pt x="223873" y="74614"/>
                </a:lnTo>
                <a:lnTo>
                  <a:pt x="218960" y="73827"/>
                </a:lnTo>
                <a:close/>
                <a:moveTo>
                  <a:pt x="98283" y="224598"/>
                </a:moveTo>
                <a:lnTo>
                  <a:pt x="93763" y="227039"/>
                </a:lnTo>
                <a:lnTo>
                  <a:pt x="91937" y="231306"/>
                </a:lnTo>
                <a:lnTo>
                  <a:pt x="91905" y="287416"/>
                </a:lnTo>
                <a:lnTo>
                  <a:pt x="93590" y="292723"/>
                </a:lnTo>
                <a:lnTo>
                  <a:pt x="97102" y="295983"/>
                </a:lnTo>
                <a:lnTo>
                  <a:pt x="145952" y="324219"/>
                </a:lnTo>
                <a:lnTo>
                  <a:pt x="151039" y="324172"/>
                </a:lnTo>
                <a:lnTo>
                  <a:pt x="154535" y="321070"/>
                </a:lnTo>
                <a:lnTo>
                  <a:pt x="155763" y="317527"/>
                </a:lnTo>
                <a:lnTo>
                  <a:pt x="155669" y="262015"/>
                </a:lnTo>
                <a:lnTo>
                  <a:pt x="154582" y="257480"/>
                </a:lnTo>
                <a:lnTo>
                  <a:pt x="151842" y="254141"/>
                </a:lnTo>
                <a:lnTo>
                  <a:pt x="103606" y="225984"/>
                </a:lnTo>
                <a:lnTo>
                  <a:pt x="98283" y="224598"/>
                </a:lnTo>
                <a:close/>
                <a:moveTo>
                  <a:pt x="339227" y="224598"/>
                </a:moveTo>
                <a:lnTo>
                  <a:pt x="335495" y="225952"/>
                </a:lnTo>
                <a:lnTo>
                  <a:pt x="287101" y="254141"/>
                </a:lnTo>
                <a:lnTo>
                  <a:pt x="284314" y="257369"/>
                </a:lnTo>
                <a:lnTo>
                  <a:pt x="283196" y="261432"/>
                </a:lnTo>
                <a:lnTo>
                  <a:pt x="283227" y="317527"/>
                </a:lnTo>
                <a:lnTo>
                  <a:pt x="284472" y="321275"/>
                </a:lnTo>
                <a:lnTo>
                  <a:pt x="288046" y="324172"/>
                </a:lnTo>
                <a:lnTo>
                  <a:pt x="291590" y="324487"/>
                </a:lnTo>
                <a:lnTo>
                  <a:pt x="295133" y="322881"/>
                </a:lnTo>
                <a:lnTo>
                  <a:pt x="341637" y="296078"/>
                </a:lnTo>
                <a:lnTo>
                  <a:pt x="345337" y="292613"/>
                </a:lnTo>
                <a:lnTo>
                  <a:pt x="346975" y="287416"/>
                </a:lnTo>
                <a:lnTo>
                  <a:pt x="346928" y="231117"/>
                </a:lnTo>
                <a:lnTo>
                  <a:pt x="345526" y="227574"/>
                </a:lnTo>
                <a:lnTo>
                  <a:pt x="343936" y="225999"/>
                </a:lnTo>
                <a:lnTo>
                  <a:pt x="339227" y="224598"/>
                </a:ln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12" name="!!eyebrow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FEASIBILITY  ·  RISK ASSESSMENT &amp; MITIGATION</a:t>
            </a:r>
            <a:endParaRPr lang="en-US" sz="1100" dirty="0"/>
          </a:p>
        </p:txBody>
      </p:sp>
      <p:sp>
        <p:nvSpPr>
          <p:cNvPr id="14" name="!!title"/>
          <p:cNvSpPr txBox="1"/>
          <p:nvPr/>
        </p:nvSpPr>
        <p:spPr>
          <a:xfrm>
            <a:off x="548640" y="6858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spc="-50" kern="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Every risk, </a:t>
            </a:r>
            <a:pPr indent="0" marL="0">
              <a:buNone/>
            </a:pPr>
            <a:r>
              <a:rPr lang="en-US" sz="3600" spc="-50" kern="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answered.</a:t>
            </a:r>
            <a:endParaRPr lang="en-US" sz="3600" dirty="0"/>
          </a:p>
        </p:txBody>
      </p:sp>
      <p:sp>
        <p:nvSpPr>
          <p:cNvPr id="15" name="s5_1"/>
          <p:cNvSpPr/>
          <p:nvPr/>
        </p:nvSpPr>
        <p:spPr>
          <a:xfrm>
            <a:off x="548640" y="1783080"/>
            <a:ext cx="11091672" cy="4480560"/>
          </a:xfrm>
          <a:prstGeom prst="roundRect">
            <a:avLst>
              <a:gd name="adj" fmla="val 3265"/>
            </a:avLst>
          </a:prstGeom>
          <a:solidFill>
            <a:schemeClr val="tx2"/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16" name="s5_2"/>
          <p:cNvSpPr txBox="1"/>
          <p:nvPr/>
        </p:nvSpPr>
        <p:spPr>
          <a:xfrm>
            <a:off x="868680" y="2057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RISK</a:t>
            </a:r>
            <a:endParaRPr lang="en-US" sz="1000" dirty="0"/>
          </a:p>
        </p:txBody>
      </p:sp>
      <p:sp>
        <p:nvSpPr>
          <p:cNvPr id="17" name="s5_3"/>
          <p:cNvSpPr txBox="1"/>
          <p:nvPr/>
        </p:nvSpPr>
        <p:spPr>
          <a:xfrm>
            <a:off x="6583680" y="2057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MITIGATION</a:t>
            </a:r>
            <a:endParaRPr lang="en-US" sz="1000" dirty="0"/>
          </a:p>
        </p:txBody>
      </p:sp>
      <p:sp>
        <p:nvSpPr>
          <p:cNvPr id="18" name="s5_4"/>
          <p:cNvSpPr/>
          <p:nvPr/>
        </p:nvSpPr>
        <p:spPr>
          <a:xfrm>
            <a:off x="868680" y="2441448"/>
            <a:ext cx="10451592" cy="0"/>
          </a:xfrm>
          <a:prstGeom prst="line">
            <a:avLst/>
          </a:prstGeom>
          <a:noFill/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19" name="s5_5"/>
          <p:cNvSpPr/>
          <p:nvPr/>
        </p:nvSpPr>
        <p:spPr>
          <a:xfrm>
            <a:off x="868680" y="2706624"/>
            <a:ext cx="100584" cy="10058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0" name="s5_6"/>
          <p:cNvSpPr txBox="1"/>
          <p:nvPr/>
        </p:nvSpPr>
        <p:spPr>
          <a:xfrm>
            <a:off x="1115568" y="258775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Cloud dependency</a:t>
            </a:r>
            <a:endParaRPr lang="en-US" sz="1500" dirty="0"/>
          </a:p>
        </p:txBody>
      </p:sp>
      <p:sp>
        <p:nvSpPr>
          <p:cNvPr id="21" name="s5_7"/>
          <p:cNvSpPr txBox="1"/>
          <p:nvPr/>
        </p:nvSpPr>
        <p:spPr>
          <a:xfrm>
            <a:off x="1115568" y="291693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Data could leave the enterprise</a:t>
            </a:r>
            <a:endParaRPr lang="en-US" sz="1200" dirty="0"/>
          </a:p>
        </p:txBody>
      </p:sp>
      <p:sp>
        <p:nvSpPr>
          <p:cNvPr id="22" name="s5_8"/>
          <p:cNvSpPr txBox="1"/>
          <p:nvPr/>
        </p:nvSpPr>
        <p:spPr>
          <a:xfrm>
            <a:off x="6035040" y="2587752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5_9"/>
          <p:cNvSpPr txBox="1"/>
          <p:nvPr/>
        </p:nvSpPr>
        <p:spPr>
          <a:xfrm>
            <a:off x="6583680" y="2587752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Local-only stack + outbound paths disabled</a:t>
            </a:r>
            <a:endParaRPr lang="en-US" sz="1400" dirty="0"/>
          </a:p>
        </p:txBody>
      </p:sp>
      <p:sp>
        <p:nvSpPr>
          <p:cNvPr id="24" name="s5_10"/>
          <p:cNvSpPr/>
          <p:nvPr/>
        </p:nvSpPr>
        <p:spPr>
          <a:xfrm>
            <a:off x="10881360" y="2761488"/>
            <a:ext cx="292608" cy="292608"/>
          </a:xfrm>
          <a:prstGeom prst="ellips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s5_11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6224" y="2816352"/>
            <a:ext cx="182880" cy="182880"/>
          </a:xfrm>
          <a:prstGeom prst="rect">
            <a:avLst/>
          </a:prstGeom>
        </p:spPr>
      </p:pic>
      <p:sp>
        <p:nvSpPr>
          <p:cNvPr id="26" name="s5_12"/>
          <p:cNvSpPr/>
          <p:nvPr/>
        </p:nvSpPr>
        <p:spPr>
          <a:xfrm>
            <a:off x="868680" y="3374136"/>
            <a:ext cx="10451592" cy="0"/>
          </a:xfrm>
          <a:prstGeom prst="line">
            <a:avLst/>
          </a:prstGeom>
          <a:noFill/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27" name="s5_13"/>
          <p:cNvSpPr/>
          <p:nvPr/>
        </p:nvSpPr>
        <p:spPr>
          <a:xfrm>
            <a:off x="868680" y="3639312"/>
            <a:ext cx="100584" cy="10058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8" name="s5_14"/>
          <p:cNvSpPr txBox="1"/>
          <p:nvPr/>
        </p:nvSpPr>
        <p:spPr>
          <a:xfrm>
            <a:off x="1115568" y="352044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65K context window</a:t>
            </a:r>
            <a:endParaRPr lang="en-US" sz="1500" dirty="0"/>
          </a:p>
        </p:txBody>
      </p:sp>
      <p:sp>
        <p:nvSpPr>
          <p:cNvPr id="29" name="s5_15"/>
          <p:cNvSpPr txBox="1"/>
          <p:nvPr/>
        </p:nvSpPr>
        <p:spPr>
          <a:xfrm>
            <a:off x="1115568" y="384962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KV cache exceeded 6 GB VRAM → CPU fallback → 20+ min inference</a:t>
            </a:r>
            <a:endParaRPr lang="en-US" sz="1200" dirty="0"/>
          </a:p>
        </p:txBody>
      </p:sp>
      <p:sp>
        <p:nvSpPr>
          <p:cNvPr id="30" name="s5_16"/>
          <p:cNvSpPr txBox="1"/>
          <p:nvPr/>
        </p:nvSpPr>
        <p:spPr>
          <a:xfrm>
            <a:off x="6035040" y="352044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→</a:t>
            </a:r>
            <a:endParaRPr lang="en-US" sz="1800" dirty="0"/>
          </a:p>
        </p:txBody>
      </p:sp>
      <p:sp>
        <p:nvSpPr>
          <p:cNvPr id="31" name="s5_17"/>
          <p:cNvSpPr txBox="1"/>
          <p:nvPr/>
        </p:nvSpPr>
        <p:spPr>
          <a:xfrm>
            <a:off x="6583680" y="352044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8K context fits VRAM → GPU inference restored</a:t>
            </a:r>
            <a:endParaRPr lang="en-US" sz="1400" dirty="0"/>
          </a:p>
        </p:txBody>
      </p:sp>
      <p:sp>
        <p:nvSpPr>
          <p:cNvPr id="32" name="s5_18"/>
          <p:cNvSpPr/>
          <p:nvPr/>
        </p:nvSpPr>
        <p:spPr>
          <a:xfrm>
            <a:off x="10881360" y="3694176"/>
            <a:ext cx="292608" cy="292608"/>
          </a:xfrm>
          <a:prstGeom prst="ellips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pic>
        <p:nvPicPr>
          <p:cNvPr id="33" name="s5_19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6224" y="3749040"/>
            <a:ext cx="182880" cy="182880"/>
          </a:xfrm>
          <a:prstGeom prst="rect">
            <a:avLst/>
          </a:prstGeom>
        </p:spPr>
      </p:pic>
      <p:sp>
        <p:nvSpPr>
          <p:cNvPr id="34" name="s5_20"/>
          <p:cNvSpPr/>
          <p:nvPr/>
        </p:nvSpPr>
        <p:spPr>
          <a:xfrm>
            <a:off x="868680" y="4306824"/>
            <a:ext cx="10451592" cy="0"/>
          </a:xfrm>
          <a:prstGeom prst="line">
            <a:avLst/>
          </a:prstGeom>
          <a:noFill/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35" name="s5_21"/>
          <p:cNvSpPr/>
          <p:nvPr/>
        </p:nvSpPr>
        <p:spPr>
          <a:xfrm>
            <a:off x="868680" y="4572000"/>
            <a:ext cx="100584" cy="10058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6" name="s5_22"/>
          <p:cNvSpPr txBox="1"/>
          <p:nvPr/>
        </p:nvSpPr>
        <p:spPr>
          <a:xfrm>
            <a:off x="1115568" y="445312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AI hallucination</a:t>
            </a:r>
            <a:endParaRPr lang="en-US" sz="1500" dirty="0"/>
          </a:p>
        </p:txBody>
      </p:sp>
      <p:sp>
        <p:nvSpPr>
          <p:cNvPr id="37" name="s5_23"/>
          <p:cNvSpPr txBox="1"/>
          <p:nvPr/>
        </p:nvSpPr>
        <p:spPr>
          <a:xfrm>
            <a:off x="1115568" y="478231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Generated findings could be incorrect</a:t>
            </a:r>
            <a:endParaRPr lang="en-US" sz="1200" dirty="0"/>
          </a:p>
        </p:txBody>
      </p:sp>
      <p:sp>
        <p:nvSpPr>
          <p:cNvPr id="38" name="s5_24"/>
          <p:cNvSpPr txBox="1"/>
          <p:nvPr/>
        </p:nvSpPr>
        <p:spPr>
          <a:xfrm>
            <a:off x="6035040" y="4453128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→</a:t>
            </a:r>
            <a:endParaRPr lang="en-US" sz="1800" dirty="0"/>
          </a:p>
        </p:txBody>
      </p:sp>
      <p:sp>
        <p:nvSpPr>
          <p:cNvPr id="39" name="s5_25"/>
          <p:cNvSpPr txBox="1"/>
          <p:nvPr/>
        </p:nvSpPr>
        <p:spPr>
          <a:xfrm>
            <a:off x="6583680" y="445312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ULTRON verification + bounded replan</a:t>
            </a:r>
            <a:endParaRPr lang="en-US" sz="1400" dirty="0"/>
          </a:p>
        </p:txBody>
      </p:sp>
      <p:sp>
        <p:nvSpPr>
          <p:cNvPr id="40" name="s5_26"/>
          <p:cNvSpPr/>
          <p:nvPr/>
        </p:nvSpPr>
        <p:spPr>
          <a:xfrm>
            <a:off x="10881360" y="4626864"/>
            <a:ext cx="292608" cy="292608"/>
          </a:xfrm>
          <a:prstGeom prst="ellips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pic>
        <p:nvPicPr>
          <p:cNvPr id="41" name="s5_27" descr="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6224" y="4681728"/>
            <a:ext cx="182880" cy="182880"/>
          </a:xfrm>
          <a:prstGeom prst="rect">
            <a:avLst/>
          </a:prstGeom>
        </p:spPr>
      </p:pic>
      <p:sp>
        <p:nvSpPr>
          <p:cNvPr id="42" name="s5_28"/>
          <p:cNvSpPr/>
          <p:nvPr/>
        </p:nvSpPr>
        <p:spPr>
          <a:xfrm>
            <a:off x="868680" y="5239512"/>
            <a:ext cx="10451592" cy="0"/>
          </a:xfrm>
          <a:prstGeom prst="line">
            <a:avLst/>
          </a:prstGeom>
          <a:noFill/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43" name="s5_29"/>
          <p:cNvSpPr/>
          <p:nvPr/>
        </p:nvSpPr>
        <p:spPr>
          <a:xfrm>
            <a:off x="868680" y="5504688"/>
            <a:ext cx="100584" cy="10058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4" name="s5_30"/>
          <p:cNvSpPr txBox="1"/>
          <p:nvPr/>
        </p:nvSpPr>
        <p:spPr>
          <a:xfrm>
            <a:off x="1115568" y="538581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Generated-code risk</a:t>
            </a:r>
            <a:endParaRPr lang="en-US" sz="1500" dirty="0"/>
          </a:p>
        </p:txBody>
      </p:sp>
      <p:sp>
        <p:nvSpPr>
          <p:cNvPr id="45" name="s5_31"/>
          <p:cNvSpPr txBox="1"/>
          <p:nvPr/>
        </p:nvSpPr>
        <p:spPr>
          <a:xfrm>
            <a:off x="1115568" y="57150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AI code could reach the host or network</a:t>
            </a:r>
            <a:endParaRPr lang="en-US" sz="1200" dirty="0"/>
          </a:p>
        </p:txBody>
      </p:sp>
      <p:sp>
        <p:nvSpPr>
          <p:cNvPr id="46" name="s5_32"/>
          <p:cNvSpPr txBox="1"/>
          <p:nvPr/>
        </p:nvSpPr>
        <p:spPr>
          <a:xfrm>
            <a:off x="6035040" y="5385816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→</a:t>
            </a:r>
            <a:endParaRPr lang="en-US" sz="1800" dirty="0"/>
          </a:p>
        </p:txBody>
      </p:sp>
      <p:sp>
        <p:nvSpPr>
          <p:cNvPr id="47" name="s5_33"/>
          <p:cNvSpPr txBox="1"/>
          <p:nvPr/>
        </p:nvSpPr>
        <p:spPr>
          <a:xfrm>
            <a:off x="6583680" y="5385816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Hardened Docker sandbox → isolated execution</a:t>
            </a:r>
            <a:endParaRPr lang="en-US" sz="1400" dirty="0"/>
          </a:p>
        </p:txBody>
      </p:sp>
      <p:sp>
        <p:nvSpPr>
          <p:cNvPr id="48" name="s5_34"/>
          <p:cNvSpPr/>
          <p:nvPr/>
        </p:nvSpPr>
        <p:spPr>
          <a:xfrm>
            <a:off x="10881360" y="5559552"/>
            <a:ext cx="292608" cy="292608"/>
          </a:xfrm>
          <a:prstGeom prst="ellips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pic>
        <p:nvPicPr>
          <p:cNvPr id="49" name="s5_35" descr="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6224" y="5614416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108960" y="3291840"/>
            <a:ext cx="6858000" cy="6858000"/>
          </a:xfrm>
          <a:prstGeom prst="rect">
            <a:avLst/>
          </a:prstGeom>
        </p:spPr>
      </p:pic>
      <p:sp>
        <p:nvSpPr>
          <p:cNvPr id="3" name="!!canvas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" name="!!px1"/>
          <p:cNvSpPr/>
          <p:nvPr/>
        </p:nvSpPr>
        <p:spPr>
          <a:xfrm>
            <a:off x="8719068" y="1212842"/>
            <a:ext cx="128016" cy="2560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!!px2"/>
          <p:cNvSpPr/>
          <p:nvPr/>
        </p:nvSpPr>
        <p:spPr>
          <a:xfrm>
            <a:off x="9462399" y="1158520"/>
            <a:ext cx="256032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!!px3"/>
          <p:cNvSpPr/>
          <p:nvPr/>
        </p:nvSpPr>
        <p:spPr>
          <a:xfrm>
            <a:off x="9103204" y="696027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!!px4"/>
          <p:cNvSpPr/>
          <p:nvPr/>
        </p:nvSpPr>
        <p:spPr>
          <a:xfrm>
            <a:off x="9869395" y="619928"/>
            <a:ext cx="128016" cy="2560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!!px5"/>
          <p:cNvSpPr/>
          <p:nvPr/>
        </p:nvSpPr>
        <p:spPr>
          <a:xfrm>
            <a:off x="9695923" y="332555"/>
            <a:ext cx="256032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!!px6"/>
          <p:cNvSpPr/>
          <p:nvPr/>
        </p:nvSpPr>
        <p:spPr>
          <a:xfrm>
            <a:off x="9939176" y="1106664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!!px7"/>
          <p:cNvSpPr/>
          <p:nvPr/>
        </p:nvSpPr>
        <p:spPr>
          <a:xfrm>
            <a:off x="10425361" y="593219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!!mark"/>
          <p:cNvSpPr/>
          <p:nvPr/>
        </p:nvSpPr>
        <p:spPr>
          <a:xfrm>
            <a:off x="11201400" y="548640"/>
            <a:ext cx="438912" cy="438912"/>
          </a:xfrm>
          <a:custGeom>
            <a:avLst/>
            <a:gdLst/>
            <a:ahLst/>
            <a:cxnLst/>
            <a:rect l="l" t="t" r="r" b="b"/>
            <a:pathLst>
              <a:path w="438912" h="438912">
                <a:moveTo>
                  <a:pt x="218362" y="0"/>
                </a:moveTo>
                <a:lnTo>
                  <a:pt x="212267" y="2268"/>
                </a:lnTo>
                <a:lnTo>
                  <a:pt x="160755" y="32094"/>
                </a:lnTo>
                <a:lnTo>
                  <a:pt x="156866" y="36031"/>
                </a:lnTo>
                <a:lnTo>
                  <a:pt x="155574" y="41149"/>
                </a:lnTo>
                <a:lnTo>
                  <a:pt x="155716" y="95874"/>
                </a:lnTo>
                <a:lnTo>
                  <a:pt x="154551" y="100204"/>
                </a:lnTo>
                <a:lnTo>
                  <a:pt x="152614" y="102204"/>
                </a:lnTo>
                <a:lnTo>
                  <a:pt x="148881" y="103763"/>
                </a:lnTo>
                <a:lnTo>
                  <a:pt x="144551" y="102409"/>
                </a:lnTo>
                <a:lnTo>
                  <a:pt x="96677" y="74614"/>
                </a:lnTo>
                <a:lnTo>
                  <a:pt x="91401" y="73685"/>
                </a:lnTo>
                <a:lnTo>
                  <a:pt x="87071" y="74614"/>
                </a:lnTo>
                <a:lnTo>
                  <a:pt x="32535" y="106189"/>
                </a:lnTo>
                <a:lnTo>
                  <a:pt x="29197" y="109937"/>
                </a:lnTo>
                <a:lnTo>
                  <a:pt x="28110" y="113401"/>
                </a:lnTo>
                <a:lnTo>
                  <a:pt x="28079" y="175999"/>
                </a:lnTo>
                <a:lnTo>
                  <a:pt x="28992" y="181118"/>
                </a:lnTo>
                <a:lnTo>
                  <a:pt x="33323" y="185716"/>
                </a:lnTo>
                <a:lnTo>
                  <a:pt x="81212" y="213196"/>
                </a:lnTo>
                <a:lnTo>
                  <a:pt x="83716" y="215653"/>
                </a:lnTo>
                <a:lnTo>
                  <a:pt x="84441" y="219306"/>
                </a:lnTo>
                <a:lnTo>
                  <a:pt x="83732" y="222850"/>
                </a:lnTo>
                <a:lnTo>
                  <a:pt x="81748" y="225086"/>
                </a:lnTo>
                <a:lnTo>
                  <a:pt x="33716" y="252708"/>
                </a:lnTo>
                <a:lnTo>
                  <a:pt x="29102" y="257291"/>
                </a:lnTo>
                <a:lnTo>
                  <a:pt x="28031" y="262802"/>
                </a:lnTo>
                <a:lnTo>
                  <a:pt x="28079" y="325007"/>
                </a:lnTo>
                <a:lnTo>
                  <a:pt x="30535" y="330723"/>
                </a:lnTo>
                <a:lnTo>
                  <a:pt x="34709" y="333794"/>
                </a:lnTo>
                <a:lnTo>
                  <a:pt x="86472" y="363715"/>
                </a:lnTo>
                <a:lnTo>
                  <a:pt x="91401" y="365148"/>
                </a:lnTo>
                <a:lnTo>
                  <a:pt x="97496" y="363637"/>
                </a:lnTo>
                <a:lnTo>
                  <a:pt x="144740" y="336062"/>
                </a:lnTo>
                <a:lnTo>
                  <a:pt x="148677" y="335180"/>
                </a:lnTo>
                <a:lnTo>
                  <a:pt x="152000" y="336030"/>
                </a:lnTo>
                <a:lnTo>
                  <a:pt x="154551" y="338393"/>
                </a:lnTo>
                <a:lnTo>
                  <a:pt x="155637" y="342534"/>
                </a:lnTo>
                <a:lnTo>
                  <a:pt x="155590" y="397448"/>
                </a:lnTo>
                <a:lnTo>
                  <a:pt x="156944" y="402865"/>
                </a:lnTo>
                <a:lnTo>
                  <a:pt x="162661" y="407762"/>
                </a:lnTo>
                <a:lnTo>
                  <a:pt x="214944" y="437810"/>
                </a:lnTo>
                <a:lnTo>
                  <a:pt x="219543" y="438912"/>
                </a:lnTo>
                <a:lnTo>
                  <a:pt x="226834" y="436251"/>
                </a:lnTo>
                <a:lnTo>
                  <a:pt x="278991" y="405999"/>
                </a:lnTo>
                <a:lnTo>
                  <a:pt x="281952" y="402818"/>
                </a:lnTo>
                <a:lnTo>
                  <a:pt x="283322" y="397259"/>
                </a:lnTo>
                <a:lnTo>
                  <a:pt x="283227" y="342723"/>
                </a:lnTo>
                <a:lnTo>
                  <a:pt x="284472" y="338204"/>
                </a:lnTo>
                <a:lnTo>
                  <a:pt x="286912" y="336030"/>
                </a:lnTo>
                <a:lnTo>
                  <a:pt x="290015" y="335117"/>
                </a:lnTo>
                <a:lnTo>
                  <a:pt x="294157" y="336046"/>
                </a:lnTo>
                <a:lnTo>
                  <a:pt x="341400" y="363621"/>
                </a:lnTo>
                <a:lnTo>
                  <a:pt x="347495" y="365148"/>
                </a:lnTo>
                <a:lnTo>
                  <a:pt x="352613" y="363605"/>
                </a:lnTo>
                <a:lnTo>
                  <a:pt x="406550" y="332345"/>
                </a:lnTo>
                <a:lnTo>
                  <a:pt x="409699" y="328755"/>
                </a:lnTo>
                <a:lnTo>
                  <a:pt x="410833" y="325007"/>
                </a:lnTo>
                <a:lnTo>
                  <a:pt x="410881" y="262613"/>
                </a:lnTo>
                <a:lnTo>
                  <a:pt x="409857" y="257495"/>
                </a:lnTo>
                <a:lnTo>
                  <a:pt x="405180" y="252708"/>
                </a:lnTo>
                <a:lnTo>
                  <a:pt x="357148" y="225070"/>
                </a:lnTo>
                <a:lnTo>
                  <a:pt x="355180" y="222991"/>
                </a:lnTo>
                <a:lnTo>
                  <a:pt x="354440" y="219102"/>
                </a:lnTo>
                <a:lnTo>
                  <a:pt x="355274" y="215369"/>
                </a:lnTo>
                <a:lnTo>
                  <a:pt x="357715" y="213196"/>
                </a:lnTo>
                <a:lnTo>
                  <a:pt x="405369" y="185826"/>
                </a:lnTo>
                <a:lnTo>
                  <a:pt x="409699" y="181511"/>
                </a:lnTo>
                <a:lnTo>
                  <a:pt x="410786" y="177370"/>
                </a:lnTo>
                <a:lnTo>
                  <a:pt x="410786" y="113401"/>
                </a:lnTo>
                <a:lnTo>
                  <a:pt x="409699" y="109968"/>
                </a:lnTo>
                <a:lnTo>
                  <a:pt x="406345" y="106110"/>
                </a:lnTo>
                <a:lnTo>
                  <a:pt x="351826" y="74598"/>
                </a:lnTo>
                <a:lnTo>
                  <a:pt x="347495" y="73701"/>
                </a:lnTo>
                <a:lnTo>
                  <a:pt x="342188" y="74614"/>
                </a:lnTo>
                <a:lnTo>
                  <a:pt x="294346" y="102393"/>
                </a:lnTo>
                <a:lnTo>
                  <a:pt x="290220" y="103763"/>
                </a:lnTo>
                <a:lnTo>
                  <a:pt x="286283" y="102236"/>
                </a:lnTo>
                <a:lnTo>
                  <a:pt x="284078" y="99622"/>
                </a:lnTo>
                <a:lnTo>
                  <a:pt x="283212" y="95480"/>
                </a:lnTo>
                <a:lnTo>
                  <a:pt x="283306" y="40961"/>
                </a:lnTo>
                <a:lnTo>
                  <a:pt x="281952" y="35779"/>
                </a:lnTo>
                <a:lnTo>
                  <a:pt x="277810" y="31937"/>
                </a:lnTo>
                <a:lnTo>
                  <a:pt x="226629" y="2252"/>
                </a:lnTo>
                <a:lnTo>
                  <a:pt x="223086" y="472"/>
                </a:lnTo>
                <a:lnTo>
                  <a:pt x="218362" y="0"/>
                </a:lnTo>
                <a:close/>
                <a:moveTo>
                  <a:pt x="218362" y="147228"/>
                </a:moveTo>
                <a:lnTo>
                  <a:pt x="214236" y="148724"/>
                </a:lnTo>
                <a:lnTo>
                  <a:pt x="159889" y="180125"/>
                </a:lnTo>
                <a:lnTo>
                  <a:pt x="156834" y="183480"/>
                </a:lnTo>
                <a:lnTo>
                  <a:pt x="155763" y="188787"/>
                </a:lnTo>
                <a:lnTo>
                  <a:pt x="155732" y="243905"/>
                </a:lnTo>
                <a:lnTo>
                  <a:pt x="156251" y="253354"/>
                </a:lnTo>
                <a:lnTo>
                  <a:pt x="159700" y="258314"/>
                </a:lnTo>
                <a:lnTo>
                  <a:pt x="213637" y="289621"/>
                </a:lnTo>
                <a:lnTo>
                  <a:pt x="219747" y="291527"/>
                </a:lnTo>
                <a:lnTo>
                  <a:pt x="225259" y="289621"/>
                </a:lnTo>
                <a:lnTo>
                  <a:pt x="279196" y="258298"/>
                </a:lnTo>
                <a:lnTo>
                  <a:pt x="282078" y="254928"/>
                </a:lnTo>
                <a:lnTo>
                  <a:pt x="283117" y="249417"/>
                </a:lnTo>
                <a:lnTo>
                  <a:pt x="283117" y="188992"/>
                </a:lnTo>
                <a:lnTo>
                  <a:pt x="282141" y="183716"/>
                </a:lnTo>
                <a:lnTo>
                  <a:pt x="278991" y="180125"/>
                </a:lnTo>
                <a:lnTo>
                  <a:pt x="224487" y="148629"/>
                </a:lnTo>
                <a:lnTo>
                  <a:pt x="218362" y="147228"/>
                </a:lnTo>
                <a:close/>
                <a:moveTo>
                  <a:pt x="218960" y="73827"/>
                </a:moveTo>
                <a:lnTo>
                  <a:pt x="215023" y="74598"/>
                </a:lnTo>
                <a:lnTo>
                  <a:pt x="168141" y="101590"/>
                </a:lnTo>
                <a:lnTo>
                  <a:pt x="164425" y="104535"/>
                </a:lnTo>
                <a:lnTo>
                  <a:pt x="163102" y="106708"/>
                </a:lnTo>
                <a:lnTo>
                  <a:pt x="162834" y="109259"/>
                </a:lnTo>
                <a:lnTo>
                  <a:pt x="163401" y="111622"/>
                </a:lnTo>
                <a:lnTo>
                  <a:pt x="166346" y="114976"/>
                </a:lnTo>
                <a:lnTo>
                  <a:pt x="215212" y="143165"/>
                </a:lnTo>
                <a:lnTo>
                  <a:pt x="219936" y="143905"/>
                </a:lnTo>
                <a:lnTo>
                  <a:pt x="223684" y="143165"/>
                </a:lnTo>
                <a:lnTo>
                  <a:pt x="272503" y="115023"/>
                </a:lnTo>
                <a:lnTo>
                  <a:pt x="275479" y="111622"/>
                </a:lnTo>
                <a:lnTo>
                  <a:pt x="276046" y="109259"/>
                </a:lnTo>
                <a:lnTo>
                  <a:pt x="275794" y="106708"/>
                </a:lnTo>
                <a:lnTo>
                  <a:pt x="274472" y="104535"/>
                </a:lnTo>
                <a:lnTo>
                  <a:pt x="270708" y="101590"/>
                </a:lnTo>
                <a:lnTo>
                  <a:pt x="223873" y="74614"/>
                </a:lnTo>
                <a:lnTo>
                  <a:pt x="218960" y="73827"/>
                </a:lnTo>
                <a:close/>
                <a:moveTo>
                  <a:pt x="98283" y="224598"/>
                </a:moveTo>
                <a:lnTo>
                  <a:pt x="93763" y="227039"/>
                </a:lnTo>
                <a:lnTo>
                  <a:pt x="91937" y="231306"/>
                </a:lnTo>
                <a:lnTo>
                  <a:pt x="91905" y="287416"/>
                </a:lnTo>
                <a:lnTo>
                  <a:pt x="93590" y="292723"/>
                </a:lnTo>
                <a:lnTo>
                  <a:pt x="97102" y="295983"/>
                </a:lnTo>
                <a:lnTo>
                  <a:pt x="145952" y="324219"/>
                </a:lnTo>
                <a:lnTo>
                  <a:pt x="151039" y="324172"/>
                </a:lnTo>
                <a:lnTo>
                  <a:pt x="154535" y="321070"/>
                </a:lnTo>
                <a:lnTo>
                  <a:pt x="155763" y="317527"/>
                </a:lnTo>
                <a:lnTo>
                  <a:pt x="155669" y="262015"/>
                </a:lnTo>
                <a:lnTo>
                  <a:pt x="154582" y="257480"/>
                </a:lnTo>
                <a:lnTo>
                  <a:pt x="151842" y="254141"/>
                </a:lnTo>
                <a:lnTo>
                  <a:pt x="103606" y="225984"/>
                </a:lnTo>
                <a:lnTo>
                  <a:pt x="98283" y="224598"/>
                </a:lnTo>
                <a:close/>
                <a:moveTo>
                  <a:pt x="339227" y="224598"/>
                </a:moveTo>
                <a:lnTo>
                  <a:pt x="335495" y="225952"/>
                </a:lnTo>
                <a:lnTo>
                  <a:pt x="287101" y="254141"/>
                </a:lnTo>
                <a:lnTo>
                  <a:pt x="284314" y="257369"/>
                </a:lnTo>
                <a:lnTo>
                  <a:pt x="283196" y="261432"/>
                </a:lnTo>
                <a:lnTo>
                  <a:pt x="283227" y="317527"/>
                </a:lnTo>
                <a:lnTo>
                  <a:pt x="284472" y="321275"/>
                </a:lnTo>
                <a:lnTo>
                  <a:pt x="288046" y="324172"/>
                </a:lnTo>
                <a:lnTo>
                  <a:pt x="291590" y="324487"/>
                </a:lnTo>
                <a:lnTo>
                  <a:pt x="295133" y="322881"/>
                </a:lnTo>
                <a:lnTo>
                  <a:pt x="341637" y="296078"/>
                </a:lnTo>
                <a:lnTo>
                  <a:pt x="345337" y="292613"/>
                </a:lnTo>
                <a:lnTo>
                  <a:pt x="346975" y="287416"/>
                </a:lnTo>
                <a:lnTo>
                  <a:pt x="346928" y="231117"/>
                </a:lnTo>
                <a:lnTo>
                  <a:pt x="345526" y="227574"/>
                </a:lnTo>
                <a:lnTo>
                  <a:pt x="343936" y="225999"/>
                </a:lnTo>
                <a:lnTo>
                  <a:pt x="339227" y="224598"/>
                </a:lnTo>
                <a:close/>
              </a:path>
            </a:pathLst>
          </a:custGeom>
          <a:solidFill>
            <a:schemeClr val="tx1"/>
          </a:solidFill>
          <a:ln/>
        </p:spPr>
      </p:sp>
      <p:sp>
        <p:nvSpPr>
          <p:cNvPr id="12" name="!!eyebrow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VIABILITY  ·  RESOURCES &amp; ECONOMICS</a:t>
            </a:r>
            <a:endParaRPr lang="en-US" sz="1100" dirty="0"/>
          </a:p>
        </p:txBody>
      </p:sp>
      <p:sp>
        <p:nvSpPr>
          <p:cNvPr id="14" name="!!title"/>
          <p:cNvSpPr txBox="1"/>
          <p:nvPr/>
        </p:nvSpPr>
        <p:spPr>
          <a:xfrm>
            <a:off x="548640" y="6858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spc="-50" kern="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What it takes, </a:t>
            </a:r>
            <a:pPr indent="0" marL="0">
              <a:buNone/>
            </a:pPr>
            <a:r>
              <a:rPr lang="en-US" sz="3600" spc="-5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what it pays.</a:t>
            </a:r>
            <a:endParaRPr lang="en-US" sz="3600" dirty="0"/>
          </a:p>
        </p:txBody>
      </p:sp>
      <p:sp>
        <p:nvSpPr>
          <p:cNvPr id="15" name="s6_1"/>
          <p:cNvSpPr/>
          <p:nvPr/>
        </p:nvSpPr>
        <p:spPr>
          <a:xfrm>
            <a:off x="548640" y="1783080"/>
            <a:ext cx="11091672" cy="2103120"/>
          </a:xfrm>
          <a:prstGeom prst="roundRect">
            <a:avLst>
              <a:gd name="adj" fmla="val 6957"/>
            </a:avLst>
          </a:prstGeom>
          <a:solidFill>
            <a:schemeClr val="tx1"/>
          </a:solidFill>
          <a:ln/>
          <a:effectLst>
            <a:outerShdw sx="100000" sy="100000" kx="0" ky="0" algn="bl" rotWithShape="0" blurRad="304800" dist="101600" dir="5400000">
              <a:srgbClr val="000000">
                <a:alpha val="18000"/>
              </a:srgbClr>
            </a:outerShdw>
          </a:effectLst>
        </p:spPr>
      </p:sp>
      <p:sp>
        <p:nvSpPr>
          <p:cNvPr id="16" name="s6_2"/>
          <p:cNvSpPr txBox="1"/>
          <p:nvPr/>
        </p:nvSpPr>
        <p:spPr>
          <a:xfrm>
            <a:off x="822960" y="2011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RESOURCE REQUIREMENTS</a:t>
            </a:r>
            <a:endParaRPr lang="en-US" sz="1000" dirty="0"/>
          </a:p>
        </p:txBody>
      </p:sp>
      <p:sp>
        <p:nvSpPr>
          <p:cNvPr id="17" name="s6_3"/>
          <p:cNvSpPr/>
          <p:nvPr/>
        </p:nvSpPr>
        <p:spPr>
          <a:xfrm>
            <a:off x="822960" y="2377440"/>
            <a:ext cx="2532888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pic>
        <p:nvPicPr>
          <p:cNvPr id="18" name="s6_4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560320"/>
            <a:ext cx="292608" cy="292608"/>
          </a:xfrm>
          <a:prstGeom prst="rect">
            <a:avLst/>
          </a:prstGeom>
        </p:spPr>
      </p:pic>
      <p:sp>
        <p:nvSpPr>
          <p:cNvPr id="19" name="s6_5"/>
          <p:cNvSpPr txBox="1"/>
          <p:nvPr/>
        </p:nvSpPr>
        <p:spPr>
          <a:xfrm>
            <a:off x="1024128" y="2944368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Local compute + GPU (recommended)</a:t>
            </a:r>
            <a:endParaRPr lang="en-US" sz="1300" dirty="0"/>
          </a:p>
        </p:txBody>
      </p:sp>
      <p:sp>
        <p:nvSpPr>
          <p:cNvPr id="20" name="s6_6"/>
          <p:cNvSpPr/>
          <p:nvPr/>
        </p:nvSpPr>
        <p:spPr>
          <a:xfrm>
            <a:off x="3493008" y="2377440"/>
            <a:ext cx="2532888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pic>
        <p:nvPicPr>
          <p:cNvPr id="21" name="s6_7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2560320"/>
            <a:ext cx="292608" cy="292608"/>
          </a:xfrm>
          <a:prstGeom prst="rect">
            <a:avLst/>
          </a:prstGeom>
        </p:spPr>
      </p:pic>
      <p:sp>
        <p:nvSpPr>
          <p:cNvPr id="22" name="s6_8"/>
          <p:cNvSpPr txBox="1"/>
          <p:nvPr/>
        </p:nvSpPr>
        <p:spPr>
          <a:xfrm>
            <a:off x="3694176" y="2944368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Docker + local model server</a:t>
            </a:r>
            <a:endParaRPr lang="en-US" sz="1300" dirty="0"/>
          </a:p>
        </p:txBody>
      </p:sp>
      <p:sp>
        <p:nvSpPr>
          <p:cNvPr id="23" name="s6_9"/>
          <p:cNvSpPr/>
          <p:nvPr/>
        </p:nvSpPr>
        <p:spPr>
          <a:xfrm>
            <a:off x="6163056" y="2377440"/>
            <a:ext cx="2532888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pic>
        <p:nvPicPr>
          <p:cNvPr id="24" name="s6_10" descr="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560320"/>
            <a:ext cx="292608" cy="292608"/>
          </a:xfrm>
          <a:prstGeom prst="rect">
            <a:avLst/>
          </a:prstGeom>
        </p:spPr>
      </p:pic>
      <p:sp>
        <p:nvSpPr>
          <p:cNvPr id="25" name="s6_11"/>
          <p:cNvSpPr txBox="1"/>
          <p:nvPr/>
        </p:nvSpPr>
        <p:spPr>
          <a:xfrm>
            <a:off x="6364224" y="2944368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Persistent storage + enterprise data</a:t>
            </a:r>
            <a:endParaRPr lang="en-US" sz="1300" dirty="0"/>
          </a:p>
        </p:txBody>
      </p:sp>
      <p:sp>
        <p:nvSpPr>
          <p:cNvPr id="26" name="s6_12"/>
          <p:cNvSpPr/>
          <p:nvPr/>
        </p:nvSpPr>
        <p:spPr>
          <a:xfrm>
            <a:off x="8833104" y="2377440"/>
            <a:ext cx="2532888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pic>
        <p:nvPicPr>
          <p:cNvPr id="27" name="s6_13" descr="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4272" y="2560320"/>
            <a:ext cx="292608" cy="292608"/>
          </a:xfrm>
          <a:prstGeom prst="rect">
            <a:avLst/>
          </a:prstGeom>
        </p:spPr>
      </p:pic>
      <p:sp>
        <p:nvSpPr>
          <p:cNvPr id="28" name="s6_14"/>
          <p:cNvSpPr txBox="1"/>
          <p:nvPr/>
        </p:nvSpPr>
        <p:spPr>
          <a:xfrm>
            <a:off x="9034272" y="2944368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Proven frameworks</a:t>
            </a:r>
            <a:endParaRPr lang="en-US" sz="1300" dirty="0"/>
          </a:p>
        </p:txBody>
      </p:sp>
      <p:sp>
        <p:nvSpPr>
          <p:cNvPr id="29" name="s6_15"/>
          <p:cNvSpPr txBox="1"/>
          <p:nvPr/>
        </p:nvSpPr>
        <p:spPr>
          <a:xfrm>
            <a:off x="548640" y="4160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6"/>
                </a:solidFill>
              </a:rPr>
              <a:t>ECONOMIC APPROACH</a:t>
            </a:r>
            <a:endParaRPr lang="en-US" sz="1000" dirty="0"/>
          </a:p>
        </p:txBody>
      </p:sp>
      <p:sp>
        <p:nvSpPr>
          <p:cNvPr id="30" name="s6_16"/>
          <p:cNvSpPr/>
          <p:nvPr/>
        </p:nvSpPr>
        <p:spPr>
          <a:xfrm>
            <a:off x="548640" y="4526280"/>
            <a:ext cx="3545129" cy="173736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chemeClr val="tx1">
                <a:alpha val="14000"/>
              </a:schemeClr>
            </a:solidFill>
            <a:prstDash val="solid"/>
          </a:ln>
        </p:spPr>
      </p:sp>
      <p:sp>
        <p:nvSpPr>
          <p:cNvPr id="31" name="s6_17"/>
          <p:cNvSpPr/>
          <p:nvPr/>
        </p:nvSpPr>
        <p:spPr>
          <a:xfrm>
            <a:off x="822960" y="4800600"/>
            <a:ext cx="45720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</p:sp>
      <p:pic>
        <p:nvPicPr>
          <p:cNvPr id="32" name="s6_18" descr="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4910328"/>
            <a:ext cx="237744" cy="237744"/>
          </a:xfrm>
          <a:prstGeom prst="rect">
            <a:avLst/>
          </a:prstGeom>
        </p:spPr>
      </p:pic>
      <p:sp>
        <p:nvSpPr>
          <p:cNvPr id="33" name="s6_19"/>
          <p:cNvSpPr txBox="1"/>
          <p:nvPr/>
        </p:nvSpPr>
        <p:spPr>
          <a:xfrm>
            <a:off x="1417320" y="4800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Lower recurring AI costs</a:t>
            </a:r>
            <a:endParaRPr lang="en-US" sz="1500" dirty="0"/>
          </a:p>
        </p:txBody>
      </p:sp>
      <p:sp>
        <p:nvSpPr>
          <p:cNvPr id="34" name="s6_20"/>
          <p:cNvSpPr txBox="1"/>
          <p:nvPr/>
        </p:nvSpPr>
        <p:spPr>
          <a:xfrm>
            <a:off x="822960" y="5440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Potentially lower costs for sustained, high-volume workloads</a:t>
            </a:r>
            <a:endParaRPr lang="en-US" sz="1250" dirty="0"/>
          </a:p>
        </p:txBody>
      </p:sp>
      <p:sp>
        <p:nvSpPr>
          <p:cNvPr id="35" name="s6_21"/>
          <p:cNvSpPr/>
          <p:nvPr/>
        </p:nvSpPr>
        <p:spPr>
          <a:xfrm>
            <a:off x="4322369" y="4526280"/>
            <a:ext cx="3545129" cy="173736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chemeClr val="tx1">
                <a:alpha val="14000"/>
              </a:schemeClr>
            </a:solidFill>
            <a:prstDash val="solid"/>
          </a:ln>
        </p:spPr>
      </p:sp>
      <p:sp>
        <p:nvSpPr>
          <p:cNvPr id="36" name="s6_22"/>
          <p:cNvSpPr/>
          <p:nvPr/>
        </p:nvSpPr>
        <p:spPr>
          <a:xfrm>
            <a:off x="4596689" y="4800600"/>
            <a:ext cx="45720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</p:sp>
      <p:pic>
        <p:nvPicPr>
          <p:cNvPr id="37" name="s6_23" descr="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6417" y="4910328"/>
            <a:ext cx="237744" cy="237744"/>
          </a:xfrm>
          <a:prstGeom prst="rect">
            <a:avLst/>
          </a:prstGeom>
        </p:spPr>
      </p:pic>
      <p:sp>
        <p:nvSpPr>
          <p:cNvPr id="38" name="s6_24"/>
          <p:cNvSpPr txBox="1"/>
          <p:nvPr/>
        </p:nvSpPr>
        <p:spPr>
          <a:xfrm>
            <a:off x="5191049" y="4800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Enterprise licensing</a:t>
            </a:r>
            <a:endParaRPr lang="en-US" sz="1500" dirty="0"/>
          </a:p>
        </p:txBody>
      </p:sp>
      <p:sp>
        <p:nvSpPr>
          <p:cNvPr id="39" name="s6_25"/>
          <p:cNvSpPr txBox="1"/>
          <p:nvPr/>
        </p:nvSpPr>
        <p:spPr>
          <a:xfrm>
            <a:off x="4596689" y="5440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Monetised through licensing plus setup and integration</a:t>
            </a:r>
            <a:endParaRPr lang="en-US" sz="1250" dirty="0"/>
          </a:p>
        </p:txBody>
      </p:sp>
      <p:sp>
        <p:nvSpPr>
          <p:cNvPr id="40" name="s6_26"/>
          <p:cNvSpPr/>
          <p:nvPr/>
        </p:nvSpPr>
        <p:spPr>
          <a:xfrm>
            <a:off x="8096098" y="4526280"/>
            <a:ext cx="3545129" cy="173736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chemeClr val="tx1">
                <a:alpha val="14000"/>
              </a:schemeClr>
            </a:solidFill>
            <a:prstDash val="solid"/>
          </a:ln>
        </p:spPr>
      </p:sp>
      <p:sp>
        <p:nvSpPr>
          <p:cNvPr id="41" name="s6_27"/>
          <p:cNvSpPr/>
          <p:nvPr/>
        </p:nvSpPr>
        <p:spPr>
          <a:xfrm>
            <a:off x="8370418" y="4800600"/>
            <a:ext cx="45720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</p:sp>
      <p:pic>
        <p:nvPicPr>
          <p:cNvPr id="42" name="s6_28" descr="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0146" y="4910328"/>
            <a:ext cx="237744" cy="237744"/>
          </a:xfrm>
          <a:prstGeom prst="rect">
            <a:avLst/>
          </a:prstGeom>
        </p:spPr>
      </p:pic>
      <p:sp>
        <p:nvSpPr>
          <p:cNvPr id="43" name="s6_29"/>
          <p:cNvSpPr txBox="1"/>
          <p:nvPr/>
        </p:nvSpPr>
        <p:spPr>
          <a:xfrm>
            <a:off x="8964778" y="4800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Recurring revenue</a:t>
            </a:r>
            <a:endParaRPr lang="en-US" sz="1500" dirty="0"/>
          </a:p>
        </p:txBody>
      </p:sp>
      <p:sp>
        <p:nvSpPr>
          <p:cNvPr id="44" name="s6_30"/>
          <p:cNvSpPr txBox="1"/>
          <p:nvPr/>
        </p:nvSpPr>
        <p:spPr>
          <a:xfrm>
            <a:off x="8370418" y="5440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Support, maintenance and custom agents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3291840"/>
            <a:ext cx="6858000" cy="6858000"/>
          </a:xfrm>
          <a:prstGeom prst="rect">
            <a:avLst/>
          </a:prstGeom>
        </p:spPr>
      </p:pic>
      <p:sp>
        <p:nvSpPr>
          <p:cNvPr id="3" name="!!canvas"/>
          <p:cNvSpPr/>
          <p:nvPr/>
        </p:nvSpPr>
        <p:spPr>
          <a:xfrm>
            <a:off x="-365760" y="0"/>
            <a:ext cx="182880" cy="6858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" name="!!px1"/>
          <p:cNvSpPr/>
          <p:nvPr/>
        </p:nvSpPr>
        <p:spPr>
          <a:xfrm>
            <a:off x="8538494" y="737502"/>
            <a:ext cx="128016" cy="2560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!!px2"/>
          <p:cNvSpPr/>
          <p:nvPr/>
        </p:nvSpPr>
        <p:spPr>
          <a:xfrm>
            <a:off x="9091957" y="1015768"/>
            <a:ext cx="256032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!!px3"/>
          <p:cNvSpPr/>
          <p:nvPr/>
        </p:nvSpPr>
        <p:spPr>
          <a:xfrm>
            <a:off x="9505235" y="567146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!!px4"/>
          <p:cNvSpPr/>
          <p:nvPr/>
        </p:nvSpPr>
        <p:spPr>
          <a:xfrm>
            <a:off x="10103724" y="841045"/>
            <a:ext cx="128016" cy="2560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!!px5"/>
          <p:cNvSpPr/>
          <p:nvPr/>
        </p:nvSpPr>
        <p:spPr>
          <a:xfrm>
            <a:off x="10392475" y="583237"/>
            <a:ext cx="256032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!!px6"/>
          <p:cNvSpPr/>
          <p:nvPr/>
        </p:nvSpPr>
        <p:spPr>
          <a:xfrm>
            <a:off x="9470649" y="1183314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!!px7"/>
          <p:cNvSpPr/>
          <p:nvPr/>
        </p:nvSpPr>
        <p:spPr>
          <a:xfrm>
            <a:off x="10498294" y="1058119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!!mark"/>
          <p:cNvSpPr/>
          <p:nvPr/>
        </p:nvSpPr>
        <p:spPr>
          <a:xfrm rot="3600000">
            <a:off x="11201400" y="548640"/>
            <a:ext cx="438912" cy="438912"/>
          </a:xfrm>
          <a:custGeom>
            <a:avLst/>
            <a:gdLst/>
            <a:ahLst/>
            <a:cxnLst/>
            <a:rect l="l" t="t" r="r" b="b"/>
            <a:pathLst>
              <a:path w="438912" h="438912">
                <a:moveTo>
                  <a:pt x="218362" y="0"/>
                </a:moveTo>
                <a:lnTo>
                  <a:pt x="212267" y="2268"/>
                </a:lnTo>
                <a:lnTo>
                  <a:pt x="160755" y="32094"/>
                </a:lnTo>
                <a:lnTo>
                  <a:pt x="156866" y="36031"/>
                </a:lnTo>
                <a:lnTo>
                  <a:pt x="155574" y="41149"/>
                </a:lnTo>
                <a:lnTo>
                  <a:pt x="155716" y="95874"/>
                </a:lnTo>
                <a:lnTo>
                  <a:pt x="154551" y="100204"/>
                </a:lnTo>
                <a:lnTo>
                  <a:pt x="152614" y="102204"/>
                </a:lnTo>
                <a:lnTo>
                  <a:pt x="148881" y="103763"/>
                </a:lnTo>
                <a:lnTo>
                  <a:pt x="144551" y="102409"/>
                </a:lnTo>
                <a:lnTo>
                  <a:pt x="96677" y="74614"/>
                </a:lnTo>
                <a:lnTo>
                  <a:pt x="91401" y="73685"/>
                </a:lnTo>
                <a:lnTo>
                  <a:pt x="87071" y="74614"/>
                </a:lnTo>
                <a:lnTo>
                  <a:pt x="32535" y="106189"/>
                </a:lnTo>
                <a:lnTo>
                  <a:pt x="29197" y="109937"/>
                </a:lnTo>
                <a:lnTo>
                  <a:pt x="28110" y="113401"/>
                </a:lnTo>
                <a:lnTo>
                  <a:pt x="28079" y="175999"/>
                </a:lnTo>
                <a:lnTo>
                  <a:pt x="28992" y="181118"/>
                </a:lnTo>
                <a:lnTo>
                  <a:pt x="33323" y="185716"/>
                </a:lnTo>
                <a:lnTo>
                  <a:pt x="81212" y="213196"/>
                </a:lnTo>
                <a:lnTo>
                  <a:pt x="83716" y="215653"/>
                </a:lnTo>
                <a:lnTo>
                  <a:pt x="84441" y="219306"/>
                </a:lnTo>
                <a:lnTo>
                  <a:pt x="83732" y="222850"/>
                </a:lnTo>
                <a:lnTo>
                  <a:pt x="81748" y="225086"/>
                </a:lnTo>
                <a:lnTo>
                  <a:pt x="33716" y="252708"/>
                </a:lnTo>
                <a:lnTo>
                  <a:pt x="29102" y="257291"/>
                </a:lnTo>
                <a:lnTo>
                  <a:pt x="28031" y="262802"/>
                </a:lnTo>
                <a:lnTo>
                  <a:pt x="28079" y="325007"/>
                </a:lnTo>
                <a:lnTo>
                  <a:pt x="30535" y="330723"/>
                </a:lnTo>
                <a:lnTo>
                  <a:pt x="34709" y="333794"/>
                </a:lnTo>
                <a:lnTo>
                  <a:pt x="86472" y="363715"/>
                </a:lnTo>
                <a:lnTo>
                  <a:pt x="91401" y="365148"/>
                </a:lnTo>
                <a:lnTo>
                  <a:pt x="97496" y="363637"/>
                </a:lnTo>
                <a:lnTo>
                  <a:pt x="144740" y="336062"/>
                </a:lnTo>
                <a:lnTo>
                  <a:pt x="148677" y="335180"/>
                </a:lnTo>
                <a:lnTo>
                  <a:pt x="152000" y="336030"/>
                </a:lnTo>
                <a:lnTo>
                  <a:pt x="154551" y="338393"/>
                </a:lnTo>
                <a:lnTo>
                  <a:pt x="155637" y="342534"/>
                </a:lnTo>
                <a:lnTo>
                  <a:pt x="155590" y="397448"/>
                </a:lnTo>
                <a:lnTo>
                  <a:pt x="156944" y="402865"/>
                </a:lnTo>
                <a:lnTo>
                  <a:pt x="162661" y="407762"/>
                </a:lnTo>
                <a:lnTo>
                  <a:pt x="214944" y="437810"/>
                </a:lnTo>
                <a:lnTo>
                  <a:pt x="219543" y="438912"/>
                </a:lnTo>
                <a:lnTo>
                  <a:pt x="226834" y="436251"/>
                </a:lnTo>
                <a:lnTo>
                  <a:pt x="278991" y="405999"/>
                </a:lnTo>
                <a:lnTo>
                  <a:pt x="281952" y="402818"/>
                </a:lnTo>
                <a:lnTo>
                  <a:pt x="283322" y="397259"/>
                </a:lnTo>
                <a:lnTo>
                  <a:pt x="283227" y="342723"/>
                </a:lnTo>
                <a:lnTo>
                  <a:pt x="284472" y="338204"/>
                </a:lnTo>
                <a:lnTo>
                  <a:pt x="286912" y="336030"/>
                </a:lnTo>
                <a:lnTo>
                  <a:pt x="290015" y="335117"/>
                </a:lnTo>
                <a:lnTo>
                  <a:pt x="294157" y="336046"/>
                </a:lnTo>
                <a:lnTo>
                  <a:pt x="341400" y="363621"/>
                </a:lnTo>
                <a:lnTo>
                  <a:pt x="347495" y="365148"/>
                </a:lnTo>
                <a:lnTo>
                  <a:pt x="352613" y="363605"/>
                </a:lnTo>
                <a:lnTo>
                  <a:pt x="406550" y="332345"/>
                </a:lnTo>
                <a:lnTo>
                  <a:pt x="409699" y="328755"/>
                </a:lnTo>
                <a:lnTo>
                  <a:pt x="410833" y="325007"/>
                </a:lnTo>
                <a:lnTo>
                  <a:pt x="410881" y="262613"/>
                </a:lnTo>
                <a:lnTo>
                  <a:pt x="409857" y="257495"/>
                </a:lnTo>
                <a:lnTo>
                  <a:pt x="405180" y="252708"/>
                </a:lnTo>
                <a:lnTo>
                  <a:pt x="357148" y="225070"/>
                </a:lnTo>
                <a:lnTo>
                  <a:pt x="355180" y="222991"/>
                </a:lnTo>
                <a:lnTo>
                  <a:pt x="354440" y="219102"/>
                </a:lnTo>
                <a:lnTo>
                  <a:pt x="355274" y="215369"/>
                </a:lnTo>
                <a:lnTo>
                  <a:pt x="357715" y="213196"/>
                </a:lnTo>
                <a:lnTo>
                  <a:pt x="405369" y="185826"/>
                </a:lnTo>
                <a:lnTo>
                  <a:pt x="409699" y="181511"/>
                </a:lnTo>
                <a:lnTo>
                  <a:pt x="410786" y="177370"/>
                </a:lnTo>
                <a:lnTo>
                  <a:pt x="410786" y="113401"/>
                </a:lnTo>
                <a:lnTo>
                  <a:pt x="409699" y="109968"/>
                </a:lnTo>
                <a:lnTo>
                  <a:pt x="406345" y="106110"/>
                </a:lnTo>
                <a:lnTo>
                  <a:pt x="351826" y="74598"/>
                </a:lnTo>
                <a:lnTo>
                  <a:pt x="347495" y="73701"/>
                </a:lnTo>
                <a:lnTo>
                  <a:pt x="342188" y="74614"/>
                </a:lnTo>
                <a:lnTo>
                  <a:pt x="294346" y="102393"/>
                </a:lnTo>
                <a:lnTo>
                  <a:pt x="290220" y="103763"/>
                </a:lnTo>
                <a:lnTo>
                  <a:pt x="286283" y="102236"/>
                </a:lnTo>
                <a:lnTo>
                  <a:pt x="284078" y="99622"/>
                </a:lnTo>
                <a:lnTo>
                  <a:pt x="283212" y="95480"/>
                </a:lnTo>
                <a:lnTo>
                  <a:pt x="283306" y="40961"/>
                </a:lnTo>
                <a:lnTo>
                  <a:pt x="281952" y="35779"/>
                </a:lnTo>
                <a:lnTo>
                  <a:pt x="277810" y="31937"/>
                </a:lnTo>
                <a:lnTo>
                  <a:pt x="226629" y="2252"/>
                </a:lnTo>
                <a:lnTo>
                  <a:pt x="223086" y="472"/>
                </a:lnTo>
                <a:lnTo>
                  <a:pt x="218362" y="0"/>
                </a:lnTo>
                <a:close/>
                <a:moveTo>
                  <a:pt x="218362" y="147228"/>
                </a:moveTo>
                <a:lnTo>
                  <a:pt x="214236" y="148724"/>
                </a:lnTo>
                <a:lnTo>
                  <a:pt x="159889" y="180125"/>
                </a:lnTo>
                <a:lnTo>
                  <a:pt x="156834" y="183480"/>
                </a:lnTo>
                <a:lnTo>
                  <a:pt x="155763" y="188787"/>
                </a:lnTo>
                <a:lnTo>
                  <a:pt x="155732" y="243905"/>
                </a:lnTo>
                <a:lnTo>
                  <a:pt x="156251" y="253354"/>
                </a:lnTo>
                <a:lnTo>
                  <a:pt x="159700" y="258314"/>
                </a:lnTo>
                <a:lnTo>
                  <a:pt x="213637" y="289621"/>
                </a:lnTo>
                <a:lnTo>
                  <a:pt x="219747" y="291527"/>
                </a:lnTo>
                <a:lnTo>
                  <a:pt x="225259" y="289621"/>
                </a:lnTo>
                <a:lnTo>
                  <a:pt x="279196" y="258298"/>
                </a:lnTo>
                <a:lnTo>
                  <a:pt x="282078" y="254928"/>
                </a:lnTo>
                <a:lnTo>
                  <a:pt x="283117" y="249417"/>
                </a:lnTo>
                <a:lnTo>
                  <a:pt x="283117" y="188992"/>
                </a:lnTo>
                <a:lnTo>
                  <a:pt x="282141" y="183716"/>
                </a:lnTo>
                <a:lnTo>
                  <a:pt x="278991" y="180125"/>
                </a:lnTo>
                <a:lnTo>
                  <a:pt x="224487" y="148629"/>
                </a:lnTo>
                <a:lnTo>
                  <a:pt x="218362" y="147228"/>
                </a:lnTo>
                <a:close/>
                <a:moveTo>
                  <a:pt x="218960" y="73827"/>
                </a:moveTo>
                <a:lnTo>
                  <a:pt x="215023" y="74598"/>
                </a:lnTo>
                <a:lnTo>
                  <a:pt x="168141" y="101590"/>
                </a:lnTo>
                <a:lnTo>
                  <a:pt x="164425" y="104535"/>
                </a:lnTo>
                <a:lnTo>
                  <a:pt x="163102" y="106708"/>
                </a:lnTo>
                <a:lnTo>
                  <a:pt x="162834" y="109259"/>
                </a:lnTo>
                <a:lnTo>
                  <a:pt x="163401" y="111622"/>
                </a:lnTo>
                <a:lnTo>
                  <a:pt x="166346" y="114976"/>
                </a:lnTo>
                <a:lnTo>
                  <a:pt x="215212" y="143165"/>
                </a:lnTo>
                <a:lnTo>
                  <a:pt x="219936" y="143905"/>
                </a:lnTo>
                <a:lnTo>
                  <a:pt x="223684" y="143165"/>
                </a:lnTo>
                <a:lnTo>
                  <a:pt x="272503" y="115023"/>
                </a:lnTo>
                <a:lnTo>
                  <a:pt x="275479" y="111622"/>
                </a:lnTo>
                <a:lnTo>
                  <a:pt x="276046" y="109259"/>
                </a:lnTo>
                <a:lnTo>
                  <a:pt x="275794" y="106708"/>
                </a:lnTo>
                <a:lnTo>
                  <a:pt x="274472" y="104535"/>
                </a:lnTo>
                <a:lnTo>
                  <a:pt x="270708" y="101590"/>
                </a:lnTo>
                <a:lnTo>
                  <a:pt x="223873" y="74614"/>
                </a:lnTo>
                <a:lnTo>
                  <a:pt x="218960" y="73827"/>
                </a:lnTo>
                <a:close/>
                <a:moveTo>
                  <a:pt x="98283" y="224598"/>
                </a:moveTo>
                <a:lnTo>
                  <a:pt x="93763" y="227039"/>
                </a:lnTo>
                <a:lnTo>
                  <a:pt x="91937" y="231306"/>
                </a:lnTo>
                <a:lnTo>
                  <a:pt x="91905" y="287416"/>
                </a:lnTo>
                <a:lnTo>
                  <a:pt x="93590" y="292723"/>
                </a:lnTo>
                <a:lnTo>
                  <a:pt x="97102" y="295983"/>
                </a:lnTo>
                <a:lnTo>
                  <a:pt x="145952" y="324219"/>
                </a:lnTo>
                <a:lnTo>
                  <a:pt x="151039" y="324172"/>
                </a:lnTo>
                <a:lnTo>
                  <a:pt x="154535" y="321070"/>
                </a:lnTo>
                <a:lnTo>
                  <a:pt x="155763" y="317527"/>
                </a:lnTo>
                <a:lnTo>
                  <a:pt x="155669" y="262015"/>
                </a:lnTo>
                <a:lnTo>
                  <a:pt x="154582" y="257480"/>
                </a:lnTo>
                <a:lnTo>
                  <a:pt x="151842" y="254141"/>
                </a:lnTo>
                <a:lnTo>
                  <a:pt x="103606" y="225984"/>
                </a:lnTo>
                <a:lnTo>
                  <a:pt x="98283" y="224598"/>
                </a:lnTo>
                <a:close/>
                <a:moveTo>
                  <a:pt x="339227" y="224598"/>
                </a:moveTo>
                <a:lnTo>
                  <a:pt x="335495" y="225952"/>
                </a:lnTo>
                <a:lnTo>
                  <a:pt x="287101" y="254141"/>
                </a:lnTo>
                <a:lnTo>
                  <a:pt x="284314" y="257369"/>
                </a:lnTo>
                <a:lnTo>
                  <a:pt x="283196" y="261432"/>
                </a:lnTo>
                <a:lnTo>
                  <a:pt x="283227" y="317527"/>
                </a:lnTo>
                <a:lnTo>
                  <a:pt x="284472" y="321275"/>
                </a:lnTo>
                <a:lnTo>
                  <a:pt x="288046" y="324172"/>
                </a:lnTo>
                <a:lnTo>
                  <a:pt x="291590" y="324487"/>
                </a:lnTo>
                <a:lnTo>
                  <a:pt x="295133" y="322881"/>
                </a:lnTo>
                <a:lnTo>
                  <a:pt x="341637" y="296078"/>
                </a:lnTo>
                <a:lnTo>
                  <a:pt x="345337" y="292613"/>
                </a:lnTo>
                <a:lnTo>
                  <a:pt x="346975" y="287416"/>
                </a:lnTo>
                <a:lnTo>
                  <a:pt x="346928" y="231117"/>
                </a:lnTo>
                <a:lnTo>
                  <a:pt x="345526" y="227574"/>
                </a:lnTo>
                <a:lnTo>
                  <a:pt x="343936" y="225999"/>
                </a:lnTo>
                <a:lnTo>
                  <a:pt x="339227" y="224598"/>
                </a:ln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12" name="!!eyebrow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IMPACT &amp; BENEFITS  ·  A SAFER TOMORROW</a:t>
            </a:r>
            <a:endParaRPr lang="en-US" sz="1100" dirty="0"/>
          </a:p>
        </p:txBody>
      </p:sp>
      <p:sp>
        <p:nvSpPr>
          <p:cNvPr id="14" name="!!title"/>
          <p:cNvSpPr txBox="1"/>
          <p:nvPr/>
        </p:nvSpPr>
        <p:spPr>
          <a:xfrm>
            <a:off x="548640" y="6858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spc="-50" kern="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Real value, </a:t>
            </a:r>
            <a:pPr indent="0" marL="0">
              <a:buNone/>
            </a:pPr>
            <a:r>
              <a:rPr lang="en-US" sz="3600" spc="-50" kern="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higher control.</a:t>
            </a:r>
            <a:endParaRPr lang="en-US" sz="3600" dirty="0"/>
          </a:p>
        </p:txBody>
      </p:sp>
      <p:sp>
        <p:nvSpPr>
          <p:cNvPr id="15" name="s7_1"/>
          <p:cNvSpPr/>
          <p:nvPr/>
        </p:nvSpPr>
        <p:spPr>
          <a:xfrm>
            <a:off x="548640" y="1783080"/>
            <a:ext cx="3392424" cy="210312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16" name="s7_2"/>
          <p:cNvSpPr txBox="1"/>
          <p:nvPr/>
        </p:nvSpPr>
        <p:spPr>
          <a:xfrm>
            <a:off x="822960" y="19842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2400" dirty="0"/>
          </a:p>
        </p:txBody>
      </p:sp>
      <p:sp>
        <p:nvSpPr>
          <p:cNvPr id="17" name="s7_3"/>
          <p:cNvSpPr txBox="1"/>
          <p:nvPr/>
        </p:nvSpPr>
        <p:spPr>
          <a:xfrm>
            <a:off x="822960" y="251460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Conversational impact</a:t>
            </a:r>
            <a:endParaRPr lang="en-US" sz="1600" dirty="0"/>
          </a:p>
        </p:txBody>
      </p:sp>
      <p:sp>
        <p:nvSpPr>
          <p:cNvPr id="18" name="s7_4"/>
          <p:cNvSpPr/>
          <p:nvPr/>
        </p:nvSpPr>
        <p:spPr>
          <a:xfrm>
            <a:off x="822960" y="3017520"/>
            <a:ext cx="1753819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19" name="s7_5"/>
          <p:cNvSpPr txBox="1"/>
          <p:nvPr/>
        </p:nvSpPr>
        <p:spPr>
          <a:xfrm>
            <a:off x="822960" y="3017520"/>
            <a:ext cx="17538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Safer AI interactions</a:t>
            </a:r>
            <a:endParaRPr lang="en-US" sz="1100" dirty="0"/>
          </a:p>
        </p:txBody>
      </p:sp>
      <p:sp>
        <p:nvSpPr>
          <p:cNvPr id="20" name="s7_6"/>
          <p:cNvSpPr/>
          <p:nvPr/>
        </p:nvSpPr>
        <p:spPr>
          <a:xfrm>
            <a:off x="822960" y="3401568"/>
            <a:ext cx="1325880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21" name="s7_7"/>
          <p:cNvSpPr txBox="1"/>
          <p:nvPr/>
        </p:nvSpPr>
        <p:spPr>
          <a:xfrm>
            <a:off x="822960" y="340156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Human oversight</a:t>
            </a:r>
            <a:endParaRPr lang="en-US" sz="1100" dirty="0"/>
          </a:p>
        </p:txBody>
      </p:sp>
      <p:sp>
        <p:nvSpPr>
          <p:cNvPr id="22" name="s7_8"/>
          <p:cNvSpPr/>
          <p:nvPr/>
        </p:nvSpPr>
        <p:spPr>
          <a:xfrm>
            <a:off x="4398264" y="1783080"/>
            <a:ext cx="3392424" cy="210312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23" name="s7_9"/>
          <p:cNvSpPr txBox="1"/>
          <p:nvPr/>
        </p:nvSpPr>
        <p:spPr>
          <a:xfrm>
            <a:off x="4672584" y="19842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2400" dirty="0"/>
          </a:p>
        </p:txBody>
      </p:sp>
      <p:sp>
        <p:nvSpPr>
          <p:cNvPr id="24" name="s7_10"/>
          <p:cNvSpPr txBox="1"/>
          <p:nvPr/>
        </p:nvSpPr>
        <p:spPr>
          <a:xfrm>
            <a:off x="4672584" y="251460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Faster research</a:t>
            </a:r>
            <a:endParaRPr lang="en-US" sz="1600" dirty="0"/>
          </a:p>
        </p:txBody>
      </p:sp>
      <p:sp>
        <p:nvSpPr>
          <p:cNvPr id="25" name="s7_11"/>
          <p:cNvSpPr/>
          <p:nvPr/>
        </p:nvSpPr>
        <p:spPr>
          <a:xfrm>
            <a:off x="4672584" y="3017520"/>
            <a:ext cx="1611173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26" name="s7_12"/>
          <p:cNvSpPr txBox="1"/>
          <p:nvPr/>
        </p:nvSpPr>
        <p:spPr>
          <a:xfrm>
            <a:off x="4672584" y="3017520"/>
            <a:ext cx="16111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Private AI research</a:t>
            </a:r>
            <a:endParaRPr lang="en-US" sz="1100" dirty="0"/>
          </a:p>
        </p:txBody>
      </p:sp>
      <p:sp>
        <p:nvSpPr>
          <p:cNvPr id="27" name="s7_13"/>
          <p:cNvSpPr/>
          <p:nvPr/>
        </p:nvSpPr>
        <p:spPr>
          <a:xfrm>
            <a:off x="4672584" y="3401568"/>
            <a:ext cx="2110435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28" name="s7_14"/>
          <p:cNvSpPr txBox="1"/>
          <p:nvPr/>
        </p:nvSpPr>
        <p:spPr>
          <a:xfrm>
            <a:off x="4672584" y="3401568"/>
            <a:ext cx="21104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Controlled experimentation</a:t>
            </a:r>
            <a:endParaRPr lang="en-US" sz="1100" dirty="0"/>
          </a:p>
        </p:txBody>
      </p:sp>
      <p:sp>
        <p:nvSpPr>
          <p:cNvPr id="29" name="s7_15"/>
          <p:cNvSpPr/>
          <p:nvPr/>
        </p:nvSpPr>
        <p:spPr>
          <a:xfrm>
            <a:off x="8247888" y="1783080"/>
            <a:ext cx="3392424" cy="210312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30" name="s7_16"/>
          <p:cNvSpPr txBox="1"/>
          <p:nvPr/>
        </p:nvSpPr>
        <p:spPr>
          <a:xfrm>
            <a:off x="8522208" y="19842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2400" dirty="0"/>
          </a:p>
        </p:txBody>
      </p:sp>
      <p:sp>
        <p:nvSpPr>
          <p:cNvPr id="31" name="s7_17"/>
          <p:cNvSpPr txBox="1"/>
          <p:nvPr/>
        </p:nvSpPr>
        <p:spPr>
          <a:xfrm>
            <a:off x="8522208" y="251460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National impact</a:t>
            </a:r>
            <a:endParaRPr lang="en-US" sz="1600" dirty="0"/>
          </a:p>
        </p:txBody>
      </p:sp>
      <p:sp>
        <p:nvSpPr>
          <p:cNvPr id="32" name="s7_18"/>
          <p:cNvSpPr/>
          <p:nvPr/>
        </p:nvSpPr>
        <p:spPr>
          <a:xfrm>
            <a:off x="8522208" y="3017520"/>
            <a:ext cx="1753819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33" name="s7_19"/>
          <p:cNvSpPr txBox="1"/>
          <p:nvPr/>
        </p:nvSpPr>
        <p:spPr>
          <a:xfrm>
            <a:off x="8522208" y="3017520"/>
            <a:ext cx="17538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AI &amp; data sovereignty</a:t>
            </a:r>
            <a:endParaRPr lang="en-US" sz="1100" dirty="0"/>
          </a:p>
        </p:txBody>
      </p:sp>
      <p:sp>
        <p:nvSpPr>
          <p:cNvPr id="34" name="s7_20"/>
          <p:cNvSpPr/>
          <p:nvPr/>
        </p:nvSpPr>
        <p:spPr>
          <a:xfrm>
            <a:off x="8522208" y="3401568"/>
            <a:ext cx="2181758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35" name="s7_21"/>
          <p:cNvSpPr txBox="1"/>
          <p:nvPr/>
        </p:nvSpPr>
        <p:spPr>
          <a:xfrm>
            <a:off x="8522208" y="3401568"/>
            <a:ext cx="21817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Reduced external dependence</a:t>
            </a:r>
            <a:endParaRPr lang="en-US" sz="1100" dirty="0"/>
          </a:p>
        </p:txBody>
      </p:sp>
      <p:sp>
        <p:nvSpPr>
          <p:cNvPr id="36" name="s7_22"/>
          <p:cNvSpPr/>
          <p:nvPr/>
        </p:nvSpPr>
        <p:spPr>
          <a:xfrm>
            <a:off x="548640" y="4160520"/>
            <a:ext cx="5408676" cy="210312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37" name="s7_23"/>
          <p:cNvSpPr txBox="1"/>
          <p:nvPr/>
        </p:nvSpPr>
        <p:spPr>
          <a:xfrm>
            <a:off x="822960" y="4361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2400" dirty="0"/>
          </a:p>
        </p:txBody>
      </p:sp>
      <p:sp>
        <p:nvSpPr>
          <p:cNvPr id="38" name="s7_24"/>
          <p:cNvSpPr txBox="1"/>
          <p:nvPr/>
        </p:nvSpPr>
        <p:spPr>
          <a:xfrm>
            <a:off x="822960" y="489204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Technical impact</a:t>
            </a:r>
            <a:endParaRPr lang="en-US" sz="1600" dirty="0"/>
          </a:p>
        </p:txBody>
      </p:sp>
      <p:sp>
        <p:nvSpPr>
          <p:cNvPr id="39" name="s7_25"/>
          <p:cNvSpPr/>
          <p:nvPr/>
        </p:nvSpPr>
        <p:spPr>
          <a:xfrm>
            <a:off x="822960" y="5394960"/>
            <a:ext cx="1325880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40" name="s7_26"/>
          <p:cNvSpPr txBox="1"/>
          <p:nvPr/>
        </p:nvSpPr>
        <p:spPr>
          <a:xfrm>
            <a:off x="822960" y="53949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Local LLM + RAG</a:t>
            </a:r>
            <a:endParaRPr lang="en-US" sz="1100" dirty="0"/>
          </a:p>
        </p:txBody>
      </p:sp>
      <p:sp>
        <p:nvSpPr>
          <p:cNvPr id="41" name="s7_27"/>
          <p:cNvSpPr/>
          <p:nvPr/>
        </p:nvSpPr>
        <p:spPr>
          <a:xfrm>
            <a:off x="2240280" y="5394960"/>
            <a:ext cx="2039112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42" name="s7_28"/>
          <p:cNvSpPr txBox="1"/>
          <p:nvPr/>
        </p:nvSpPr>
        <p:spPr>
          <a:xfrm>
            <a:off x="2240280" y="5394960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Multi-agent orchestration</a:t>
            </a:r>
            <a:endParaRPr lang="en-US" sz="1100" dirty="0"/>
          </a:p>
        </p:txBody>
      </p:sp>
      <p:sp>
        <p:nvSpPr>
          <p:cNvPr id="43" name="s7_29"/>
          <p:cNvSpPr/>
          <p:nvPr/>
        </p:nvSpPr>
        <p:spPr>
          <a:xfrm>
            <a:off x="822960" y="5779008"/>
            <a:ext cx="1825142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44" name="s7_30"/>
          <p:cNvSpPr txBox="1"/>
          <p:nvPr/>
        </p:nvSpPr>
        <p:spPr>
          <a:xfrm>
            <a:off x="822960" y="5779008"/>
            <a:ext cx="18251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Sandbox + verification</a:t>
            </a:r>
            <a:endParaRPr lang="en-US" sz="1100" dirty="0"/>
          </a:p>
        </p:txBody>
      </p:sp>
      <p:sp>
        <p:nvSpPr>
          <p:cNvPr id="45" name="s7_31"/>
          <p:cNvSpPr/>
          <p:nvPr/>
        </p:nvSpPr>
        <p:spPr>
          <a:xfrm>
            <a:off x="2739542" y="5779008"/>
            <a:ext cx="1111910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46" name="s7_32"/>
          <p:cNvSpPr txBox="1"/>
          <p:nvPr/>
        </p:nvSpPr>
        <p:spPr>
          <a:xfrm>
            <a:off x="2739542" y="5779008"/>
            <a:ext cx="11119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Auditability</a:t>
            </a:r>
            <a:endParaRPr lang="en-US" sz="1100" dirty="0"/>
          </a:p>
        </p:txBody>
      </p:sp>
      <p:sp>
        <p:nvSpPr>
          <p:cNvPr id="47" name="s7_33"/>
          <p:cNvSpPr/>
          <p:nvPr/>
        </p:nvSpPr>
        <p:spPr>
          <a:xfrm>
            <a:off x="6231636" y="4160520"/>
            <a:ext cx="5408676" cy="210312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48" name="s7_34"/>
          <p:cNvSpPr txBox="1"/>
          <p:nvPr/>
        </p:nvSpPr>
        <p:spPr>
          <a:xfrm>
            <a:off x="6505956" y="4361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05</a:t>
            </a:r>
            <a:endParaRPr lang="en-US" sz="2400" dirty="0"/>
          </a:p>
        </p:txBody>
      </p:sp>
      <p:sp>
        <p:nvSpPr>
          <p:cNvPr id="49" name="s7_35"/>
          <p:cNvSpPr txBox="1"/>
          <p:nvPr/>
        </p:nvSpPr>
        <p:spPr>
          <a:xfrm>
            <a:off x="6505956" y="489204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Economic &amp; industrial impact</a:t>
            </a:r>
            <a:endParaRPr lang="en-US" sz="1600" dirty="0"/>
          </a:p>
        </p:txBody>
      </p:sp>
      <p:sp>
        <p:nvSpPr>
          <p:cNvPr id="50" name="s7_36"/>
          <p:cNvSpPr/>
          <p:nvPr/>
        </p:nvSpPr>
        <p:spPr>
          <a:xfrm>
            <a:off x="6505956" y="5394960"/>
            <a:ext cx="1967789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51" name="s7_37"/>
          <p:cNvSpPr txBox="1"/>
          <p:nvPr/>
        </p:nvSpPr>
        <p:spPr>
          <a:xfrm>
            <a:off x="6505956" y="5394960"/>
            <a:ext cx="196778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Lower recurring AI costs</a:t>
            </a:r>
            <a:endParaRPr lang="en-US" sz="1100" dirty="0"/>
          </a:p>
        </p:txBody>
      </p:sp>
      <p:sp>
        <p:nvSpPr>
          <p:cNvPr id="52" name="s7_38"/>
          <p:cNvSpPr/>
          <p:nvPr/>
        </p:nvSpPr>
        <p:spPr>
          <a:xfrm>
            <a:off x="8565185" y="5394960"/>
            <a:ext cx="2110435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53" name="s7_39"/>
          <p:cNvSpPr txBox="1"/>
          <p:nvPr/>
        </p:nvSpPr>
        <p:spPr>
          <a:xfrm>
            <a:off x="8565185" y="5394960"/>
            <a:ext cx="21104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Secure enterprise adoption</a:t>
            </a:r>
            <a:endParaRPr lang="en-US" sz="1100" dirty="0"/>
          </a:p>
        </p:txBody>
      </p:sp>
      <p:sp>
        <p:nvSpPr>
          <p:cNvPr id="54" name="s7_40"/>
          <p:cNvSpPr/>
          <p:nvPr/>
        </p:nvSpPr>
        <p:spPr>
          <a:xfrm>
            <a:off x="6505956" y="5779008"/>
            <a:ext cx="1682496" cy="29260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55" name="s7_41"/>
          <p:cNvSpPr txBox="1"/>
          <p:nvPr/>
        </p:nvSpPr>
        <p:spPr>
          <a:xfrm>
            <a:off x="6505956" y="5779008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Regulated industries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3291840"/>
            <a:ext cx="6858000" cy="6858000"/>
          </a:xfrm>
          <a:prstGeom prst="rect">
            <a:avLst/>
          </a:prstGeom>
        </p:spPr>
      </p:pic>
      <p:sp>
        <p:nvSpPr>
          <p:cNvPr id="3" name="!!canvas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" name="!!px1"/>
          <p:cNvSpPr/>
          <p:nvPr/>
        </p:nvSpPr>
        <p:spPr>
          <a:xfrm>
            <a:off x="9084480" y="355879"/>
            <a:ext cx="128016" cy="2560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!!px2"/>
          <p:cNvSpPr/>
          <p:nvPr/>
        </p:nvSpPr>
        <p:spPr>
          <a:xfrm>
            <a:off x="9052668" y="767933"/>
            <a:ext cx="256032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!!px3"/>
          <p:cNvSpPr/>
          <p:nvPr/>
        </p:nvSpPr>
        <p:spPr>
          <a:xfrm>
            <a:off x="9943163" y="653688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!!px4"/>
          <p:cNvSpPr/>
          <p:nvPr/>
        </p:nvSpPr>
        <p:spPr>
          <a:xfrm>
            <a:off x="9946374" y="1081905"/>
            <a:ext cx="128016" cy="2560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!!px5"/>
          <p:cNvSpPr/>
          <p:nvPr/>
        </p:nvSpPr>
        <p:spPr>
          <a:xfrm>
            <a:off x="10491057" y="1037847"/>
            <a:ext cx="256032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!!px6"/>
          <p:cNvSpPr/>
          <p:nvPr/>
        </p:nvSpPr>
        <p:spPr>
          <a:xfrm>
            <a:off x="9062727" y="1035181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!!px7"/>
          <p:cNvSpPr/>
          <p:nvPr/>
        </p:nvSpPr>
        <p:spPr>
          <a:xfrm>
            <a:off x="9897657" y="1387680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!!mark"/>
          <p:cNvSpPr/>
          <p:nvPr/>
        </p:nvSpPr>
        <p:spPr>
          <a:xfrm rot="7200000">
            <a:off x="11201400" y="548640"/>
            <a:ext cx="438912" cy="438912"/>
          </a:xfrm>
          <a:custGeom>
            <a:avLst/>
            <a:gdLst/>
            <a:ahLst/>
            <a:cxnLst/>
            <a:rect l="l" t="t" r="r" b="b"/>
            <a:pathLst>
              <a:path w="438912" h="438912">
                <a:moveTo>
                  <a:pt x="218362" y="0"/>
                </a:moveTo>
                <a:lnTo>
                  <a:pt x="212267" y="2268"/>
                </a:lnTo>
                <a:lnTo>
                  <a:pt x="160755" y="32094"/>
                </a:lnTo>
                <a:lnTo>
                  <a:pt x="156866" y="36031"/>
                </a:lnTo>
                <a:lnTo>
                  <a:pt x="155574" y="41149"/>
                </a:lnTo>
                <a:lnTo>
                  <a:pt x="155716" y="95874"/>
                </a:lnTo>
                <a:lnTo>
                  <a:pt x="154551" y="100204"/>
                </a:lnTo>
                <a:lnTo>
                  <a:pt x="152614" y="102204"/>
                </a:lnTo>
                <a:lnTo>
                  <a:pt x="148881" y="103763"/>
                </a:lnTo>
                <a:lnTo>
                  <a:pt x="144551" y="102409"/>
                </a:lnTo>
                <a:lnTo>
                  <a:pt x="96677" y="74614"/>
                </a:lnTo>
                <a:lnTo>
                  <a:pt x="91401" y="73685"/>
                </a:lnTo>
                <a:lnTo>
                  <a:pt x="87071" y="74614"/>
                </a:lnTo>
                <a:lnTo>
                  <a:pt x="32535" y="106189"/>
                </a:lnTo>
                <a:lnTo>
                  <a:pt x="29197" y="109937"/>
                </a:lnTo>
                <a:lnTo>
                  <a:pt x="28110" y="113401"/>
                </a:lnTo>
                <a:lnTo>
                  <a:pt x="28079" y="175999"/>
                </a:lnTo>
                <a:lnTo>
                  <a:pt x="28992" y="181118"/>
                </a:lnTo>
                <a:lnTo>
                  <a:pt x="33323" y="185716"/>
                </a:lnTo>
                <a:lnTo>
                  <a:pt x="81212" y="213196"/>
                </a:lnTo>
                <a:lnTo>
                  <a:pt x="83716" y="215653"/>
                </a:lnTo>
                <a:lnTo>
                  <a:pt x="84441" y="219306"/>
                </a:lnTo>
                <a:lnTo>
                  <a:pt x="83732" y="222850"/>
                </a:lnTo>
                <a:lnTo>
                  <a:pt x="81748" y="225086"/>
                </a:lnTo>
                <a:lnTo>
                  <a:pt x="33716" y="252708"/>
                </a:lnTo>
                <a:lnTo>
                  <a:pt x="29102" y="257291"/>
                </a:lnTo>
                <a:lnTo>
                  <a:pt x="28031" y="262802"/>
                </a:lnTo>
                <a:lnTo>
                  <a:pt x="28079" y="325007"/>
                </a:lnTo>
                <a:lnTo>
                  <a:pt x="30535" y="330723"/>
                </a:lnTo>
                <a:lnTo>
                  <a:pt x="34709" y="333794"/>
                </a:lnTo>
                <a:lnTo>
                  <a:pt x="86472" y="363715"/>
                </a:lnTo>
                <a:lnTo>
                  <a:pt x="91401" y="365148"/>
                </a:lnTo>
                <a:lnTo>
                  <a:pt x="97496" y="363637"/>
                </a:lnTo>
                <a:lnTo>
                  <a:pt x="144740" y="336062"/>
                </a:lnTo>
                <a:lnTo>
                  <a:pt x="148677" y="335180"/>
                </a:lnTo>
                <a:lnTo>
                  <a:pt x="152000" y="336030"/>
                </a:lnTo>
                <a:lnTo>
                  <a:pt x="154551" y="338393"/>
                </a:lnTo>
                <a:lnTo>
                  <a:pt x="155637" y="342534"/>
                </a:lnTo>
                <a:lnTo>
                  <a:pt x="155590" y="397448"/>
                </a:lnTo>
                <a:lnTo>
                  <a:pt x="156944" y="402865"/>
                </a:lnTo>
                <a:lnTo>
                  <a:pt x="162661" y="407762"/>
                </a:lnTo>
                <a:lnTo>
                  <a:pt x="214944" y="437810"/>
                </a:lnTo>
                <a:lnTo>
                  <a:pt x="219543" y="438912"/>
                </a:lnTo>
                <a:lnTo>
                  <a:pt x="226834" y="436251"/>
                </a:lnTo>
                <a:lnTo>
                  <a:pt x="278991" y="405999"/>
                </a:lnTo>
                <a:lnTo>
                  <a:pt x="281952" y="402818"/>
                </a:lnTo>
                <a:lnTo>
                  <a:pt x="283322" y="397259"/>
                </a:lnTo>
                <a:lnTo>
                  <a:pt x="283227" y="342723"/>
                </a:lnTo>
                <a:lnTo>
                  <a:pt x="284472" y="338204"/>
                </a:lnTo>
                <a:lnTo>
                  <a:pt x="286912" y="336030"/>
                </a:lnTo>
                <a:lnTo>
                  <a:pt x="290015" y="335117"/>
                </a:lnTo>
                <a:lnTo>
                  <a:pt x="294157" y="336046"/>
                </a:lnTo>
                <a:lnTo>
                  <a:pt x="341400" y="363621"/>
                </a:lnTo>
                <a:lnTo>
                  <a:pt x="347495" y="365148"/>
                </a:lnTo>
                <a:lnTo>
                  <a:pt x="352613" y="363605"/>
                </a:lnTo>
                <a:lnTo>
                  <a:pt x="406550" y="332345"/>
                </a:lnTo>
                <a:lnTo>
                  <a:pt x="409699" y="328755"/>
                </a:lnTo>
                <a:lnTo>
                  <a:pt x="410833" y="325007"/>
                </a:lnTo>
                <a:lnTo>
                  <a:pt x="410881" y="262613"/>
                </a:lnTo>
                <a:lnTo>
                  <a:pt x="409857" y="257495"/>
                </a:lnTo>
                <a:lnTo>
                  <a:pt x="405180" y="252708"/>
                </a:lnTo>
                <a:lnTo>
                  <a:pt x="357148" y="225070"/>
                </a:lnTo>
                <a:lnTo>
                  <a:pt x="355180" y="222991"/>
                </a:lnTo>
                <a:lnTo>
                  <a:pt x="354440" y="219102"/>
                </a:lnTo>
                <a:lnTo>
                  <a:pt x="355274" y="215369"/>
                </a:lnTo>
                <a:lnTo>
                  <a:pt x="357715" y="213196"/>
                </a:lnTo>
                <a:lnTo>
                  <a:pt x="405369" y="185826"/>
                </a:lnTo>
                <a:lnTo>
                  <a:pt x="409699" y="181511"/>
                </a:lnTo>
                <a:lnTo>
                  <a:pt x="410786" y="177370"/>
                </a:lnTo>
                <a:lnTo>
                  <a:pt x="410786" y="113401"/>
                </a:lnTo>
                <a:lnTo>
                  <a:pt x="409699" y="109968"/>
                </a:lnTo>
                <a:lnTo>
                  <a:pt x="406345" y="106110"/>
                </a:lnTo>
                <a:lnTo>
                  <a:pt x="351826" y="74598"/>
                </a:lnTo>
                <a:lnTo>
                  <a:pt x="347495" y="73701"/>
                </a:lnTo>
                <a:lnTo>
                  <a:pt x="342188" y="74614"/>
                </a:lnTo>
                <a:lnTo>
                  <a:pt x="294346" y="102393"/>
                </a:lnTo>
                <a:lnTo>
                  <a:pt x="290220" y="103763"/>
                </a:lnTo>
                <a:lnTo>
                  <a:pt x="286283" y="102236"/>
                </a:lnTo>
                <a:lnTo>
                  <a:pt x="284078" y="99622"/>
                </a:lnTo>
                <a:lnTo>
                  <a:pt x="283212" y="95480"/>
                </a:lnTo>
                <a:lnTo>
                  <a:pt x="283306" y="40961"/>
                </a:lnTo>
                <a:lnTo>
                  <a:pt x="281952" y="35779"/>
                </a:lnTo>
                <a:lnTo>
                  <a:pt x="277810" y="31937"/>
                </a:lnTo>
                <a:lnTo>
                  <a:pt x="226629" y="2252"/>
                </a:lnTo>
                <a:lnTo>
                  <a:pt x="223086" y="472"/>
                </a:lnTo>
                <a:lnTo>
                  <a:pt x="218362" y="0"/>
                </a:lnTo>
                <a:close/>
                <a:moveTo>
                  <a:pt x="218362" y="147228"/>
                </a:moveTo>
                <a:lnTo>
                  <a:pt x="214236" y="148724"/>
                </a:lnTo>
                <a:lnTo>
                  <a:pt x="159889" y="180125"/>
                </a:lnTo>
                <a:lnTo>
                  <a:pt x="156834" y="183480"/>
                </a:lnTo>
                <a:lnTo>
                  <a:pt x="155763" y="188787"/>
                </a:lnTo>
                <a:lnTo>
                  <a:pt x="155732" y="243905"/>
                </a:lnTo>
                <a:lnTo>
                  <a:pt x="156251" y="253354"/>
                </a:lnTo>
                <a:lnTo>
                  <a:pt x="159700" y="258314"/>
                </a:lnTo>
                <a:lnTo>
                  <a:pt x="213637" y="289621"/>
                </a:lnTo>
                <a:lnTo>
                  <a:pt x="219747" y="291527"/>
                </a:lnTo>
                <a:lnTo>
                  <a:pt x="225259" y="289621"/>
                </a:lnTo>
                <a:lnTo>
                  <a:pt x="279196" y="258298"/>
                </a:lnTo>
                <a:lnTo>
                  <a:pt x="282078" y="254928"/>
                </a:lnTo>
                <a:lnTo>
                  <a:pt x="283117" y="249417"/>
                </a:lnTo>
                <a:lnTo>
                  <a:pt x="283117" y="188992"/>
                </a:lnTo>
                <a:lnTo>
                  <a:pt x="282141" y="183716"/>
                </a:lnTo>
                <a:lnTo>
                  <a:pt x="278991" y="180125"/>
                </a:lnTo>
                <a:lnTo>
                  <a:pt x="224487" y="148629"/>
                </a:lnTo>
                <a:lnTo>
                  <a:pt x="218362" y="147228"/>
                </a:lnTo>
                <a:close/>
                <a:moveTo>
                  <a:pt x="218960" y="73827"/>
                </a:moveTo>
                <a:lnTo>
                  <a:pt x="215023" y="74598"/>
                </a:lnTo>
                <a:lnTo>
                  <a:pt x="168141" y="101590"/>
                </a:lnTo>
                <a:lnTo>
                  <a:pt x="164425" y="104535"/>
                </a:lnTo>
                <a:lnTo>
                  <a:pt x="163102" y="106708"/>
                </a:lnTo>
                <a:lnTo>
                  <a:pt x="162834" y="109259"/>
                </a:lnTo>
                <a:lnTo>
                  <a:pt x="163401" y="111622"/>
                </a:lnTo>
                <a:lnTo>
                  <a:pt x="166346" y="114976"/>
                </a:lnTo>
                <a:lnTo>
                  <a:pt x="215212" y="143165"/>
                </a:lnTo>
                <a:lnTo>
                  <a:pt x="219936" y="143905"/>
                </a:lnTo>
                <a:lnTo>
                  <a:pt x="223684" y="143165"/>
                </a:lnTo>
                <a:lnTo>
                  <a:pt x="272503" y="115023"/>
                </a:lnTo>
                <a:lnTo>
                  <a:pt x="275479" y="111622"/>
                </a:lnTo>
                <a:lnTo>
                  <a:pt x="276046" y="109259"/>
                </a:lnTo>
                <a:lnTo>
                  <a:pt x="275794" y="106708"/>
                </a:lnTo>
                <a:lnTo>
                  <a:pt x="274472" y="104535"/>
                </a:lnTo>
                <a:lnTo>
                  <a:pt x="270708" y="101590"/>
                </a:lnTo>
                <a:lnTo>
                  <a:pt x="223873" y="74614"/>
                </a:lnTo>
                <a:lnTo>
                  <a:pt x="218960" y="73827"/>
                </a:lnTo>
                <a:close/>
                <a:moveTo>
                  <a:pt x="98283" y="224598"/>
                </a:moveTo>
                <a:lnTo>
                  <a:pt x="93763" y="227039"/>
                </a:lnTo>
                <a:lnTo>
                  <a:pt x="91937" y="231306"/>
                </a:lnTo>
                <a:lnTo>
                  <a:pt x="91905" y="287416"/>
                </a:lnTo>
                <a:lnTo>
                  <a:pt x="93590" y="292723"/>
                </a:lnTo>
                <a:lnTo>
                  <a:pt x="97102" y="295983"/>
                </a:lnTo>
                <a:lnTo>
                  <a:pt x="145952" y="324219"/>
                </a:lnTo>
                <a:lnTo>
                  <a:pt x="151039" y="324172"/>
                </a:lnTo>
                <a:lnTo>
                  <a:pt x="154535" y="321070"/>
                </a:lnTo>
                <a:lnTo>
                  <a:pt x="155763" y="317527"/>
                </a:lnTo>
                <a:lnTo>
                  <a:pt x="155669" y="262015"/>
                </a:lnTo>
                <a:lnTo>
                  <a:pt x="154582" y="257480"/>
                </a:lnTo>
                <a:lnTo>
                  <a:pt x="151842" y="254141"/>
                </a:lnTo>
                <a:lnTo>
                  <a:pt x="103606" y="225984"/>
                </a:lnTo>
                <a:lnTo>
                  <a:pt x="98283" y="224598"/>
                </a:lnTo>
                <a:close/>
                <a:moveTo>
                  <a:pt x="339227" y="224598"/>
                </a:moveTo>
                <a:lnTo>
                  <a:pt x="335495" y="225952"/>
                </a:lnTo>
                <a:lnTo>
                  <a:pt x="287101" y="254141"/>
                </a:lnTo>
                <a:lnTo>
                  <a:pt x="284314" y="257369"/>
                </a:lnTo>
                <a:lnTo>
                  <a:pt x="283196" y="261432"/>
                </a:lnTo>
                <a:lnTo>
                  <a:pt x="283227" y="317527"/>
                </a:lnTo>
                <a:lnTo>
                  <a:pt x="284472" y="321275"/>
                </a:lnTo>
                <a:lnTo>
                  <a:pt x="288046" y="324172"/>
                </a:lnTo>
                <a:lnTo>
                  <a:pt x="291590" y="324487"/>
                </a:lnTo>
                <a:lnTo>
                  <a:pt x="295133" y="322881"/>
                </a:lnTo>
                <a:lnTo>
                  <a:pt x="341637" y="296078"/>
                </a:lnTo>
                <a:lnTo>
                  <a:pt x="345337" y="292613"/>
                </a:lnTo>
                <a:lnTo>
                  <a:pt x="346975" y="287416"/>
                </a:lnTo>
                <a:lnTo>
                  <a:pt x="346928" y="231117"/>
                </a:lnTo>
                <a:lnTo>
                  <a:pt x="345526" y="227574"/>
                </a:lnTo>
                <a:lnTo>
                  <a:pt x="343936" y="225999"/>
                </a:lnTo>
                <a:lnTo>
                  <a:pt x="339227" y="224598"/>
                </a:lnTo>
                <a:close/>
              </a:path>
            </a:pathLst>
          </a:custGeom>
          <a:solidFill>
            <a:schemeClr val="tx1"/>
          </a:solidFill>
          <a:ln/>
        </p:spPr>
      </p:sp>
      <p:sp>
        <p:nvSpPr>
          <p:cNvPr id="12" name="!!eyebrow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FUTURE PROSPECTS</a:t>
            </a:r>
            <a:endParaRPr lang="en-US" sz="1100" dirty="0"/>
          </a:p>
        </p:txBody>
      </p:sp>
      <p:sp>
        <p:nvSpPr>
          <p:cNvPr id="14" name="!!title"/>
          <p:cNvSpPr txBox="1"/>
          <p:nvPr/>
        </p:nvSpPr>
        <p:spPr>
          <a:xfrm>
            <a:off x="548640" y="6858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spc="-50" kern="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From workbench to </a:t>
            </a:r>
            <a:pPr indent="0" marL="0">
              <a:buNone/>
            </a:pPr>
            <a:r>
              <a:rPr lang="en-US" sz="3600" spc="-5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control layer.</a:t>
            </a:r>
            <a:endParaRPr lang="en-US" sz="3600" dirty="0"/>
          </a:p>
        </p:txBody>
      </p:sp>
      <p:pic>
        <p:nvPicPr>
          <p:cNvPr id="15" name="s8_1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83664"/>
            <a:ext cx="12191695" cy="634594"/>
          </a:xfrm>
          <a:prstGeom prst="rect">
            <a:avLst/>
          </a:prstGeom>
        </p:spPr>
      </p:pic>
      <p:sp>
        <p:nvSpPr>
          <p:cNvPr id="16" name="s8_2"/>
          <p:cNvSpPr/>
          <p:nvPr/>
        </p:nvSpPr>
        <p:spPr>
          <a:xfrm>
            <a:off x="0" y="2514600"/>
            <a:ext cx="12191695" cy="251460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17" name="s8_3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29200"/>
            <a:ext cx="12191695" cy="634594"/>
          </a:xfrm>
          <a:prstGeom prst="rect">
            <a:avLst/>
          </a:prstGeom>
        </p:spPr>
      </p:pic>
      <p:sp>
        <p:nvSpPr>
          <p:cNvPr id="18" name="s8_4"/>
          <p:cNvSpPr/>
          <p:nvPr/>
        </p:nvSpPr>
        <p:spPr>
          <a:xfrm>
            <a:off x="1810512" y="3072384"/>
            <a:ext cx="2029968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</a:ln>
        </p:spPr>
      </p:sp>
      <p:sp>
        <p:nvSpPr>
          <p:cNvPr id="19" name="s8_5"/>
          <p:cNvSpPr/>
          <p:nvPr/>
        </p:nvSpPr>
        <p:spPr>
          <a:xfrm>
            <a:off x="1664208" y="2999232"/>
            <a:ext cx="146304" cy="146304"/>
          </a:xfrm>
          <a:prstGeom prst="ellipse">
            <a:avLst/>
          </a:prstGeom>
          <a:noFill/>
          <a:ln w="15875">
            <a:solidFill>
              <a:schemeClr val="bg1"/>
            </a:solidFill>
            <a:prstDash val="solid"/>
          </a:ln>
        </p:spPr>
      </p:sp>
      <p:sp>
        <p:nvSpPr>
          <p:cNvPr id="20" name="s8_6"/>
          <p:cNvSpPr/>
          <p:nvPr/>
        </p:nvSpPr>
        <p:spPr>
          <a:xfrm>
            <a:off x="3986784" y="3072384"/>
            <a:ext cx="2029968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</a:ln>
        </p:spPr>
      </p:sp>
      <p:sp>
        <p:nvSpPr>
          <p:cNvPr id="21" name="s8_7"/>
          <p:cNvSpPr/>
          <p:nvPr/>
        </p:nvSpPr>
        <p:spPr>
          <a:xfrm>
            <a:off x="3840480" y="2999232"/>
            <a:ext cx="146304" cy="146304"/>
          </a:xfrm>
          <a:prstGeom prst="ellipse">
            <a:avLst/>
          </a:prstGeom>
          <a:noFill/>
          <a:ln w="15875">
            <a:solidFill>
              <a:schemeClr val="bg1"/>
            </a:solidFill>
            <a:prstDash val="solid"/>
          </a:ln>
        </p:spPr>
      </p:sp>
      <p:sp>
        <p:nvSpPr>
          <p:cNvPr id="22" name="s8_8"/>
          <p:cNvSpPr/>
          <p:nvPr/>
        </p:nvSpPr>
        <p:spPr>
          <a:xfrm>
            <a:off x="6163056" y="3072384"/>
            <a:ext cx="2029968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</a:ln>
        </p:spPr>
      </p:sp>
      <p:sp>
        <p:nvSpPr>
          <p:cNvPr id="23" name="s8_9"/>
          <p:cNvSpPr/>
          <p:nvPr/>
        </p:nvSpPr>
        <p:spPr>
          <a:xfrm>
            <a:off x="6016752" y="2999232"/>
            <a:ext cx="146304" cy="146304"/>
          </a:xfrm>
          <a:prstGeom prst="ellipse">
            <a:avLst/>
          </a:prstGeom>
          <a:noFill/>
          <a:ln w="15875">
            <a:solidFill>
              <a:schemeClr val="bg1"/>
            </a:solidFill>
            <a:prstDash val="solid"/>
          </a:ln>
        </p:spPr>
      </p:sp>
      <p:sp>
        <p:nvSpPr>
          <p:cNvPr id="24" name="s8_10"/>
          <p:cNvSpPr/>
          <p:nvPr/>
        </p:nvSpPr>
        <p:spPr>
          <a:xfrm>
            <a:off x="8339328" y="3072384"/>
            <a:ext cx="2029968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dash"/>
          </a:ln>
        </p:spPr>
      </p:sp>
      <p:sp>
        <p:nvSpPr>
          <p:cNvPr id="25" name="s8_11"/>
          <p:cNvSpPr/>
          <p:nvPr/>
        </p:nvSpPr>
        <p:spPr>
          <a:xfrm>
            <a:off x="8193024" y="2999232"/>
            <a:ext cx="146304" cy="146304"/>
          </a:xfrm>
          <a:prstGeom prst="ellipse">
            <a:avLst/>
          </a:prstGeom>
          <a:noFill/>
          <a:ln w="15875">
            <a:solidFill>
              <a:schemeClr val="bg1"/>
            </a:solidFill>
            <a:prstDash val="solid"/>
          </a:ln>
        </p:spPr>
      </p:sp>
      <p:sp>
        <p:nvSpPr>
          <p:cNvPr id="26" name="s8_12"/>
          <p:cNvSpPr/>
          <p:nvPr/>
        </p:nvSpPr>
        <p:spPr>
          <a:xfrm>
            <a:off x="10369296" y="2999232"/>
            <a:ext cx="146304" cy="146304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7" name="s8_13"/>
          <p:cNvSpPr txBox="1"/>
          <p:nvPr/>
        </p:nvSpPr>
        <p:spPr>
          <a:xfrm>
            <a:off x="731520" y="26151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01</a:t>
            </a:r>
            <a:endParaRPr lang="en-US" sz="1400" dirty="0"/>
          </a:p>
        </p:txBody>
      </p:sp>
      <p:sp>
        <p:nvSpPr>
          <p:cNvPr id="28" name="s8_14"/>
          <p:cNvSpPr txBox="1"/>
          <p:nvPr/>
        </p:nvSpPr>
        <p:spPr>
          <a:xfrm>
            <a:off x="731520" y="3291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Multimodal enterprise AI</a:t>
            </a:r>
            <a:endParaRPr lang="en-US" sz="1350" dirty="0"/>
          </a:p>
        </p:txBody>
      </p:sp>
      <p:sp>
        <p:nvSpPr>
          <p:cNvPr id="29" name="s8_15"/>
          <p:cNvSpPr txBox="1"/>
          <p:nvPr/>
        </p:nvSpPr>
        <p:spPr>
          <a:xfrm>
            <a:off x="731520" y="384048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Vision, audio, video &amp; complex-document understanding</a:t>
            </a:r>
            <a:endParaRPr lang="en-US" sz="1150" dirty="0"/>
          </a:p>
        </p:txBody>
      </p:sp>
      <p:sp>
        <p:nvSpPr>
          <p:cNvPr id="30" name="s8_16"/>
          <p:cNvSpPr txBox="1"/>
          <p:nvPr/>
        </p:nvSpPr>
        <p:spPr>
          <a:xfrm>
            <a:off x="2907792" y="26151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02</a:t>
            </a:r>
            <a:endParaRPr lang="en-US" sz="1400" dirty="0"/>
          </a:p>
        </p:txBody>
      </p:sp>
      <p:sp>
        <p:nvSpPr>
          <p:cNvPr id="31" name="s8_17"/>
          <p:cNvSpPr txBox="1"/>
          <p:nvPr/>
        </p:nvSpPr>
        <p:spPr>
          <a:xfrm>
            <a:off x="2907792" y="3291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Multi-site deployment</a:t>
            </a:r>
            <a:endParaRPr lang="en-US" sz="1350" dirty="0"/>
          </a:p>
        </p:txBody>
      </p:sp>
      <p:sp>
        <p:nvSpPr>
          <p:cNvPr id="32" name="s8_18"/>
          <p:cNvSpPr txBox="1"/>
          <p:nvPr/>
        </p:nvSpPr>
        <p:spPr>
          <a:xfrm>
            <a:off x="2907792" y="384048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Local AI at every site with centralised governance</a:t>
            </a:r>
            <a:endParaRPr lang="en-US" sz="1150" dirty="0"/>
          </a:p>
        </p:txBody>
      </p:sp>
      <p:sp>
        <p:nvSpPr>
          <p:cNvPr id="33" name="s8_19"/>
          <p:cNvSpPr txBox="1"/>
          <p:nvPr/>
        </p:nvSpPr>
        <p:spPr>
          <a:xfrm>
            <a:off x="5084064" y="26151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03</a:t>
            </a:r>
            <a:endParaRPr lang="en-US" sz="1400" dirty="0"/>
          </a:p>
        </p:txBody>
      </p:sp>
      <p:sp>
        <p:nvSpPr>
          <p:cNvPr id="34" name="s8_20"/>
          <p:cNvSpPr txBox="1"/>
          <p:nvPr/>
        </p:nvSpPr>
        <p:spPr>
          <a:xfrm>
            <a:off x="5084064" y="3291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Industry-specific agents</a:t>
            </a:r>
            <a:endParaRPr lang="en-US" sz="1350" dirty="0"/>
          </a:p>
        </p:txBody>
      </p:sp>
      <p:sp>
        <p:nvSpPr>
          <p:cNvPr id="35" name="s8_21"/>
          <p:cNvSpPr txBox="1"/>
          <p:nvPr/>
        </p:nvSpPr>
        <p:spPr>
          <a:xfrm>
            <a:off x="5084064" y="384048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Manufacturing, healthcare, finance, government &amp; defence</a:t>
            </a:r>
            <a:endParaRPr lang="en-US" sz="1150" dirty="0"/>
          </a:p>
        </p:txBody>
      </p:sp>
      <p:sp>
        <p:nvSpPr>
          <p:cNvPr id="36" name="s8_22"/>
          <p:cNvSpPr txBox="1"/>
          <p:nvPr/>
        </p:nvSpPr>
        <p:spPr>
          <a:xfrm>
            <a:off x="7260336" y="26151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04</a:t>
            </a:r>
            <a:endParaRPr lang="en-US" sz="1400" dirty="0"/>
          </a:p>
        </p:txBody>
      </p:sp>
      <p:sp>
        <p:nvSpPr>
          <p:cNvPr id="37" name="s8_23"/>
          <p:cNvSpPr txBox="1"/>
          <p:nvPr/>
        </p:nvSpPr>
        <p:spPr>
          <a:xfrm>
            <a:off x="7260336" y="3291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Continuous security &amp; governance</a:t>
            </a:r>
            <a:endParaRPr lang="en-US" sz="1350" dirty="0"/>
          </a:p>
        </p:txBody>
      </p:sp>
      <p:sp>
        <p:nvSpPr>
          <p:cNvPr id="38" name="s8_24"/>
          <p:cNvSpPr txBox="1"/>
          <p:nvPr/>
        </p:nvSpPr>
        <p:spPr>
          <a:xfrm>
            <a:off x="7260336" y="384048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Policy enforcement, monitoring, audit &amp; compliance</a:t>
            </a:r>
            <a:endParaRPr lang="en-US" sz="1150" dirty="0"/>
          </a:p>
        </p:txBody>
      </p:sp>
      <p:sp>
        <p:nvSpPr>
          <p:cNvPr id="39" name="s8_25"/>
          <p:cNvSpPr txBox="1"/>
          <p:nvPr/>
        </p:nvSpPr>
        <p:spPr>
          <a:xfrm>
            <a:off x="9436608" y="26151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05</a:t>
            </a:r>
            <a:endParaRPr lang="en-US" sz="1400" dirty="0"/>
          </a:p>
        </p:txBody>
      </p:sp>
      <p:sp>
        <p:nvSpPr>
          <p:cNvPr id="40" name="s8_26"/>
          <p:cNvSpPr txBox="1"/>
          <p:nvPr/>
        </p:nvSpPr>
        <p:spPr>
          <a:xfrm>
            <a:off x="9436608" y="3291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Enterprise AI control layer</a:t>
            </a:r>
            <a:endParaRPr lang="en-US" sz="1350" dirty="0"/>
          </a:p>
        </p:txBody>
      </p:sp>
      <p:sp>
        <p:nvSpPr>
          <p:cNvPr id="41" name="s8_27"/>
          <p:cNvSpPr txBox="1"/>
          <p:nvPr/>
        </p:nvSpPr>
        <p:spPr>
          <a:xfrm>
            <a:off x="9436608" y="3840480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Evolve into the secure orchestration and governance layer for enterprise AI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743200" y="3474720"/>
            <a:ext cx="6858000" cy="6858000"/>
          </a:xfrm>
          <a:prstGeom prst="rect">
            <a:avLst/>
          </a:prstGeom>
        </p:spPr>
      </p:pic>
      <p:sp>
        <p:nvSpPr>
          <p:cNvPr id="3" name="!!canvas"/>
          <p:cNvSpPr/>
          <p:nvPr/>
        </p:nvSpPr>
        <p:spPr>
          <a:xfrm>
            <a:off x="12374575" y="0"/>
            <a:ext cx="182880" cy="6858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" name="!!px1"/>
          <p:cNvSpPr/>
          <p:nvPr/>
        </p:nvSpPr>
        <p:spPr>
          <a:xfrm>
            <a:off x="9966960" y="340614"/>
            <a:ext cx="128016" cy="2560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!!px2"/>
          <p:cNvSpPr/>
          <p:nvPr/>
        </p:nvSpPr>
        <p:spPr>
          <a:xfrm>
            <a:off x="9372600" y="592074"/>
            <a:ext cx="256032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!!px3"/>
          <p:cNvSpPr/>
          <p:nvPr/>
        </p:nvSpPr>
        <p:spPr>
          <a:xfrm>
            <a:off x="10104120" y="893826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!!px4"/>
          <p:cNvSpPr/>
          <p:nvPr/>
        </p:nvSpPr>
        <p:spPr>
          <a:xfrm>
            <a:off x="9509760" y="1170432"/>
            <a:ext cx="128016" cy="2560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!!px5"/>
          <p:cNvSpPr/>
          <p:nvPr/>
        </p:nvSpPr>
        <p:spPr>
          <a:xfrm>
            <a:off x="9921240" y="1371600"/>
            <a:ext cx="256032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!!px6"/>
          <p:cNvSpPr/>
          <p:nvPr/>
        </p:nvSpPr>
        <p:spPr>
          <a:xfrm>
            <a:off x="9006840" y="768096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!!px7"/>
          <p:cNvSpPr/>
          <p:nvPr/>
        </p:nvSpPr>
        <p:spPr>
          <a:xfrm>
            <a:off x="9052560" y="1346454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!!mark"/>
          <p:cNvSpPr/>
          <p:nvPr/>
        </p:nvSpPr>
        <p:spPr>
          <a:xfrm rot="10800000">
            <a:off x="11201400" y="548640"/>
            <a:ext cx="438912" cy="438912"/>
          </a:xfrm>
          <a:custGeom>
            <a:avLst/>
            <a:gdLst/>
            <a:ahLst/>
            <a:cxnLst/>
            <a:rect l="l" t="t" r="r" b="b"/>
            <a:pathLst>
              <a:path w="438912" h="438912">
                <a:moveTo>
                  <a:pt x="218362" y="0"/>
                </a:moveTo>
                <a:lnTo>
                  <a:pt x="212267" y="2268"/>
                </a:lnTo>
                <a:lnTo>
                  <a:pt x="160755" y="32094"/>
                </a:lnTo>
                <a:lnTo>
                  <a:pt x="156866" y="36031"/>
                </a:lnTo>
                <a:lnTo>
                  <a:pt x="155574" y="41149"/>
                </a:lnTo>
                <a:lnTo>
                  <a:pt x="155716" y="95874"/>
                </a:lnTo>
                <a:lnTo>
                  <a:pt x="154551" y="100204"/>
                </a:lnTo>
                <a:lnTo>
                  <a:pt x="152614" y="102204"/>
                </a:lnTo>
                <a:lnTo>
                  <a:pt x="148881" y="103763"/>
                </a:lnTo>
                <a:lnTo>
                  <a:pt x="144551" y="102409"/>
                </a:lnTo>
                <a:lnTo>
                  <a:pt x="96677" y="74614"/>
                </a:lnTo>
                <a:lnTo>
                  <a:pt x="91401" y="73685"/>
                </a:lnTo>
                <a:lnTo>
                  <a:pt x="87071" y="74614"/>
                </a:lnTo>
                <a:lnTo>
                  <a:pt x="32535" y="106189"/>
                </a:lnTo>
                <a:lnTo>
                  <a:pt x="29197" y="109937"/>
                </a:lnTo>
                <a:lnTo>
                  <a:pt x="28110" y="113401"/>
                </a:lnTo>
                <a:lnTo>
                  <a:pt x="28079" y="175999"/>
                </a:lnTo>
                <a:lnTo>
                  <a:pt x="28992" y="181118"/>
                </a:lnTo>
                <a:lnTo>
                  <a:pt x="33323" y="185716"/>
                </a:lnTo>
                <a:lnTo>
                  <a:pt x="81212" y="213196"/>
                </a:lnTo>
                <a:lnTo>
                  <a:pt x="83716" y="215653"/>
                </a:lnTo>
                <a:lnTo>
                  <a:pt x="84441" y="219306"/>
                </a:lnTo>
                <a:lnTo>
                  <a:pt x="83732" y="222850"/>
                </a:lnTo>
                <a:lnTo>
                  <a:pt x="81748" y="225086"/>
                </a:lnTo>
                <a:lnTo>
                  <a:pt x="33716" y="252708"/>
                </a:lnTo>
                <a:lnTo>
                  <a:pt x="29102" y="257291"/>
                </a:lnTo>
                <a:lnTo>
                  <a:pt x="28031" y="262802"/>
                </a:lnTo>
                <a:lnTo>
                  <a:pt x="28079" y="325007"/>
                </a:lnTo>
                <a:lnTo>
                  <a:pt x="30535" y="330723"/>
                </a:lnTo>
                <a:lnTo>
                  <a:pt x="34709" y="333794"/>
                </a:lnTo>
                <a:lnTo>
                  <a:pt x="86472" y="363715"/>
                </a:lnTo>
                <a:lnTo>
                  <a:pt x="91401" y="365148"/>
                </a:lnTo>
                <a:lnTo>
                  <a:pt x="97496" y="363637"/>
                </a:lnTo>
                <a:lnTo>
                  <a:pt x="144740" y="336062"/>
                </a:lnTo>
                <a:lnTo>
                  <a:pt x="148677" y="335180"/>
                </a:lnTo>
                <a:lnTo>
                  <a:pt x="152000" y="336030"/>
                </a:lnTo>
                <a:lnTo>
                  <a:pt x="154551" y="338393"/>
                </a:lnTo>
                <a:lnTo>
                  <a:pt x="155637" y="342534"/>
                </a:lnTo>
                <a:lnTo>
                  <a:pt x="155590" y="397448"/>
                </a:lnTo>
                <a:lnTo>
                  <a:pt x="156944" y="402865"/>
                </a:lnTo>
                <a:lnTo>
                  <a:pt x="162661" y="407762"/>
                </a:lnTo>
                <a:lnTo>
                  <a:pt x="214944" y="437810"/>
                </a:lnTo>
                <a:lnTo>
                  <a:pt x="219543" y="438912"/>
                </a:lnTo>
                <a:lnTo>
                  <a:pt x="226834" y="436251"/>
                </a:lnTo>
                <a:lnTo>
                  <a:pt x="278991" y="405999"/>
                </a:lnTo>
                <a:lnTo>
                  <a:pt x="281952" y="402818"/>
                </a:lnTo>
                <a:lnTo>
                  <a:pt x="283322" y="397259"/>
                </a:lnTo>
                <a:lnTo>
                  <a:pt x="283227" y="342723"/>
                </a:lnTo>
                <a:lnTo>
                  <a:pt x="284472" y="338204"/>
                </a:lnTo>
                <a:lnTo>
                  <a:pt x="286912" y="336030"/>
                </a:lnTo>
                <a:lnTo>
                  <a:pt x="290015" y="335117"/>
                </a:lnTo>
                <a:lnTo>
                  <a:pt x="294157" y="336046"/>
                </a:lnTo>
                <a:lnTo>
                  <a:pt x="341400" y="363621"/>
                </a:lnTo>
                <a:lnTo>
                  <a:pt x="347495" y="365148"/>
                </a:lnTo>
                <a:lnTo>
                  <a:pt x="352613" y="363605"/>
                </a:lnTo>
                <a:lnTo>
                  <a:pt x="406550" y="332345"/>
                </a:lnTo>
                <a:lnTo>
                  <a:pt x="409699" y="328755"/>
                </a:lnTo>
                <a:lnTo>
                  <a:pt x="410833" y="325007"/>
                </a:lnTo>
                <a:lnTo>
                  <a:pt x="410881" y="262613"/>
                </a:lnTo>
                <a:lnTo>
                  <a:pt x="409857" y="257495"/>
                </a:lnTo>
                <a:lnTo>
                  <a:pt x="405180" y="252708"/>
                </a:lnTo>
                <a:lnTo>
                  <a:pt x="357148" y="225070"/>
                </a:lnTo>
                <a:lnTo>
                  <a:pt x="355180" y="222991"/>
                </a:lnTo>
                <a:lnTo>
                  <a:pt x="354440" y="219102"/>
                </a:lnTo>
                <a:lnTo>
                  <a:pt x="355274" y="215369"/>
                </a:lnTo>
                <a:lnTo>
                  <a:pt x="357715" y="213196"/>
                </a:lnTo>
                <a:lnTo>
                  <a:pt x="405369" y="185826"/>
                </a:lnTo>
                <a:lnTo>
                  <a:pt x="409699" y="181511"/>
                </a:lnTo>
                <a:lnTo>
                  <a:pt x="410786" y="177370"/>
                </a:lnTo>
                <a:lnTo>
                  <a:pt x="410786" y="113401"/>
                </a:lnTo>
                <a:lnTo>
                  <a:pt x="409699" y="109968"/>
                </a:lnTo>
                <a:lnTo>
                  <a:pt x="406345" y="106110"/>
                </a:lnTo>
                <a:lnTo>
                  <a:pt x="351826" y="74598"/>
                </a:lnTo>
                <a:lnTo>
                  <a:pt x="347495" y="73701"/>
                </a:lnTo>
                <a:lnTo>
                  <a:pt x="342188" y="74614"/>
                </a:lnTo>
                <a:lnTo>
                  <a:pt x="294346" y="102393"/>
                </a:lnTo>
                <a:lnTo>
                  <a:pt x="290220" y="103763"/>
                </a:lnTo>
                <a:lnTo>
                  <a:pt x="286283" y="102236"/>
                </a:lnTo>
                <a:lnTo>
                  <a:pt x="284078" y="99622"/>
                </a:lnTo>
                <a:lnTo>
                  <a:pt x="283212" y="95480"/>
                </a:lnTo>
                <a:lnTo>
                  <a:pt x="283306" y="40961"/>
                </a:lnTo>
                <a:lnTo>
                  <a:pt x="281952" y="35779"/>
                </a:lnTo>
                <a:lnTo>
                  <a:pt x="277810" y="31937"/>
                </a:lnTo>
                <a:lnTo>
                  <a:pt x="226629" y="2252"/>
                </a:lnTo>
                <a:lnTo>
                  <a:pt x="223086" y="472"/>
                </a:lnTo>
                <a:lnTo>
                  <a:pt x="218362" y="0"/>
                </a:lnTo>
                <a:close/>
                <a:moveTo>
                  <a:pt x="218362" y="147228"/>
                </a:moveTo>
                <a:lnTo>
                  <a:pt x="214236" y="148724"/>
                </a:lnTo>
                <a:lnTo>
                  <a:pt x="159889" y="180125"/>
                </a:lnTo>
                <a:lnTo>
                  <a:pt x="156834" y="183480"/>
                </a:lnTo>
                <a:lnTo>
                  <a:pt x="155763" y="188787"/>
                </a:lnTo>
                <a:lnTo>
                  <a:pt x="155732" y="243905"/>
                </a:lnTo>
                <a:lnTo>
                  <a:pt x="156251" y="253354"/>
                </a:lnTo>
                <a:lnTo>
                  <a:pt x="159700" y="258314"/>
                </a:lnTo>
                <a:lnTo>
                  <a:pt x="213637" y="289621"/>
                </a:lnTo>
                <a:lnTo>
                  <a:pt x="219747" y="291527"/>
                </a:lnTo>
                <a:lnTo>
                  <a:pt x="225259" y="289621"/>
                </a:lnTo>
                <a:lnTo>
                  <a:pt x="279196" y="258298"/>
                </a:lnTo>
                <a:lnTo>
                  <a:pt x="282078" y="254928"/>
                </a:lnTo>
                <a:lnTo>
                  <a:pt x="283117" y="249417"/>
                </a:lnTo>
                <a:lnTo>
                  <a:pt x="283117" y="188992"/>
                </a:lnTo>
                <a:lnTo>
                  <a:pt x="282141" y="183716"/>
                </a:lnTo>
                <a:lnTo>
                  <a:pt x="278991" y="180125"/>
                </a:lnTo>
                <a:lnTo>
                  <a:pt x="224487" y="148629"/>
                </a:lnTo>
                <a:lnTo>
                  <a:pt x="218362" y="147228"/>
                </a:lnTo>
                <a:close/>
                <a:moveTo>
                  <a:pt x="218960" y="73827"/>
                </a:moveTo>
                <a:lnTo>
                  <a:pt x="215023" y="74598"/>
                </a:lnTo>
                <a:lnTo>
                  <a:pt x="168141" y="101590"/>
                </a:lnTo>
                <a:lnTo>
                  <a:pt x="164425" y="104535"/>
                </a:lnTo>
                <a:lnTo>
                  <a:pt x="163102" y="106708"/>
                </a:lnTo>
                <a:lnTo>
                  <a:pt x="162834" y="109259"/>
                </a:lnTo>
                <a:lnTo>
                  <a:pt x="163401" y="111622"/>
                </a:lnTo>
                <a:lnTo>
                  <a:pt x="166346" y="114976"/>
                </a:lnTo>
                <a:lnTo>
                  <a:pt x="215212" y="143165"/>
                </a:lnTo>
                <a:lnTo>
                  <a:pt x="219936" y="143905"/>
                </a:lnTo>
                <a:lnTo>
                  <a:pt x="223684" y="143165"/>
                </a:lnTo>
                <a:lnTo>
                  <a:pt x="272503" y="115023"/>
                </a:lnTo>
                <a:lnTo>
                  <a:pt x="275479" y="111622"/>
                </a:lnTo>
                <a:lnTo>
                  <a:pt x="276046" y="109259"/>
                </a:lnTo>
                <a:lnTo>
                  <a:pt x="275794" y="106708"/>
                </a:lnTo>
                <a:lnTo>
                  <a:pt x="274472" y="104535"/>
                </a:lnTo>
                <a:lnTo>
                  <a:pt x="270708" y="101590"/>
                </a:lnTo>
                <a:lnTo>
                  <a:pt x="223873" y="74614"/>
                </a:lnTo>
                <a:lnTo>
                  <a:pt x="218960" y="73827"/>
                </a:lnTo>
                <a:close/>
                <a:moveTo>
                  <a:pt x="98283" y="224598"/>
                </a:moveTo>
                <a:lnTo>
                  <a:pt x="93763" y="227039"/>
                </a:lnTo>
                <a:lnTo>
                  <a:pt x="91937" y="231306"/>
                </a:lnTo>
                <a:lnTo>
                  <a:pt x="91905" y="287416"/>
                </a:lnTo>
                <a:lnTo>
                  <a:pt x="93590" y="292723"/>
                </a:lnTo>
                <a:lnTo>
                  <a:pt x="97102" y="295983"/>
                </a:lnTo>
                <a:lnTo>
                  <a:pt x="145952" y="324219"/>
                </a:lnTo>
                <a:lnTo>
                  <a:pt x="151039" y="324172"/>
                </a:lnTo>
                <a:lnTo>
                  <a:pt x="154535" y="321070"/>
                </a:lnTo>
                <a:lnTo>
                  <a:pt x="155763" y="317527"/>
                </a:lnTo>
                <a:lnTo>
                  <a:pt x="155669" y="262015"/>
                </a:lnTo>
                <a:lnTo>
                  <a:pt x="154582" y="257480"/>
                </a:lnTo>
                <a:lnTo>
                  <a:pt x="151842" y="254141"/>
                </a:lnTo>
                <a:lnTo>
                  <a:pt x="103606" y="225984"/>
                </a:lnTo>
                <a:lnTo>
                  <a:pt x="98283" y="224598"/>
                </a:lnTo>
                <a:close/>
                <a:moveTo>
                  <a:pt x="339227" y="224598"/>
                </a:moveTo>
                <a:lnTo>
                  <a:pt x="335495" y="225952"/>
                </a:lnTo>
                <a:lnTo>
                  <a:pt x="287101" y="254141"/>
                </a:lnTo>
                <a:lnTo>
                  <a:pt x="284314" y="257369"/>
                </a:lnTo>
                <a:lnTo>
                  <a:pt x="283196" y="261432"/>
                </a:lnTo>
                <a:lnTo>
                  <a:pt x="283227" y="317527"/>
                </a:lnTo>
                <a:lnTo>
                  <a:pt x="284472" y="321275"/>
                </a:lnTo>
                <a:lnTo>
                  <a:pt x="288046" y="324172"/>
                </a:lnTo>
                <a:lnTo>
                  <a:pt x="291590" y="324487"/>
                </a:lnTo>
                <a:lnTo>
                  <a:pt x="295133" y="322881"/>
                </a:lnTo>
                <a:lnTo>
                  <a:pt x="341637" y="296078"/>
                </a:lnTo>
                <a:lnTo>
                  <a:pt x="345337" y="292613"/>
                </a:lnTo>
                <a:lnTo>
                  <a:pt x="346975" y="287416"/>
                </a:lnTo>
                <a:lnTo>
                  <a:pt x="346928" y="231117"/>
                </a:lnTo>
                <a:lnTo>
                  <a:pt x="345526" y="227574"/>
                </a:lnTo>
                <a:lnTo>
                  <a:pt x="343936" y="225999"/>
                </a:lnTo>
                <a:lnTo>
                  <a:pt x="339227" y="224598"/>
                </a:lnTo>
                <a:close/>
              </a:path>
            </a:pathLst>
          </a:custGeom>
          <a:solidFill>
            <a:schemeClr val="bg1"/>
          </a:solidFill>
          <a:ln/>
        </p:spPr>
      </p:sp>
      <p:sp>
        <p:nvSpPr>
          <p:cNvPr id="12" name="!!eyebrow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RESEARCH &amp; REFERENCES</a:t>
            </a:r>
            <a:endParaRPr lang="en-US" sz="1100" dirty="0"/>
          </a:p>
        </p:txBody>
      </p:sp>
      <p:sp>
        <p:nvSpPr>
          <p:cNvPr id="14" name="!!title"/>
          <p:cNvSpPr txBox="1"/>
          <p:nvPr/>
        </p:nvSpPr>
        <p:spPr>
          <a:xfrm>
            <a:off x="548640" y="6858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spc="-50" kern="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Grounded in </a:t>
            </a:r>
            <a:pPr indent="0" marL="0">
              <a:buNone/>
            </a:pPr>
            <a:r>
              <a:rPr lang="en-US" sz="3600" spc="-50" kern="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research.</a:t>
            </a:r>
            <a:endParaRPr lang="en-US" sz="3600" dirty="0"/>
          </a:p>
        </p:txBody>
      </p:sp>
      <p:sp>
        <p:nvSpPr>
          <p:cNvPr id="15" name="s9_1"/>
          <p:cNvSpPr/>
          <p:nvPr/>
        </p:nvSpPr>
        <p:spPr>
          <a:xfrm>
            <a:off x="548640" y="1783080"/>
            <a:ext cx="3392424" cy="3063240"/>
          </a:xfrm>
          <a:prstGeom prst="roundRect">
            <a:avLst>
              <a:gd name="adj" fmla="val 4776"/>
            </a:avLst>
          </a:prstGeom>
          <a:solidFill>
            <a:schemeClr val="tx2"/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pic>
        <p:nvPicPr>
          <p:cNvPr id="16" name="s9_2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29968"/>
            <a:ext cx="274320" cy="274320"/>
          </a:xfrm>
          <a:prstGeom prst="rect">
            <a:avLst/>
          </a:prstGeom>
        </p:spPr>
      </p:pic>
      <p:sp>
        <p:nvSpPr>
          <p:cNvPr id="17" name="s9_3"/>
          <p:cNvSpPr txBox="1"/>
          <p:nvPr/>
        </p:nvSpPr>
        <p:spPr>
          <a:xfrm>
            <a:off x="1207008" y="2048256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SUPPORTING RESEARCH PAPERS</a:t>
            </a:r>
            <a:endParaRPr lang="en-US" sz="1000" dirty="0"/>
          </a:p>
        </p:txBody>
      </p:sp>
      <p:sp>
        <p:nvSpPr>
          <p:cNvPr id="18" name="s9_4"/>
          <p:cNvSpPr txBox="1"/>
          <p:nvPr/>
        </p:nvSpPr>
        <p:spPr>
          <a:xfrm>
            <a:off x="822960" y="2560320"/>
            <a:ext cx="28437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250" u="sng" dirty="0">
                <a:solidFill>
                  <a:schemeClr val="bg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Attention </a:t>
            </a:r>
            <a:pPr indent="0" marL="0">
              <a:spcAft>
                <a:spcPts val="700"/>
              </a:spcAft>
              <a:buNone/>
            </a:pPr>
            <a:r>
              <a:rPr lang="en-US" sz="1250" u="sng" dirty="0">
                <a:solidFill>
                  <a:schemeClr val="bg1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 </a:t>
            </a:r>
            <a:pPr indent="0" marL="0">
              <a:spcAft>
                <a:spcPts val="700"/>
              </a:spcAft>
              <a:buNone/>
            </a:pPr>
            <a:r>
              <a:rPr lang="en-US" sz="1250" u="sng" dirty="0">
                <a:solidFill>
                  <a:schemeClr val="bg1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All </a:t>
            </a:r>
            <a:pPr indent="0" marL="0">
              <a:spcAft>
                <a:spcPts val="700"/>
              </a:spcAft>
              <a:buNone/>
            </a:pPr>
            <a:r>
              <a:rPr lang="en-US" sz="1250" u="sng" dirty="0">
                <a:solidFill>
                  <a:schemeClr val="bg1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 </a:t>
            </a:r>
            <a:pPr indent="0" marL="0">
              <a:spcAft>
                <a:spcPts val="700"/>
              </a:spcAft>
              <a:buNone/>
            </a:pPr>
            <a:r>
              <a:rPr lang="en-US" sz="1250" u="sng" dirty="0">
                <a:solidFill>
                  <a:schemeClr val="bg1"/>
                </a:solidFill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Need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u="sng" dirty="0">
                <a:solidFill>
                  <a:schemeClr val="bg1"/>
                </a:solidFill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Retrieval-Augmented </a:t>
            </a:r>
            <a:pPr indent="0" marL="0">
              <a:spcAft>
                <a:spcPts val="700"/>
              </a:spcAft>
              <a:buNone/>
            </a:pPr>
            <a:r>
              <a:rPr lang="en-US" sz="1250" u="sng" dirty="0">
                <a:solidFill>
                  <a:schemeClr val="bg1"/>
                </a:solidFill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Generation </a:t>
            </a:r>
            <a:pPr indent="0" marL="0">
              <a:spcAft>
                <a:spcPts val="700"/>
              </a:spcAft>
              <a:buNone/>
            </a:pPr>
            <a:r>
              <a:rPr lang="en-US" sz="1250" u="sng" dirty="0">
                <a:solidFill>
                  <a:schemeClr val="bg1"/>
                </a:solidFill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 </a:t>
            </a:r>
            <a:pPr indent="0" marL="0">
              <a:spcAft>
                <a:spcPts val="700"/>
              </a:spcAft>
              <a:buNone/>
            </a:pPr>
            <a:r>
              <a:rPr lang="en-US" sz="1250" u="sng" dirty="0">
                <a:solidFill>
                  <a:schemeClr val="bg1"/>
                </a:solidFill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Knowledge-Intensive </a:t>
            </a:r>
            <a:pPr indent="0" marL="0">
              <a:spcAft>
                <a:spcPts val="700"/>
              </a:spcAft>
              <a:buNone/>
            </a:pPr>
            <a:r>
              <a:rPr lang="en-US" sz="1250" u="sng" dirty="0">
                <a:solidFill>
                  <a:schemeClr val="bg1"/>
                </a:solidFill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NLP </a:t>
            </a:r>
            <a:pPr indent="0" marL="0">
              <a:spcAft>
                <a:spcPts val="700"/>
              </a:spcAft>
              <a:buNone/>
            </a:pPr>
            <a:r>
              <a:rPr lang="en-US" sz="1250" u="sng" dirty="0">
                <a:solidFill>
                  <a:schemeClr val="bg1"/>
                </a:solidFill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Tasks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u="sng" dirty="0">
                <a:solidFill>
                  <a:schemeClr val="bg1"/>
                </a:solidFill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Self-Refine: </a:t>
            </a:r>
            <a:pPr indent="0" marL="0">
              <a:spcAft>
                <a:spcPts val="700"/>
              </a:spcAft>
              <a:buNone/>
            </a:pPr>
            <a:r>
              <a:rPr lang="en-US" sz="1250" u="sng" dirty="0">
                <a:solidFill>
                  <a:schemeClr val="bg1"/>
                </a:solidFill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Iterative </a:t>
            </a:r>
            <a:pPr indent="0" marL="0">
              <a:spcAft>
                <a:spcPts val="700"/>
              </a:spcAft>
              <a:buNone/>
            </a:pPr>
            <a:r>
              <a:rPr lang="en-US" sz="1250" u="sng" dirty="0">
                <a:solidFill>
                  <a:schemeClr val="bg1"/>
                </a:solidFill>
                <a:hlinkClick r:id="rId1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Refinement </a:t>
            </a:r>
            <a:pPr indent="0" marL="0">
              <a:spcAft>
                <a:spcPts val="700"/>
              </a:spcAft>
              <a:buNone/>
            </a:pPr>
            <a:r>
              <a:rPr lang="en-US" sz="1250" u="sng" dirty="0">
                <a:solidFill>
                  <a:schemeClr val="bg1"/>
                </a:solidFill>
                <a:hlinkClick r:id="rId1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with </a:t>
            </a:r>
            <a:pPr indent="0" marL="0">
              <a:spcAft>
                <a:spcPts val="700"/>
              </a:spcAft>
              <a:buNone/>
            </a:pPr>
            <a:r>
              <a:rPr lang="en-US" sz="1250" u="sng" dirty="0">
                <a:solidFill>
                  <a:schemeClr val="bg1"/>
                </a:solidFill>
                <a:hlinkClick r:id="rId1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Self-Feedback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u="sng" dirty="0">
                <a:solidFill>
                  <a:schemeClr val="bg1"/>
                </a:solidFill>
                <a:hlinkClick r:id="rId1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AutoGen: </a:t>
            </a:r>
            <a:pPr indent="0" marL="0">
              <a:spcAft>
                <a:spcPts val="700"/>
              </a:spcAft>
              <a:buNone/>
            </a:pPr>
            <a:r>
              <a:rPr lang="en-US" sz="1250" u="sng" dirty="0">
                <a:solidFill>
                  <a:schemeClr val="bg1"/>
                </a:solidFill>
                <a:hlinkClick r:id="rId2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Next-Gen </a:t>
            </a:r>
            <a:pPr indent="0" marL="0">
              <a:spcAft>
                <a:spcPts val="700"/>
              </a:spcAft>
              <a:buNone/>
            </a:pPr>
            <a:r>
              <a:rPr lang="en-US" sz="1250" u="sng" dirty="0">
                <a:solidFill>
                  <a:schemeClr val="bg1"/>
                </a:solidFill>
                <a:hlinkClick r:id="rId2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LLM </a:t>
            </a:r>
            <a:pPr indent="0" marL="0">
              <a:spcAft>
                <a:spcPts val="700"/>
              </a:spcAft>
              <a:buNone/>
            </a:pPr>
            <a:r>
              <a:rPr lang="en-US" sz="1250" u="sng" dirty="0">
                <a:solidFill>
                  <a:schemeClr val="bg1"/>
                </a:solidFill>
                <a:hlinkClick r:id="rId2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Applications </a:t>
            </a:r>
            <a:pPr indent="0" marL="0">
              <a:spcAft>
                <a:spcPts val="700"/>
              </a:spcAft>
              <a:buNone/>
            </a:pPr>
            <a:r>
              <a:rPr lang="en-US" sz="1250" u="sng" dirty="0">
                <a:solidFill>
                  <a:schemeClr val="bg1"/>
                </a:solidFill>
                <a:hlinkClick r:id="rId2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via </a:t>
            </a:r>
            <a:pPr indent="0" marL="0">
              <a:spcAft>
                <a:spcPts val="700"/>
              </a:spcAft>
              <a:buNone/>
            </a:pPr>
            <a:r>
              <a:rPr lang="en-US" sz="1250" u="sng" dirty="0">
                <a:solidFill>
                  <a:schemeClr val="bg1"/>
                </a:solidFill>
                <a:hlinkClick r:id="rId2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Multi-Agent </a:t>
            </a:r>
            <a:pPr indent="0" marL="0">
              <a:spcAft>
                <a:spcPts val="700"/>
              </a:spcAft>
              <a:buNone/>
            </a:pPr>
            <a:r>
              <a:rPr lang="en-US" sz="1250" u="sng" dirty="0">
                <a:solidFill>
                  <a:schemeClr val="bg1"/>
                </a:solidFill>
                <a:hlinkClick r:id="rId2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Conversation</a:t>
            </a:r>
            <a:endParaRPr lang="en-US" sz="1250" dirty="0"/>
          </a:p>
        </p:txBody>
      </p:sp>
      <p:sp>
        <p:nvSpPr>
          <p:cNvPr id="19" name="s9_5"/>
          <p:cNvSpPr/>
          <p:nvPr/>
        </p:nvSpPr>
        <p:spPr>
          <a:xfrm>
            <a:off x="4398264" y="1783080"/>
            <a:ext cx="3392424" cy="3063240"/>
          </a:xfrm>
          <a:prstGeom prst="roundRect">
            <a:avLst>
              <a:gd name="adj" fmla="val 4776"/>
            </a:avLst>
          </a:prstGeom>
          <a:solidFill>
            <a:schemeClr val="tx2"/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pic>
        <p:nvPicPr>
          <p:cNvPr id="20" name="s9_6" descr="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672584" y="2029968"/>
            <a:ext cx="274320" cy="274320"/>
          </a:xfrm>
          <a:prstGeom prst="rect">
            <a:avLst/>
          </a:prstGeom>
        </p:spPr>
      </p:pic>
      <p:sp>
        <p:nvSpPr>
          <p:cNvPr id="21" name="s9_7"/>
          <p:cNvSpPr txBox="1"/>
          <p:nvPr/>
        </p:nvSpPr>
        <p:spPr>
          <a:xfrm>
            <a:off x="5056632" y="2048256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TECHNICAL DOCUMENTATION</a:t>
            </a:r>
            <a:endParaRPr lang="en-US" sz="1000" dirty="0"/>
          </a:p>
        </p:txBody>
      </p:sp>
      <p:sp>
        <p:nvSpPr>
          <p:cNvPr id="22" name="s9_8"/>
          <p:cNvSpPr txBox="1"/>
          <p:nvPr/>
        </p:nvSpPr>
        <p:spPr>
          <a:xfrm>
            <a:off x="4672584" y="2560320"/>
            <a:ext cx="28437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chemeClr val="accent5"/>
                </a:solidFill>
              </a:rPr>
              <a:t>Sovereign AI Project Deep Research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chemeClr val="accent5"/>
                </a:solidFill>
              </a:rPr>
              <a:t>Master Architecture + Phase Specifications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chemeClr val="accent5"/>
                </a:solidFill>
              </a:rPr>
              <a:t>Verification Reports + Security Runbooks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chemeClr val="accent5"/>
                </a:solidFill>
              </a:rPr>
              <a:t>RUNNING.md + Sovereign Configuration</a:t>
            </a:r>
            <a:endParaRPr lang="en-US" sz="1250" dirty="0"/>
          </a:p>
        </p:txBody>
      </p:sp>
      <p:sp>
        <p:nvSpPr>
          <p:cNvPr id="23" name="s9_9"/>
          <p:cNvSpPr/>
          <p:nvPr/>
        </p:nvSpPr>
        <p:spPr>
          <a:xfrm>
            <a:off x="8247888" y="1783080"/>
            <a:ext cx="3392424" cy="3063240"/>
          </a:xfrm>
          <a:prstGeom prst="roundRect">
            <a:avLst>
              <a:gd name="adj" fmla="val 4776"/>
            </a:avLst>
          </a:prstGeom>
          <a:solidFill>
            <a:schemeClr val="tx2"/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pic>
        <p:nvPicPr>
          <p:cNvPr id="24" name="s9_10" descr="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522208" y="2029968"/>
            <a:ext cx="274320" cy="274320"/>
          </a:xfrm>
          <a:prstGeom prst="rect">
            <a:avLst/>
          </a:prstGeom>
        </p:spPr>
      </p:pic>
      <p:sp>
        <p:nvSpPr>
          <p:cNvPr id="25" name="s9_11"/>
          <p:cNvSpPr txBox="1"/>
          <p:nvPr/>
        </p:nvSpPr>
        <p:spPr>
          <a:xfrm>
            <a:off x="8906256" y="2048256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MARKET RESEARCH</a:t>
            </a:r>
            <a:endParaRPr lang="en-US" sz="1000" dirty="0"/>
          </a:p>
        </p:txBody>
      </p:sp>
      <p:sp>
        <p:nvSpPr>
          <p:cNvPr id="26" name="s9_12"/>
          <p:cNvSpPr txBox="1"/>
          <p:nvPr/>
        </p:nvSpPr>
        <p:spPr>
          <a:xfrm>
            <a:off x="8522208" y="2560320"/>
            <a:ext cx="28437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chemeClr val="accent5"/>
                </a:solidFill>
              </a:rPr>
              <a:t>Inference Economics of Enterprise Coding Agents — 2026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chemeClr val="accent5"/>
                </a:solidFill>
              </a:rPr>
              <a:t>Hardware Economics: Cloud vs On-Prem TCO — 2026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chemeClr val="accent5"/>
                </a:solidFill>
              </a:rPr>
              <a:t>On-Premise vs Cloud: Generative AI TCO — 2026</a:t>
            </a:r>
            <a:endParaRPr lang="en-US" sz="1250" dirty="0"/>
          </a:p>
        </p:txBody>
      </p:sp>
      <p:sp>
        <p:nvSpPr>
          <p:cNvPr id="27" name="s9_13"/>
          <p:cNvSpPr/>
          <p:nvPr/>
        </p:nvSpPr>
        <p:spPr>
          <a:xfrm>
            <a:off x="548640" y="5074920"/>
            <a:ext cx="3392424" cy="118872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28" name="s9_14"/>
          <p:cNvSpPr/>
          <p:nvPr/>
        </p:nvSpPr>
        <p:spPr>
          <a:xfrm>
            <a:off x="749808" y="5413248"/>
            <a:ext cx="512064" cy="512064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/>
        </p:spPr>
      </p:sp>
      <p:pic>
        <p:nvPicPr>
          <p:cNvPr id="29" name="s9_15" descr="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72703" y="5536143"/>
            <a:ext cx="266273" cy="266273"/>
          </a:xfrm>
          <a:prstGeom prst="rect">
            <a:avLst/>
          </a:prstGeom>
        </p:spPr>
      </p:pic>
      <p:sp>
        <p:nvSpPr>
          <p:cNvPr id="30" name="s9_16"/>
          <p:cNvSpPr txBox="1"/>
          <p:nvPr/>
        </p:nvSpPr>
        <p:spPr>
          <a:xfrm>
            <a:off x="1417320" y="5394960"/>
            <a:ext cx="14337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GitHub repo</a:t>
            </a:r>
            <a:endParaRPr lang="en-US" sz="1300" dirty="0"/>
          </a:p>
        </p:txBody>
      </p:sp>
      <p:sp>
        <p:nvSpPr>
          <p:cNvPr id="31" name="s9_17"/>
          <p:cNvSpPr txBox="1"/>
          <p:nvPr/>
        </p:nvSpPr>
        <p:spPr>
          <a:xfrm>
            <a:off x="1417320" y="5669280"/>
            <a:ext cx="14337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github.com/Yash3510</a:t>
            </a:r>
            <a:endParaRPr lang="en-US" sz="1050" dirty="0"/>
          </a:p>
        </p:txBody>
      </p:sp>
      <p:sp>
        <p:nvSpPr>
          <p:cNvPr id="32" name="s9_18"/>
          <p:cNvSpPr/>
          <p:nvPr/>
        </p:nvSpPr>
        <p:spPr>
          <a:xfrm>
            <a:off x="3033979" y="5504688"/>
            <a:ext cx="678485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33" name="s9_19"/>
          <p:cNvSpPr txBox="1"/>
          <p:nvPr/>
        </p:nvSpPr>
        <p:spPr>
          <a:xfrm>
            <a:off x="3033979" y="5504688"/>
            <a:ext cx="67848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chemeClr val="tx1"/>
                </a:solidFill>
                <a:hlinkClick r:id="rId2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</a:t>
            </a:r>
            <a:endParaRPr lang="en-US" sz="1150" dirty="0"/>
          </a:p>
        </p:txBody>
      </p:sp>
      <p:sp>
        <p:nvSpPr>
          <p:cNvPr id="34" name="s9_20"/>
          <p:cNvSpPr/>
          <p:nvPr/>
        </p:nvSpPr>
        <p:spPr>
          <a:xfrm>
            <a:off x="4398264" y="5074920"/>
            <a:ext cx="3392424" cy="118872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35" name="s9_21"/>
          <p:cNvSpPr/>
          <p:nvPr/>
        </p:nvSpPr>
        <p:spPr>
          <a:xfrm>
            <a:off x="4599432" y="5413248"/>
            <a:ext cx="512064" cy="512064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/>
        </p:spPr>
      </p:sp>
      <p:pic>
        <p:nvPicPr>
          <p:cNvPr id="36" name="s9_22" descr="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722327" y="5536143"/>
            <a:ext cx="266273" cy="266273"/>
          </a:xfrm>
          <a:prstGeom prst="rect">
            <a:avLst/>
          </a:prstGeom>
        </p:spPr>
      </p:pic>
      <p:sp>
        <p:nvSpPr>
          <p:cNvPr id="37" name="s9_23"/>
          <p:cNvSpPr txBox="1"/>
          <p:nvPr/>
        </p:nvSpPr>
        <p:spPr>
          <a:xfrm>
            <a:off x="5266944" y="539496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Demo video</a:t>
            </a:r>
            <a:endParaRPr lang="en-US" sz="1300" dirty="0"/>
          </a:p>
        </p:txBody>
      </p:sp>
      <p:sp>
        <p:nvSpPr>
          <p:cNvPr id="38" name="s9_24"/>
          <p:cNvSpPr txBox="1"/>
          <p:nvPr/>
        </p:nvSpPr>
        <p:spPr>
          <a:xfrm>
            <a:off x="5266944" y="5669280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The 4CE chat, end to end</a:t>
            </a:r>
            <a:endParaRPr lang="en-US" sz="1050" dirty="0"/>
          </a:p>
        </p:txBody>
      </p:sp>
      <p:sp>
        <p:nvSpPr>
          <p:cNvPr id="39" name="s9_25"/>
          <p:cNvSpPr/>
          <p:nvPr/>
        </p:nvSpPr>
        <p:spPr>
          <a:xfrm>
            <a:off x="8247888" y="5074920"/>
            <a:ext cx="3392424" cy="118872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 w="9525">
            <a:solidFill>
              <a:schemeClr val="bg1">
                <a:alpha val="15000"/>
              </a:schemeClr>
            </a:solidFill>
            <a:prstDash val="solid"/>
          </a:ln>
        </p:spPr>
      </p:sp>
      <p:sp>
        <p:nvSpPr>
          <p:cNvPr id="40" name="s9_26"/>
          <p:cNvSpPr/>
          <p:nvPr/>
        </p:nvSpPr>
        <p:spPr>
          <a:xfrm>
            <a:off x="8449056" y="5413248"/>
            <a:ext cx="512064" cy="512064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/>
        </p:spPr>
      </p:sp>
      <p:pic>
        <p:nvPicPr>
          <p:cNvPr id="41" name="s9_27" descr="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571951" y="5536143"/>
            <a:ext cx="266273" cy="266273"/>
          </a:xfrm>
          <a:prstGeom prst="rect">
            <a:avLst/>
          </a:prstGeom>
        </p:spPr>
      </p:pic>
      <p:sp>
        <p:nvSpPr>
          <p:cNvPr id="42" name="s9_28"/>
          <p:cNvSpPr txBox="1"/>
          <p:nvPr/>
        </p:nvSpPr>
        <p:spPr>
          <a:xfrm>
            <a:off x="9116568" y="5394960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PPT video</a:t>
            </a:r>
            <a:endParaRPr lang="en-US" sz="1300" dirty="0"/>
          </a:p>
        </p:txBody>
      </p:sp>
      <p:sp>
        <p:nvSpPr>
          <p:cNvPr id="43" name="s9_29"/>
          <p:cNvSpPr txBox="1"/>
          <p:nvPr/>
        </p:nvSpPr>
        <p:spPr>
          <a:xfrm>
            <a:off x="9116568" y="5669280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Narrated explanation</a:t>
            </a:r>
            <a:endParaRPr lang="en-US" sz="1050" dirty="0"/>
          </a:p>
        </p:txBody>
      </p:sp>
      <p:sp>
        <p:nvSpPr>
          <p:cNvPr id="44" name="s9_30"/>
          <p:cNvSpPr/>
          <p:nvPr/>
        </p:nvSpPr>
        <p:spPr>
          <a:xfrm>
            <a:off x="10661904" y="5504688"/>
            <a:ext cx="749808" cy="32918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45" name="s9_31"/>
          <p:cNvSpPr txBox="1"/>
          <p:nvPr/>
        </p:nvSpPr>
        <p:spPr>
          <a:xfrm>
            <a:off x="10661904" y="5504688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chemeClr val="tx1"/>
                </a:solidFill>
                <a:hlinkClick r:id="rId3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Watch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743200" y="3474720"/>
            <a:ext cx="6858000" cy="6858000"/>
          </a:xfrm>
          <a:prstGeom prst="rect">
            <a:avLst/>
          </a:prstGeom>
        </p:spPr>
      </p:pic>
      <p:sp>
        <p:nvSpPr>
          <p:cNvPr id="3" name="!!canvas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" name="!!px1"/>
          <p:cNvSpPr/>
          <p:nvPr/>
        </p:nvSpPr>
        <p:spPr>
          <a:xfrm>
            <a:off x="3566160" y="640080"/>
            <a:ext cx="128016" cy="2560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!!px2"/>
          <p:cNvSpPr/>
          <p:nvPr/>
        </p:nvSpPr>
        <p:spPr>
          <a:xfrm>
            <a:off x="3017520" y="1143000"/>
            <a:ext cx="256032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!!px3"/>
          <p:cNvSpPr/>
          <p:nvPr/>
        </p:nvSpPr>
        <p:spPr>
          <a:xfrm>
            <a:off x="3977640" y="1463040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!!px4"/>
          <p:cNvSpPr/>
          <p:nvPr/>
        </p:nvSpPr>
        <p:spPr>
          <a:xfrm>
            <a:off x="8366760" y="640080"/>
            <a:ext cx="128016" cy="25603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!!px5"/>
          <p:cNvSpPr/>
          <p:nvPr/>
        </p:nvSpPr>
        <p:spPr>
          <a:xfrm>
            <a:off x="8915400" y="1051560"/>
            <a:ext cx="256032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!!px6"/>
          <p:cNvSpPr/>
          <p:nvPr/>
        </p:nvSpPr>
        <p:spPr>
          <a:xfrm>
            <a:off x="8183880" y="1371600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!!px7"/>
          <p:cNvSpPr/>
          <p:nvPr/>
        </p:nvSpPr>
        <p:spPr>
          <a:xfrm>
            <a:off x="9418320" y="1463040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!!mark"/>
          <p:cNvSpPr/>
          <p:nvPr/>
        </p:nvSpPr>
        <p:spPr>
          <a:xfrm>
            <a:off x="4818888" y="713232"/>
            <a:ext cx="822960" cy="822960"/>
          </a:xfrm>
          <a:custGeom>
            <a:avLst/>
            <a:gdLst/>
            <a:ahLst/>
            <a:cxnLst/>
            <a:rect l="l" t="t" r="r" b="b"/>
            <a:pathLst>
              <a:path w="822960" h="822960">
                <a:moveTo>
                  <a:pt x="409428" y="0"/>
                </a:moveTo>
                <a:lnTo>
                  <a:pt x="398001" y="4252"/>
                </a:lnTo>
                <a:lnTo>
                  <a:pt x="301416" y="60177"/>
                </a:lnTo>
                <a:lnTo>
                  <a:pt x="294123" y="67559"/>
                </a:lnTo>
                <a:lnTo>
                  <a:pt x="291702" y="77155"/>
                </a:lnTo>
                <a:lnTo>
                  <a:pt x="291968" y="179763"/>
                </a:lnTo>
                <a:lnTo>
                  <a:pt x="289783" y="187883"/>
                </a:lnTo>
                <a:lnTo>
                  <a:pt x="286151" y="191633"/>
                </a:lnTo>
                <a:lnTo>
                  <a:pt x="279153" y="194556"/>
                </a:lnTo>
                <a:lnTo>
                  <a:pt x="271033" y="192017"/>
                </a:lnTo>
                <a:lnTo>
                  <a:pt x="181269" y="139901"/>
                </a:lnTo>
                <a:lnTo>
                  <a:pt x="171377" y="138159"/>
                </a:lnTo>
                <a:lnTo>
                  <a:pt x="163257" y="139901"/>
                </a:lnTo>
                <a:lnTo>
                  <a:pt x="61004" y="199104"/>
                </a:lnTo>
                <a:lnTo>
                  <a:pt x="54744" y="206131"/>
                </a:lnTo>
                <a:lnTo>
                  <a:pt x="52707" y="212627"/>
                </a:lnTo>
                <a:lnTo>
                  <a:pt x="52647" y="329999"/>
                </a:lnTo>
                <a:lnTo>
                  <a:pt x="54360" y="339595"/>
                </a:lnTo>
                <a:lnTo>
                  <a:pt x="62480" y="348217"/>
                </a:lnTo>
                <a:lnTo>
                  <a:pt x="152273" y="399743"/>
                </a:lnTo>
                <a:lnTo>
                  <a:pt x="156968" y="404349"/>
                </a:lnTo>
                <a:lnTo>
                  <a:pt x="158326" y="411199"/>
                </a:lnTo>
                <a:lnTo>
                  <a:pt x="156998" y="417843"/>
                </a:lnTo>
                <a:lnTo>
                  <a:pt x="153277" y="422036"/>
                </a:lnTo>
                <a:lnTo>
                  <a:pt x="63218" y="473827"/>
                </a:lnTo>
                <a:lnTo>
                  <a:pt x="54567" y="482420"/>
                </a:lnTo>
                <a:lnTo>
                  <a:pt x="52559" y="492754"/>
                </a:lnTo>
                <a:lnTo>
                  <a:pt x="52647" y="609388"/>
                </a:lnTo>
                <a:lnTo>
                  <a:pt x="57254" y="620106"/>
                </a:lnTo>
                <a:lnTo>
                  <a:pt x="65079" y="625864"/>
                </a:lnTo>
                <a:lnTo>
                  <a:pt x="162135" y="681966"/>
                </a:lnTo>
                <a:lnTo>
                  <a:pt x="171377" y="684653"/>
                </a:lnTo>
                <a:lnTo>
                  <a:pt x="182805" y="681819"/>
                </a:lnTo>
                <a:lnTo>
                  <a:pt x="271387" y="630116"/>
                </a:lnTo>
                <a:lnTo>
                  <a:pt x="278769" y="628463"/>
                </a:lnTo>
                <a:lnTo>
                  <a:pt x="284999" y="630057"/>
                </a:lnTo>
                <a:lnTo>
                  <a:pt x="289783" y="634486"/>
                </a:lnTo>
                <a:lnTo>
                  <a:pt x="291820" y="642252"/>
                </a:lnTo>
                <a:lnTo>
                  <a:pt x="291731" y="745214"/>
                </a:lnTo>
                <a:lnTo>
                  <a:pt x="294271" y="755372"/>
                </a:lnTo>
                <a:lnTo>
                  <a:pt x="304989" y="764555"/>
                </a:lnTo>
                <a:lnTo>
                  <a:pt x="403020" y="820893"/>
                </a:lnTo>
                <a:lnTo>
                  <a:pt x="411642" y="822960"/>
                </a:lnTo>
                <a:lnTo>
                  <a:pt x="425314" y="817970"/>
                </a:lnTo>
                <a:lnTo>
                  <a:pt x="523109" y="761248"/>
                </a:lnTo>
                <a:lnTo>
                  <a:pt x="528660" y="755283"/>
                </a:lnTo>
                <a:lnTo>
                  <a:pt x="531229" y="744860"/>
                </a:lnTo>
                <a:lnTo>
                  <a:pt x="531051" y="642606"/>
                </a:lnTo>
                <a:lnTo>
                  <a:pt x="533384" y="634132"/>
                </a:lnTo>
                <a:lnTo>
                  <a:pt x="537961" y="630057"/>
                </a:lnTo>
                <a:lnTo>
                  <a:pt x="543778" y="628344"/>
                </a:lnTo>
                <a:lnTo>
                  <a:pt x="551544" y="630087"/>
                </a:lnTo>
                <a:lnTo>
                  <a:pt x="640126" y="681789"/>
                </a:lnTo>
                <a:lnTo>
                  <a:pt x="651553" y="684653"/>
                </a:lnTo>
                <a:lnTo>
                  <a:pt x="661149" y="681760"/>
                </a:lnTo>
                <a:lnTo>
                  <a:pt x="762281" y="623148"/>
                </a:lnTo>
                <a:lnTo>
                  <a:pt x="768187" y="616415"/>
                </a:lnTo>
                <a:lnTo>
                  <a:pt x="770313" y="609388"/>
                </a:lnTo>
                <a:lnTo>
                  <a:pt x="770401" y="492400"/>
                </a:lnTo>
                <a:lnTo>
                  <a:pt x="768482" y="482804"/>
                </a:lnTo>
                <a:lnTo>
                  <a:pt x="759712" y="473827"/>
                </a:lnTo>
                <a:lnTo>
                  <a:pt x="669653" y="422007"/>
                </a:lnTo>
                <a:lnTo>
                  <a:pt x="665962" y="418109"/>
                </a:lnTo>
                <a:lnTo>
                  <a:pt x="664575" y="410816"/>
                </a:lnTo>
                <a:lnTo>
                  <a:pt x="666140" y="403818"/>
                </a:lnTo>
                <a:lnTo>
                  <a:pt x="670716" y="399743"/>
                </a:lnTo>
                <a:lnTo>
                  <a:pt x="760066" y="348424"/>
                </a:lnTo>
                <a:lnTo>
                  <a:pt x="768187" y="340334"/>
                </a:lnTo>
                <a:lnTo>
                  <a:pt x="770224" y="332568"/>
                </a:lnTo>
                <a:lnTo>
                  <a:pt x="770224" y="212627"/>
                </a:lnTo>
                <a:lnTo>
                  <a:pt x="768187" y="206190"/>
                </a:lnTo>
                <a:lnTo>
                  <a:pt x="761897" y="198956"/>
                </a:lnTo>
                <a:lnTo>
                  <a:pt x="659673" y="139872"/>
                </a:lnTo>
                <a:lnTo>
                  <a:pt x="651553" y="138189"/>
                </a:lnTo>
                <a:lnTo>
                  <a:pt x="641602" y="139901"/>
                </a:lnTo>
                <a:lnTo>
                  <a:pt x="551898" y="191988"/>
                </a:lnTo>
                <a:lnTo>
                  <a:pt x="544162" y="194556"/>
                </a:lnTo>
                <a:lnTo>
                  <a:pt x="536780" y="191692"/>
                </a:lnTo>
                <a:lnTo>
                  <a:pt x="532646" y="186791"/>
                </a:lnTo>
                <a:lnTo>
                  <a:pt x="531022" y="179025"/>
                </a:lnTo>
                <a:lnTo>
                  <a:pt x="531199" y="76801"/>
                </a:lnTo>
                <a:lnTo>
                  <a:pt x="528660" y="67086"/>
                </a:lnTo>
                <a:lnTo>
                  <a:pt x="520894" y="59882"/>
                </a:lnTo>
                <a:lnTo>
                  <a:pt x="424930" y="4222"/>
                </a:lnTo>
                <a:lnTo>
                  <a:pt x="418286" y="886"/>
                </a:lnTo>
                <a:lnTo>
                  <a:pt x="409428" y="0"/>
                </a:lnTo>
                <a:close/>
                <a:moveTo>
                  <a:pt x="409428" y="276052"/>
                </a:moveTo>
                <a:lnTo>
                  <a:pt x="401692" y="278857"/>
                </a:lnTo>
                <a:lnTo>
                  <a:pt x="299792" y="337735"/>
                </a:lnTo>
                <a:lnTo>
                  <a:pt x="294064" y="344025"/>
                </a:lnTo>
                <a:lnTo>
                  <a:pt x="292056" y="353975"/>
                </a:lnTo>
                <a:lnTo>
                  <a:pt x="291997" y="457321"/>
                </a:lnTo>
                <a:lnTo>
                  <a:pt x="292972" y="475038"/>
                </a:lnTo>
                <a:lnTo>
                  <a:pt x="299438" y="484339"/>
                </a:lnTo>
                <a:lnTo>
                  <a:pt x="400570" y="543040"/>
                </a:lnTo>
                <a:lnTo>
                  <a:pt x="412026" y="546612"/>
                </a:lnTo>
                <a:lnTo>
                  <a:pt x="422361" y="543040"/>
                </a:lnTo>
                <a:lnTo>
                  <a:pt x="523492" y="484309"/>
                </a:lnTo>
                <a:lnTo>
                  <a:pt x="528896" y="477991"/>
                </a:lnTo>
                <a:lnTo>
                  <a:pt x="530845" y="467656"/>
                </a:lnTo>
                <a:lnTo>
                  <a:pt x="530845" y="354359"/>
                </a:lnTo>
                <a:lnTo>
                  <a:pt x="529014" y="344467"/>
                </a:lnTo>
                <a:lnTo>
                  <a:pt x="523109" y="337735"/>
                </a:lnTo>
                <a:lnTo>
                  <a:pt x="420914" y="278680"/>
                </a:lnTo>
                <a:lnTo>
                  <a:pt x="409428" y="276052"/>
                </a:lnTo>
                <a:close/>
                <a:moveTo>
                  <a:pt x="410550" y="138425"/>
                </a:moveTo>
                <a:lnTo>
                  <a:pt x="403168" y="139872"/>
                </a:lnTo>
                <a:lnTo>
                  <a:pt x="315265" y="190482"/>
                </a:lnTo>
                <a:lnTo>
                  <a:pt x="308296" y="196003"/>
                </a:lnTo>
                <a:lnTo>
                  <a:pt x="305816" y="200078"/>
                </a:lnTo>
                <a:lnTo>
                  <a:pt x="305314" y="204862"/>
                </a:lnTo>
                <a:lnTo>
                  <a:pt x="306377" y="209291"/>
                </a:lnTo>
                <a:lnTo>
                  <a:pt x="311899" y="215580"/>
                </a:lnTo>
                <a:lnTo>
                  <a:pt x="403522" y="268434"/>
                </a:lnTo>
                <a:lnTo>
                  <a:pt x="412381" y="269822"/>
                </a:lnTo>
                <a:lnTo>
                  <a:pt x="419408" y="268434"/>
                </a:lnTo>
                <a:lnTo>
                  <a:pt x="510943" y="215669"/>
                </a:lnTo>
                <a:lnTo>
                  <a:pt x="516524" y="209291"/>
                </a:lnTo>
                <a:lnTo>
                  <a:pt x="517587" y="204862"/>
                </a:lnTo>
                <a:lnTo>
                  <a:pt x="517115" y="200078"/>
                </a:lnTo>
                <a:lnTo>
                  <a:pt x="514634" y="196003"/>
                </a:lnTo>
                <a:lnTo>
                  <a:pt x="507577" y="190482"/>
                </a:lnTo>
                <a:lnTo>
                  <a:pt x="419762" y="139901"/>
                </a:lnTo>
                <a:lnTo>
                  <a:pt x="410550" y="138425"/>
                </a:lnTo>
                <a:close/>
                <a:moveTo>
                  <a:pt x="184281" y="421121"/>
                </a:moveTo>
                <a:lnTo>
                  <a:pt x="175807" y="425697"/>
                </a:lnTo>
                <a:lnTo>
                  <a:pt x="172381" y="433699"/>
                </a:lnTo>
                <a:lnTo>
                  <a:pt x="172322" y="538906"/>
                </a:lnTo>
                <a:lnTo>
                  <a:pt x="175482" y="548857"/>
                </a:lnTo>
                <a:lnTo>
                  <a:pt x="182066" y="554969"/>
                </a:lnTo>
                <a:lnTo>
                  <a:pt x="273661" y="607911"/>
                </a:lnTo>
                <a:lnTo>
                  <a:pt x="283198" y="607823"/>
                </a:lnTo>
                <a:lnTo>
                  <a:pt x="289753" y="602006"/>
                </a:lnTo>
                <a:lnTo>
                  <a:pt x="292056" y="595362"/>
                </a:lnTo>
                <a:lnTo>
                  <a:pt x="291879" y="491278"/>
                </a:lnTo>
                <a:lnTo>
                  <a:pt x="289842" y="482774"/>
                </a:lnTo>
                <a:lnTo>
                  <a:pt x="284704" y="476514"/>
                </a:lnTo>
                <a:lnTo>
                  <a:pt x="194261" y="423719"/>
                </a:lnTo>
                <a:lnTo>
                  <a:pt x="184281" y="421121"/>
                </a:lnTo>
                <a:close/>
                <a:moveTo>
                  <a:pt x="636051" y="421121"/>
                </a:moveTo>
                <a:lnTo>
                  <a:pt x="629053" y="423660"/>
                </a:lnTo>
                <a:lnTo>
                  <a:pt x="538315" y="476514"/>
                </a:lnTo>
                <a:lnTo>
                  <a:pt x="533089" y="482567"/>
                </a:lnTo>
                <a:lnTo>
                  <a:pt x="530992" y="490185"/>
                </a:lnTo>
                <a:lnTo>
                  <a:pt x="531051" y="595362"/>
                </a:lnTo>
                <a:lnTo>
                  <a:pt x="533384" y="602390"/>
                </a:lnTo>
                <a:lnTo>
                  <a:pt x="540087" y="607823"/>
                </a:lnTo>
                <a:lnTo>
                  <a:pt x="546731" y="608413"/>
                </a:lnTo>
                <a:lnTo>
                  <a:pt x="553374" y="605402"/>
                </a:lnTo>
                <a:lnTo>
                  <a:pt x="640569" y="555146"/>
                </a:lnTo>
                <a:lnTo>
                  <a:pt x="647508" y="548650"/>
                </a:lnTo>
                <a:lnTo>
                  <a:pt x="650579" y="538906"/>
                </a:lnTo>
                <a:lnTo>
                  <a:pt x="650490" y="433345"/>
                </a:lnTo>
                <a:lnTo>
                  <a:pt x="647862" y="426701"/>
                </a:lnTo>
                <a:lnTo>
                  <a:pt x="644880" y="423749"/>
                </a:lnTo>
                <a:lnTo>
                  <a:pt x="636051" y="421121"/>
                </a:lnTo>
                <a:close/>
              </a:path>
            </a:pathLst>
          </a:custGeom>
          <a:solidFill>
            <a:schemeClr val="tx1"/>
          </a:solidFill>
          <a:ln/>
        </p:spPr>
      </p:sp>
      <p:sp>
        <p:nvSpPr>
          <p:cNvPr id="13" name="s10_1"/>
          <p:cNvSpPr txBox="1"/>
          <p:nvPr/>
        </p:nvSpPr>
        <p:spPr>
          <a:xfrm>
            <a:off x="5824728" y="65836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-150" kern="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4CE</a:t>
            </a:r>
            <a:endParaRPr lang="en-US" sz="6400" dirty="0"/>
          </a:p>
        </p:txBody>
      </p:sp>
      <p:sp>
        <p:nvSpPr>
          <p:cNvPr id="14" name="!!title"/>
          <p:cNvSpPr txBox="1"/>
          <p:nvPr/>
        </p:nvSpPr>
        <p:spPr>
          <a:xfrm>
            <a:off x="548640" y="182880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spc="-50" kern="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Your data </a:t>
            </a:r>
            <a:pPr algn="ctr" indent="0" marL="0">
              <a:buNone/>
            </a:pPr>
            <a:r>
              <a:rPr lang="en-US" sz="4600" spc="-50" kern="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stays yours.</a:t>
            </a:r>
            <a:endParaRPr lang="en-US" sz="4600" dirty="0"/>
          </a:p>
        </p:txBody>
      </p:sp>
      <p:sp>
        <p:nvSpPr>
          <p:cNvPr id="15" name="s10_2"/>
          <p:cNvSpPr txBox="1"/>
          <p:nvPr/>
        </p:nvSpPr>
        <p:spPr>
          <a:xfrm>
            <a:off x="548640" y="2743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Sovereign. Secure. Verifiable. Actionable.</a:t>
            </a:r>
            <a:endParaRPr lang="en-US" sz="1700" dirty="0"/>
          </a:p>
        </p:txBody>
      </p:sp>
      <p:sp>
        <p:nvSpPr>
          <p:cNvPr id="16" name="s10_3"/>
          <p:cNvSpPr/>
          <p:nvPr/>
        </p:nvSpPr>
        <p:spPr>
          <a:xfrm>
            <a:off x="2724912" y="3429000"/>
            <a:ext cx="256032" cy="25603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7" name="s10_4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998" y="3475086"/>
            <a:ext cx="163860" cy="163860"/>
          </a:xfrm>
          <a:prstGeom prst="rect">
            <a:avLst/>
          </a:prstGeom>
        </p:spPr>
      </p:pic>
      <p:sp>
        <p:nvSpPr>
          <p:cNvPr id="18" name="s10_5"/>
          <p:cNvSpPr txBox="1"/>
          <p:nvPr/>
        </p:nvSpPr>
        <p:spPr>
          <a:xfrm>
            <a:off x="3136392" y="3401568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Turns private organisational knowledge into actionable intelligence</a:t>
            </a:r>
            <a:endParaRPr lang="en-US" sz="1450" dirty="0"/>
          </a:p>
        </p:txBody>
      </p:sp>
      <p:sp>
        <p:nvSpPr>
          <p:cNvPr id="19" name="s10_6"/>
          <p:cNvSpPr/>
          <p:nvPr/>
        </p:nvSpPr>
        <p:spPr>
          <a:xfrm>
            <a:off x="2724912" y="3886200"/>
            <a:ext cx="256032" cy="256032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20" name="s10_7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998" y="3932286"/>
            <a:ext cx="163860" cy="163860"/>
          </a:xfrm>
          <a:prstGeom prst="rect">
            <a:avLst/>
          </a:prstGeom>
        </p:spPr>
      </p:pic>
      <p:sp>
        <p:nvSpPr>
          <p:cNvPr id="21" name="s10_8"/>
          <p:cNvSpPr txBox="1"/>
          <p:nvPr/>
        </p:nvSpPr>
        <p:spPr>
          <a:xfrm>
            <a:off x="3136392" y="3858768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Automates real workflows while keeping humans in control</a:t>
            </a:r>
            <a:endParaRPr lang="en-US" sz="1450" dirty="0"/>
          </a:p>
        </p:txBody>
      </p:sp>
      <p:sp>
        <p:nvSpPr>
          <p:cNvPr id="22" name="s10_9"/>
          <p:cNvSpPr/>
          <p:nvPr/>
        </p:nvSpPr>
        <p:spPr>
          <a:xfrm>
            <a:off x="2441448" y="4572000"/>
            <a:ext cx="7315200" cy="65836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  <a:effectLst>
            <a:outerShdw sx="100000" sy="100000" kx="0" ky="0" algn="bl" rotWithShape="0" blurRad="177800" dist="50800" dir="5400000">
              <a:srgbClr val="7C3AED">
                <a:alpha val="30000"/>
              </a:srgbClr>
            </a:outerShdw>
          </a:effectLst>
        </p:spPr>
      </p:sp>
      <p:sp>
        <p:nvSpPr>
          <p:cNvPr id="23" name="s10_10"/>
          <p:cNvSpPr txBox="1"/>
          <p:nvPr/>
        </p:nvSpPr>
        <p:spPr>
          <a:xfrm>
            <a:off x="2441448" y="457200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Powerful enough for enterprises. </a:t>
            </a:r>
            <a:pPr algn="ctr" indent="0" marL="0">
              <a:buNone/>
            </a:pPr>
            <a:r>
              <a:rPr lang="en-US" sz="1700" dirty="0">
                <a:solidFill>
                  <a:schemeClr val="accent1"/>
                </a:solidFill>
              </a:rPr>
              <a:t>Controlled enough to trust.</a:t>
            </a:r>
            <a:endParaRPr lang="en-US" sz="1700" dirty="0"/>
          </a:p>
        </p:txBody>
      </p:sp>
      <p:sp>
        <p:nvSpPr>
          <p:cNvPr id="24" name="s10_11"/>
          <p:cNvSpPr txBox="1"/>
          <p:nvPr/>
        </p:nvSpPr>
        <p:spPr>
          <a:xfrm>
            <a:off x="548640" y="57150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6"/>
                </a:solidFill>
              </a:rPr>
              <a:t>THANK YOU  ·  TEAM KERN  ·  4CE (ACE)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4CE">
  <a:themeElements>
    <a:clrScheme name="4CE">
      <a:dk1>
        <a:srgbClr val="171717"/>
      </a:dk1>
      <a:lt1>
        <a:srgbClr val="EEEFF1"/>
      </a:lt1>
      <a:dk2>
        <a:srgbClr val="262626"/>
      </a:dk2>
      <a:lt2>
        <a:srgbClr val="FFFFFF"/>
      </a:lt2>
      <a:accent1>
        <a:srgbClr val="7C3AED"/>
      </a:accent1>
      <a:accent2>
        <a:srgbClr val="A78BFA"/>
      </a:accent2>
      <a:accent3>
        <a:srgbClr val="34D399"/>
      </a:accent3>
      <a:accent4>
        <a:srgbClr val="FBBF24"/>
      </a:accent4>
      <a:accent5>
        <a:srgbClr val="9B9B9B"/>
      </a:accent5>
      <a:accent6>
        <a:srgbClr val="666666"/>
      </a:accent6>
      <a:hlink>
        <a:srgbClr val="A78BFA"/>
      </a:hlink>
      <a:folHlink>
        <a:srgbClr val="7C3AED"/>
      </a:folHlink>
    </a:clrScheme>
    <a:fontScheme name="Office">
      <a:majorFont>
        <a:latin typeface="Inter" panose="020B0604020202020204" pitchFamily="34" charset="0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 panose="020B0604020202020204" pitchFamily="34" charset="0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4CE - Sovereign On-Premise Agentic AI Workbench</dc:title>
  <dc:subject>Sovereign On-Premise Agentic AI Workbench</dc:subject>
  <dc:creator>Team Kern</dc:creator>
  <cp:lastModifiedBy>Team Kern</cp:lastModifiedBy>
  <cp:revision>1</cp:revision>
  <dcterms:created xsi:type="dcterms:W3CDTF">2026-10-04T14:24:16Z</dcterms:created>
  <dcterms:modified xsi:type="dcterms:W3CDTF">2026-10-04T14:24:16Z</dcterms:modified>
</cp:coreProperties>
</file>